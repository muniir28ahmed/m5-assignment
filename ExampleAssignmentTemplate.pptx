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sldIdLst>
    <p:sldId id="256" r:id="rId5"/>
  </p:sldIdLst>
  <p:sldSz cx="9601200" cy="12801600" type="A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5874" autoAdjust="0"/>
  </p:normalViewPr>
  <p:slideViewPr>
    <p:cSldViewPr snapToGrid="0">
      <p:cViewPr>
        <p:scale>
          <a:sx n="112" d="100"/>
          <a:sy n="112" d="100"/>
        </p:scale>
        <p:origin x="1458" y="-43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presProps" Target="presProps.xml"/><Relationship Id="rId5" Type="http://schemas.openxmlformats.org/officeDocument/2006/relationships/slide" Target="slides/slide1.xml"/><Relationship Id="rId4" Type="http://schemas.openxmlformats.org/officeDocument/2006/relationships/slideMaster" Target="slideMasters/slideMaster1.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D5957-A6EF-32E7-E3D1-1B003C9F61BD}"/>
              </a:ext>
            </a:extLst>
          </p:cNvPr>
          <p:cNvSpPr>
            <a:spLocks noGrp="1"/>
          </p:cNvSpPr>
          <p:nvPr>
            <p:ph type="ctrTitle"/>
          </p:nvPr>
        </p:nvSpPr>
        <p:spPr>
          <a:xfrm>
            <a:off x="1200150" y="2095078"/>
            <a:ext cx="7200900" cy="4456853"/>
          </a:xfrm>
        </p:spPr>
        <p:txBody>
          <a:bodyPr anchor="b"/>
          <a:lstStyle>
            <a:lvl1pPr algn="ctr">
              <a:defRPr sz="11200"/>
            </a:lvl1pPr>
          </a:lstStyle>
          <a:p>
            <a:r>
              <a:rPr lang="en-US"/>
              <a:t>Click to edit Master title style</a:t>
            </a:r>
            <a:endParaRPr lang="en-GB"/>
          </a:p>
        </p:txBody>
      </p:sp>
      <p:sp>
        <p:nvSpPr>
          <p:cNvPr id="3" name="Subtitle 2">
            <a:extLst>
              <a:ext uri="{FF2B5EF4-FFF2-40B4-BE49-F238E27FC236}">
                <a16:creationId xmlns:a16="http://schemas.microsoft.com/office/drawing/2014/main" id="{E3825EEC-0A7C-154A-78AF-21307B34CF47}"/>
              </a:ext>
            </a:extLst>
          </p:cNvPr>
          <p:cNvSpPr>
            <a:spLocks noGrp="1"/>
          </p:cNvSpPr>
          <p:nvPr>
            <p:ph type="subTitle" idx="1"/>
          </p:nvPr>
        </p:nvSpPr>
        <p:spPr>
          <a:xfrm>
            <a:off x="1200150" y="6723804"/>
            <a:ext cx="7200900" cy="3090756"/>
          </a:xfrm>
        </p:spPr>
        <p:txBody>
          <a:bodyPr/>
          <a:lstStyle>
            <a:lvl1pPr marL="0" indent="0" algn="ctr">
              <a:buNone/>
              <a:defRPr sz="4480"/>
            </a:lvl1pPr>
            <a:lvl2pPr marL="853455" indent="0" algn="ctr">
              <a:buNone/>
              <a:defRPr sz="3733"/>
            </a:lvl2pPr>
            <a:lvl3pPr marL="1706910" indent="0" algn="ctr">
              <a:buNone/>
              <a:defRPr sz="3360"/>
            </a:lvl3pPr>
            <a:lvl4pPr marL="2560366" indent="0" algn="ctr">
              <a:buNone/>
              <a:defRPr sz="2987"/>
            </a:lvl4pPr>
            <a:lvl5pPr marL="3413821" indent="0" algn="ctr">
              <a:buNone/>
              <a:defRPr sz="2987"/>
            </a:lvl5pPr>
            <a:lvl6pPr marL="4267276" indent="0" algn="ctr">
              <a:buNone/>
              <a:defRPr sz="2987"/>
            </a:lvl6pPr>
            <a:lvl7pPr marL="5120731" indent="0" algn="ctr">
              <a:buNone/>
              <a:defRPr sz="2987"/>
            </a:lvl7pPr>
            <a:lvl8pPr marL="5974187" indent="0" algn="ctr">
              <a:buNone/>
              <a:defRPr sz="2987"/>
            </a:lvl8pPr>
            <a:lvl9pPr marL="6827642" indent="0" algn="ctr">
              <a:buNone/>
              <a:defRPr sz="2987"/>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25F32E64-FDCA-3477-2C2F-6351F106E4A0}"/>
              </a:ext>
            </a:extLst>
          </p:cNvPr>
          <p:cNvSpPr>
            <a:spLocks noGrp="1"/>
          </p:cNvSpPr>
          <p:nvPr>
            <p:ph type="dt" sz="half" idx="10"/>
          </p:nvPr>
        </p:nvSpPr>
        <p:spPr/>
        <p:txBody>
          <a:bodyPr/>
          <a:lstStyle/>
          <a:p>
            <a:fld id="{47641A74-98BD-4B3C-827E-E8E43FD96C93}" type="datetimeFigureOut">
              <a:rPr lang="en-GB" smtClean="0"/>
              <a:t>27/11/2025</a:t>
            </a:fld>
            <a:endParaRPr lang="en-GB"/>
          </a:p>
        </p:txBody>
      </p:sp>
      <p:sp>
        <p:nvSpPr>
          <p:cNvPr id="5" name="Footer Placeholder 4">
            <a:extLst>
              <a:ext uri="{FF2B5EF4-FFF2-40B4-BE49-F238E27FC236}">
                <a16:creationId xmlns:a16="http://schemas.microsoft.com/office/drawing/2014/main" id="{5F0E7E88-14E3-DDE4-83DB-A47D688C31C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4BC03FC-2D55-6B61-A367-2D593B640668}"/>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42080403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64DFE-1C4E-BAD9-D3B4-913D786F567F}"/>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B9E0584-A067-E8B2-2ADF-8B5A138B5DA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B6A90663-C45E-4197-AA0A-34B4FF7EC89A}"/>
              </a:ext>
            </a:extLst>
          </p:cNvPr>
          <p:cNvSpPr>
            <a:spLocks noGrp="1"/>
          </p:cNvSpPr>
          <p:nvPr>
            <p:ph type="dt" sz="half" idx="10"/>
          </p:nvPr>
        </p:nvSpPr>
        <p:spPr/>
        <p:txBody>
          <a:bodyPr/>
          <a:lstStyle/>
          <a:p>
            <a:fld id="{47641A74-98BD-4B3C-827E-E8E43FD96C93}" type="datetimeFigureOut">
              <a:rPr lang="en-GB" smtClean="0"/>
              <a:t>27/11/2025</a:t>
            </a:fld>
            <a:endParaRPr lang="en-GB"/>
          </a:p>
        </p:txBody>
      </p:sp>
      <p:sp>
        <p:nvSpPr>
          <p:cNvPr id="5" name="Footer Placeholder 4">
            <a:extLst>
              <a:ext uri="{FF2B5EF4-FFF2-40B4-BE49-F238E27FC236}">
                <a16:creationId xmlns:a16="http://schemas.microsoft.com/office/drawing/2014/main" id="{AA71D409-2079-EBFB-DA3C-969592ECA96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14A8983-65A7-BE7A-3ECB-60F797C9CACC}"/>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24520014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FCD998-78BB-45C0-DC77-BFEB31D88B88}"/>
              </a:ext>
            </a:extLst>
          </p:cNvPr>
          <p:cNvSpPr>
            <a:spLocks noGrp="1"/>
          </p:cNvSpPr>
          <p:nvPr>
            <p:ph type="title"/>
          </p:nvPr>
        </p:nvSpPr>
        <p:spPr>
          <a:xfrm>
            <a:off x="655082" y="3191512"/>
            <a:ext cx="8281035" cy="5325109"/>
          </a:xfrm>
        </p:spPr>
        <p:txBody>
          <a:bodyPr anchor="b"/>
          <a:lstStyle>
            <a:lvl1pPr>
              <a:defRPr sz="112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4927812D-600D-7B2D-69A4-F680EBB7A2CC}"/>
              </a:ext>
            </a:extLst>
          </p:cNvPr>
          <p:cNvSpPr>
            <a:spLocks noGrp="1"/>
          </p:cNvSpPr>
          <p:nvPr>
            <p:ph type="body" idx="1"/>
          </p:nvPr>
        </p:nvSpPr>
        <p:spPr>
          <a:xfrm>
            <a:off x="655082" y="8566999"/>
            <a:ext cx="8281035" cy="2800349"/>
          </a:xfrm>
        </p:spPr>
        <p:txBody>
          <a:bodyPr/>
          <a:lstStyle>
            <a:lvl1pPr marL="0" indent="0">
              <a:buNone/>
              <a:defRPr sz="4480">
                <a:solidFill>
                  <a:schemeClr val="tx1">
                    <a:tint val="75000"/>
                  </a:schemeClr>
                </a:solidFill>
              </a:defRPr>
            </a:lvl1pPr>
            <a:lvl2pPr marL="853455" indent="0">
              <a:buNone/>
              <a:defRPr sz="3733">
                <a:solidFill>
                  <a:schemeClr val="tx1">
                    <a:tint val="75000"/>
                  </a:schemeClr>
                </a:solidFill>
              </a:defRPr>
            </a:lvl2pPr>
            <a:lvl3pPr marL="1706910" indent="0">
              <a:buNone/>
              <a:defRPr sz="3360">
                <a:solidFill>
                  <a:schemeClr val="tx1">
                    <a:tint val="75000"/>
                  </a:schemeClr>
                </a:solidFill>
              </a:defRPr>
            </a:lvl3pPr>
            <a:lvl4pPr marL="2560366" indent="0">
              <a:buNone/>
              <a:defRPr sz="2987">
                <a:solidFill>
                  <a:schemeClr val="tx1">
                    <a:tint val="75000"/>
                  </a:schemeClr>
                </a:solidFill>
              </a:defRPr>
            </a:lvl4pPr>
            <a:lvl5pPr marL="3413821" indent="0">
              <a:buNone/>
              <a:defRPr sz="2987">
                <a:solidFill>
                  <a:schemeClr val="tx1">
                    <a:tint val="75000"/>
                  </a:schemeClr>
                </a:solidFill>
              </a:defRPr>
            </a:lvl5pPr>
            <a:lvl6pPr marL="4267276" indent="0">
              <a:buNone/>
              <a:defRPr sz="2987">
                <a:solidFill>
                  <a:schemeClr val="tx1">
                    <a:tint val="75000"/>
                  </a:schemeClr>
                </a:solidFill>
              </a:defRPr>
            </a:lvl6pPr>
            <a:lvl7pPr marL="5120731" indent="0">
              <a:buNone/>
              <a:defRPr sz="2987">
                <a:solidFill>
                  <a:schemeClr val="tx1">
                    <a:tint val="75000"/>
                  </a:schemeClr>
                </a:solidFill>
              </a:defRPr>
            </a:lvl7pPr>
            <a:lvl8pPr marL="5974187" indent="0">
              <a:buNone/>
              <a:defRPr sz="2987">
                <a:solidFill>
                  <a:schemeClr val="tx1">
                    <a:tint val="75000"/>
                  </a:schemeClr>
                </a:solidFill>
              </a:defRPr>
            </a:lvl8pPr>
            <a:lvl9pPr marL="6827642" indent="0">
              <a:buNone/>
              <a:defRPr sz="2987">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1A42C1A-1D43-FD79-27DC-0F688D9BEE95}"/>
              </a:ext>
            </a:extLst>
          </p:cNvPr>
          <p:cNvSpPr>
            <a:spLocks noGrp="1"/>
          </p:cNvSpPr>
          <p:nvPr>
            <p:ph type="dt" sz="half" idx="10"/>
          </p:nvPr>
        </p:nvSpPr>
        <p:spPr/>
        <p:txBody>
          <a:bodyPr/>
          <a:lstStyle/>
          <a:p>
            <a:fld id="{47641A74-98BD-4B3C-827E-E8E43FD96C93}" type="datetimeFigureOut">
              <a:rPr lang="en-GB" smtClean="0"/>
              <a:t>27/11/2025</a:t>
            </a:fld>
            <a:endParaRPr lang="en-GB"/>
          </a:p>
        </p:txBody>
      </p:sp>
      <p:sp>
        <p:nvSpPr>
          <p:cNvPr id="5" name="Footer Placeholder 4">
            <a:extLst>
              <a:ext uri="{FF2B5EF4-FFF2-40B4-BE49-F238E27FC236}">
                <a16:creationId xmlns:a16="http://schemas.microsoft.com/office/drawing/2014/main" id="{C5003866-6470-3D4A-38A7-21AF758C6C5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F6F41C7-6E95-5BAF-A838-B73FC74B464A}"/>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10585195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E75D1E-3E39-8C74-2CFE-E9F426D6FF9B}"/>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6384DC3-52C3-DA95-4ED9-F089E646D969}"/>
              </a:ext>
            </a:extLst>
          </p:cNvPr>
          <p:cNvSpPr>
            <a:spLocks noGrp="1"/>
          </p:cNvSpPr>
          <p:nvPr>
            <p:ph sz="half" idx="1"/>
          </p:nvPr>
        </p:nvSpPr>
        <p:spPr>
          <a:xfrm>
            <a:off x="660083" y="3407833"/>
            <a:ext cx="4080510" cy="81224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333F7AE-7948-6C06-5E53-C0B84A456129}"/>
              </a:ext>
            </a:extLst>
          </p:cNvPr>
          <p:cNvSpPr>
            <a:spLocks noGrp="1"/>
          </p:cNvSpPr>
          <p:nvPr>
            <p:ph sz="half" idx="2"/>
          </p:nvPr>
        </p:nvSpPr>
        <p:spPr>
          <a:xfrm>
            <a:off x="4860608" y="3407833"/>
            <a:ext cx="4080510" cy="81224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91209914-CFA9-9D6C-9AD7-64D2B8C22830}"/>
              </a:ext>
            </a:extLst>
          </p:cNvPr>
          <p:cNvSpPr>
            <a:spLocks noGrp="1"/>
          </p:cNvSpPr>
          <p:nvPr>
            <p:ph type="dt" sz="half" idx="10"/>
          </p:nvPr>
        </p:nvSpPr>
        <p:spPr/>
        <p:txBody>
          <a:bodyPr/>
          <a:lstStyle/>
          <a:p>
            <a:fld id="{47641A74-98BD-4B3C-827E-E8E43FD96C93}" type="datetimeFigureOut">
              <a:rPr lang="en-GB" smtClean="0"/>
              <a:t>27/11/2025</a:t>
            </a:fld>
            <a:endParaRPr lang="en-GB"/>
          </a:p>
        </p:txBody>
      </p:sp>
      <p:sp>
        <p:nvSpPr>
          <p:cNvPr id="6" name="Footer Placeholder 5">
            <a:extLst>
              <a:ext uri="{FF2B5EF4-FFF2-40B4-BE49-F238E27FC236}">
                <a16:creationId xmlns:a16="http://schemas.microsoft.com/office/drawing/2014/main" id="{FAA3A4E8-A471-C661-4D2B-1C50B9803F6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5EED025-15FD-E1A6-D3D1-DAB417877C77}"/>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40209251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139F92-4706-3DDC-7BA6-907307250544}"/>
              </a:ext>
            </a:extLst>
          </p:cNvPr>
          <p:cNvSpPr>
            <a:spLocks noGrp="1"/>
          </p:cNvSpPr>
          <p:nvPr>
            <p:ph type="title"/>
          </p:nvPr>
        </p:nvSpPr>
        <p:spPr>
          <a:xfrm>
            <a:off x="661333" y="681568"/>
            <a:ext cx="8281035" cy="2474384"/>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612E1805-710E-6EE8-72D2-7E35549937A1}"/>
              </a:ext>
            </a:extLst>
          </p:cNvPr>
          <p:cNvSpPr>
            <a:spLocks noGrp="1"/>
          </p:cNvSpPr>
          <p:nvPr>
            <p:ph type="body" idx="1"/>
          </p:nvPr>
        </p:nvSpPr>
        <p:spPr>
          <a:xfrm>
            <a:off x="661334" y="3138171"/>
            <a:ext cx="4061757" cy="1537969"/>
          </a:xfrm>
        </p:spPr>
        <p:txBody>
          <a:bodyPr anchor="b"/>
          <a:lstStyle>
            <a:lvl1pPr marL="0" indent="0">
              <a:buNone/>
              <a:defRPr sz="4480" b="1"/>
            </a:lvl1pPr>
            <a:lvl2pPr marL="853455" indent="0">
              <a:buNone/>
              <a:defRPr sz="3733" b="1"/>
            </a:lvl2pPr>
            <a:lvl3pPr marL="1706910" indent="0">
              <a:buNone/>
              <a:defRPr sz="3360" b="1"/>
            </a:lvl3pPr>
            <a:lvl4pPr marL="2560366" indent="0">
              <a:buNone/>
              <a:defRPr sz="2987" b="1"/>
            </a:lvl4pPr>
            <a:lvl5pPr marL="3413821" indent="0">
              <a:buNone/>
              <a:defRPr sz="2987" b="1"/>
            </a:lvl5pPr>
            <a:lvl6pPr marL="4267276" indent="0">
              <a:buNone/>
              <a:defRPr sz="2987" b="1"/>
            </a:lvl6pPr>
            <a:lvl7pPr marL="5120731" indent="0">
              <a:buNone/>
              <a:defRPr sz="2987" b="1"/>
            </a:lvl7pPr>
            <a:lvl8pPr marL="5974187" indent="0">
              <a:buNone/>
              <a:defRPr sz="2987" b="1"/>
            </a:lvl8pPr>
            <a:lvl9pPr marL="6827642" indent="0">
              <a:buNone/>
              <a:defRPr sz="2987" b="1"/>
            </a:lvl9pPr>
          </a:lstStyle>
          <a:p>
            <a:pPr lvl="0"/>
            <a:r>
              <a:rPr lang="en-US"/>
              <a:t>Click to edit Master text styles</a:t>
            </a:r>
          </a:p>
        </p:txBody>
      </p:sp>
      <p:sp>
        <p:nvSpPr>
          <p:cNvPr id="4" name="Content Placeholder 3">
            <a:extLst>
              <a:ext uri="{FF2B5EF4-FFF2-40B4-BE49-F238E27FC236}">
                <a16:creationId xmlns:a16="http://schemas.microsoft.com/office/drawing/2014/main" id="{3074222E-79C4-C13E-F7DA-7A265BA5D986}"/>
              </a:ext>
            </a:extLst>
          </p:cNvPr>
          <p:cNvSpPr>
            <a:spLocks noGrp="1"/>
          </p:cNvSpPr>
          <p:nvPr>
            <p:ph sz="half" idx="2"/>
          </p:nvPr>
        </p:nvSpPr>
        <p:spPr>
          <a:xfrm>
            <a:off x="661334" y="4676140"/>
            <a:ext cx="4061757" cy="68778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91C5D034-B89B-CCDE-6FB7-F6E8EA64E10C}"/>
              </a:ext>
            </a:extLst>
          </p:cNvPr>
          <p:cNvSpPr>
            <a:spLocks noGrp="1"/>
          </p:cNvSpPr>
          <p:nvPr>
            <p:ph type="body" sz="quarter" idx="3"/>
          </p:nvPr>
        </p:nvSpPr>
        <p:spPr>
          <a:xfrm>
            <a:off x="4860607" y="3138171"/>
            <a:ext cx="4081761" cy="1537969"/>
          </a:xfrm>
        </p:spPr>
        <p:txBody>
          <a:bodyPr anchor="b"/>
          <a:lstStyle>
            <a:lvl1pPr marL="0" indent="0">
              <a:buNone/>
              <a:defRPr sz="4480" b="1"/>
            </a:lvl1pPr>
            <a:lvl2pPr marL="853455" indent="0">
              <a:buNone/>
              <a:defRPr sz="3733" b="1"/>
            </a:lvl2pPr>
            <a:lvl3pPr marL="1706910" indent="0">
              <a:buNone/>
              <a:defRPr sz="3360" b="1"/>
            </a:lvl3pPr>
            <a:lvl4pPr marL="2560366" indent="0">
              <a:buNone/>
              <a:defRPr sz="2987" b="1"/>
            </a:lvl4pPr>
            <a:lvl5pPr marL="3413821" indent="0">
              <a:buNone/>
              <a:defRPr sz="2987" b="1"/>
            </a:lvl5pPr>
            <a:lvl6pPr marL="4267276" indent="0">
              <a:buNone/>
              <a:defRPr sz="2987" b="1"/>
            </a:lvl6pPr>
            <a:lvl7pPr marL="5120731" indent="0">
              <a:buNone/>
              <a:defRPr sz="2987" b="1"/>
            </a:lvl7pPr>
            <a:lvl8pPr marL="5974187" indent="0">
              <a:buNone/>
              <a:defRPr sz="2987" b="1"/>
            </a:lvl8pPr>
            <a:lvl9pPr marL="6827642" indent="0">
              <a:buNone/>
              <a:defRPr sz="2987" b="1"/>
            </a:lvl9pPr>
          </a:lstStyle>
          <a:p>
            <a:pPr lvl="0"/>
            <a:r>
              <a:rPr lang="en-US"/>
              <a:t>Click to edit Master text styles</a:t>
            </a:r>
          </a:p>
        </p:txBody>
      </p:sp>
      <p:sp>
        <p:nvSpPr>
          <p:cNvPr id="6" name="Content Placeholder 5">
            <a:extLst>
              <a:ext uri="{FF2B5EF4-FFF2-40B4-BE49-F238E27FC236}">
                <a16:creationId xmlns:a16="http://schemas.microsoft.com/office/drawing/2014/main" id="{CB137708-0F32-5EAE-16E3-5CEC2C48DDEC}"/>
              </a:ext>
            </a:extLst>
          </p:cNvPr>
          <p:cNvSpPr>
            <a:spLocks noGrp="1"/>
          </p:cNvSpPr>
          <p:nvPr>
            <p:ph sz="quarter" idx="4"/>
          </p:nvPr>
        </p:nvSpPr>
        <p:spPr>
          <a:xfrm>
            <a:off x="4860607" y="4676140"/>
            <a:ext cx="4081761" cy="68778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B3509398-9208-6CE7-B5D8-922184E484D3}"/>
              </a:ext>
            </a:extLst>
          </p:cNvPr>
          <p:cNvSpPr>
            <a:spLocks noGrp="1"/>
          </p:cNvSpPr>
          <p:nvPr>
            <p:ph type="dt" sz="half" idx="10"/>
          </p:nvPr>
        </p:nvSpPr>
        <p:spPr/>
        <p:txBody>
          <a:bodyPr/>
          <a:lstStyle/>
          <a:p>
            <a:fld id="{47641A74-98BD-4B3C-827E-E8E43FD96C93}" type="datetimeFigureOut">
              <a:rPr lang="en-GB" smtClean="0"/>
              <a:t>27/11/2025</a:t>
            </a:fld>
            <a:endParaRPr lang="en-GB"/>
          </a:p>
        </p:txBody>
      </p:sp>
      <p:sp>
        <p:nvSpPr>
          <p:cNvPr id="8" name="Footer Placeholder 7">
            <a:extLst>
              <a:ext uri="{FF2B5EF4-FFF2-40B4-BE49-F238E27FC236}">
                <a16:creationId xmlns:a16="http://schemas.microsoft.com/office/drawing/2014/main" id="{17FCADD5-DD6F-640A-A2AC-6FCEB414556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D906E592-D0B8-9C85-06A0-398F62216259}"/>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34479132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AF9798-5B85-A4F2-E101-1121C3F94952}"/>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CCF1F383-63DE-D0B8-8856-624481017098}"/>
              </a:ext>
            </a:extLst>
          </p:cNvPr>
          <p:cNvSpPr>
            <a:spLocks noGrp="1"/>
          </p:cNvSpPr>
          <p:nvPr>
            <p:ph type="dt" sz="half" idx="10"/>
          </p:nvPr>
        </p:nvSpPr>
        <p:spPr/>
        <p:txBody>
          <a:bodyPr/>
          <a:lstStyle/>
          <a:p>
            <a:fld id="{47641A74-98BD-4B3C-827E-E8E43FD96C93}" type="datetimeFigureOut">
              <a:rPr lang="en-GB" smtClean="0"/>
              <a:t>27/11/2025</a:t>
            </a:fld>
            <a:endParaRPr lang="en-GB"/>
          </a:p>
        </p:txBody>
      </p:sp>
      <p:sp>
        <p:nvSpPr>
          <p:cNvPr id="4" name="Footer Placeholder 3">
            <a:extLst>
              <a:ext uri="{FF2B5EF4-FFF2-40B4-BE49-F238E27FC236}">
                <a16:creationId xmlns:a16="http://schemas.microsoft.com/office/drawing/2014/main" id="{F514E45E-B824-F49A-D550-DFBBC2360D6D}"/>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D4DA846F-17E7-5BAF-65E8-E18B1D8235C5}"/>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38672240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AEA2AD3-BC1E-9021-B75C-7BB7BBA930D4}"/>
              </a:ext>
            </a:extLst>
          </p:cNvPr>
          <p:cNvSpPr>
            <a:spLocks noGrp="1"/>
          </p:cNvSpPr>
          <p:nvPr>
            <p:ph type="dt" sz="half" idx="10"/>
          </p:nvPr>
        </p:nvSpPr>
        <p:spPr/>
        <p:txBody>
          <a:bodyPr/>
          <a:lstStyle/>
          <a:p>
            <a:fld id="{47641A74-98BD-4B3C-827E-E8E43FD96C93}" type="datetimeFigureOut">
              <a:rPr lang="en-GB" smtClean="0"/>
              <a:t>27/11/2025</a:t>
            </a:fld>
            <a:endParaRPr lang="en-GB"/>
          </a:p>
        </p:txBody>
      </p:sp>
      <p:sp>
        <p:nvSpPr>
          <p:cNvPr id="3" name="Footer Placeholder 2">
            <a:extLst>
              <a:ext uri="{FF2B5EF4-FFF2-40B4-BE49-F238E27FC236}">
                <a16:creationId xmlns:a16="http://schemas.microsoft.com/office/drawing/2014/main" id="{3D601FD4-959E-CE8B-CAD5-C29DF791AB7E}"/>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3CE5199D-9EFE-4D3A-F830-FDE667B914E3}"/>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12007072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C2A318-38E3-4775-8C91-13BCC817BF4A}"/>
              </a:ext>
            </a:extLst>
          </p:cNvPr>
          <p:cNvSpPr>
            <a:spLocks noGrp="1"/>
          </p:cNvSpPr>
          <p:nvPr>
            <p:ph type="title"/>
          </p:nvPr>
        </p:nvSpPr>
        <p:spPr>
          <a:xfrm>
            <a:off x="661333" y="853440"/>
            <a:ext cx="3096637" cy="2987040"/>
          </a:xfrm>
        </p:spPr>
        <p:txBody>
          <a:bodyPr anchor="b"/>
          <a:lstStyle>
            <a:lvl1pPr>
              <a:defRPr sz="5973"/>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77E83DCD-037A-8390-B751-90536D891278}"/>
              </a:ext>
            </a:extLst>
          </p:cNvPr>
          <p:cNvSpPr>
            <a:spLocks noGrp="1"/>
          </p:cNvSpPr>
          <p:nvPr>
            <p:ph idx="1"/>
          </p:nvPr>
        </p:nvSpPr>
        <p:spPr>
          <a:xfrm>
            <a:off x="4081760" y="1843194"/>
            <a:ext cx="4860608" cy="9097433"/>
          </a:xfrm>
        </p:spPr>
        <p:txBody>
          <a:bodyPr/>
          <a:lstStyle>
            <a:lvl1pPr>
              <a:defRPr sz="5973"/>
            </a:lvl1pPr>
            <a:lvl2pPr>
              <a:defRPr sz="5227"/>
            </a:lvl2pPr>
            <a:lvl3pPr>
              <a:defRPr sz="4480"/>
            </a:lvl3pPr>
            <a:lvl4pPr>
              <a:defRPr sz="3733"/>
            </a:lvl4pPr>
            <a:lvl5pPr>
              <a:defRPr sz="3733"/>
            </a:lvl5pPr>
            <a:lvl6pPr>
              <a:defRPr sz="3733"/>
            </a:lvl6pPr>
            <a:lvl7pPr>
              <a:defRPr sz="3733"/>
            </a:lvl7pPr>
            <a:lvl8pPr>
              <a:defRPr sz="3733"/>
            </a:lvl8pPr>
            <a:lvl9pPr>
              <a:defRPr sz="37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5575D34-C1AA-27C9-3C46-0D6DD3484AF7}"/>
              </a:ext>
            </a:extLst>
          </p:cNvPr>
          <p:cNvSpPr>
            <a:spLocks noGrp="1"/>
          </p:cNvSpPr>
          <p:nvPr>
            <p:ph type="body" sz="half" idx="2"/>
          </p:nvPr>
        </p:nvSpPr>
        <p:spPr>
          <a:xfrm>
            <a:off x="661333" y="3840480"/>
            <a:ext cx="3096637" cy="7114964"/>
          </a:xfrm>
        </p:spPr>
        <p:txBody>
          <a:bodyPr/>
          <a:lstStyle>
            <a:lvl1pPr marL="0" indent="0">
              <a:buNone/>
              <a:defRPr sz="2987"/>
            </a:lvl1pPr>
            <a:lvl2pPr marL="853455" indent="0">
              <a:buNone/>
              <a:defRPr sz="2613"/>
            </a:lvl2pPr>
            <a:lvl3pPr marL="1706910" indent="0">
              <a:buNone/>
              <a:defRPr sz="2240"/>
            </a:lvl3pPr>
            <a:lvl4pPr marL="2560366" indent="0">
              <a:buNone/>
              <a:defRPr sz="1867"/>
            </a:lvl4pPr>
            <a:lvl5pPr marL="3413821" indent="0">
              <a:buNone/>
              <a:defRPr sz="1867"/>
            </a:lvl5pPr>
            <a:lvl6pPr marL="4267276" indent="0">
              <a:buNone/>
              <a:defRPr sz="1867"/>
            </a:lvl6pPr>
            <a:lvl7pPr marL="5120731" indent="0">
              <a:buNone/>
              <a:defRPr sz="1867"/>
            </a:lvl7pPr>
            <a:lvl8pPr marL="5974187" indent="0">
              <a:buNone/>
              <a:defRPr sz="1867"/>
            </a:lvl8pPr>
            <a:lvl9pPr marL="6827642" indent="0">
              <a:buNone/>
              <a:defRPr sz="1867"/>
            </a:lvl9pPr>
          </a:lstStyle>
          <a:p>
            <a:pPr lvl="0"/>
            <a:r>
              <a:rPr lang="en-US"/>
              <a:t>Click to edit Master text styles</a:t>
            </a:r>
          </a:p>
        </p:txBody>
      </p:sp>
      <p:sp>
        <p:nvSpPr>
          <p:cNvPr id="5" name="Date Placeholder 4">
            <a:extLst>
              <a:ext uri="{FF2B5EF4-FFF2-40B4-BE49-F238E27FC236}">
                <a16:creationId xmlns:a16="http://schemas.microsoft.com/office/drawing/2014/main" id="{52E1DB74-5801-1CA3-51E5-D0BCBA37E577}"/>
              </a:ext>
            </a:extLst>
          </p:cNvPr>
          <p:cNvSpPr>
            <a:spLocks noGrp="1"/>
          </p:cNvSpPr>
          <p:nvPr>
            <p:ph type="dt" sz="half" idx="10"/>
          </p:nvPr>
        </p:nvSpPr>
        <p:spPr/>
        <p:txBody>
          <a:bodyPr/>
          <a:lstStyle/>
          <a:p>
            <a:fld id="{47641A74-98BD-4B3C-827E-E8E43FD96C93}" type="datetimeFigureOut">
              <a:rPr lang="en-GB" smtClean="0"/>
              <a:t>27/11/2025</a:t>
            </a:fld>
            <a:endParaRPr lang="en-GB"/>
          </a:p>
        </p:txBody>
      </p:sp>
      <p:sp>
        <p:nvSpPr>
          <p:cNvPr id="6" name="Footer Placeholder 5">
            <a:extLst>
              <a:ext uri="{FF2B5EF4-FFF2-40B4-BE49-F238E27FC236}">
                <a16:creationId xmlns:a16="http://schemas.microsoft.com/office/drawing/2014/main" id="{010D4AE3-42FF-B0A6-1279-C81F30D1981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4399B40-3CC6-20CD-8709-BABE62158F0D}"/>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13341352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398D11-6676-AD97-54F8-77FB651B737E}"/>
              </a:ext>
            </a:extLst>
          </p:cNvPr>
          <p:cNvSpPr>
            <a:spLocks noGrp="1"/>
          </p:cNvSpPr>
          <p:nvPr>
            <p:ph type="title"/>
          </p:nvPr>
        </p:nvSpPr>
        <p:spPr>
          <a:xfrm>
            <a:off x="661333" y="853440"/>
            <a:ext cx="3096637" cy="2987040"/>
          </a:xfrm>
        </p:spPr>
        <p:txBody>
          <a:bodyPr anchor="b"/>
          <a:lstStyle>
            <a:lvl1pPr>
              <a:defRPr sz="5973"/>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A077260A-7003-5D76-4AD8-81E5B66EBC21}"/>
              </a:ext>
            </a:extLst>
          </p:cNvPr>
          <p:cNvSpPr>
            <a:spLocks noGrp="1"/>
          </p:cNvSpPr>
          <p:nvPr>
            <p:ph type="pic" idx="1"/>
          </p:nvPr>
        </p:nvSpPr>
        <p:spPr>
          <a:xfrm>
            <a:off x="4081760" y="1843194"/>
            <a:ext cx="4860608" cy="9097433"/>
          </a:xfrm>
        </p:spPr>
        <p:txBody>
          <a:bodyPr/>
          <a:lstStyle>
            <a:lvl1pPr marL="0" indent="0">
              <a:buNone/>
              <a:defRPr sz="5973"/>
            </a:lvl1pPr>
            <a:lvl2pPr marL="853455" indent="0">
              <a:buNone/>
              <a:defRPr sz="5227"/>
            </a:lvl2pPr>
            <a:lvl3pPr marL="1706910" indent="0">
              <a:buNone/>
              <a:defRPr sz="4480"/>
            </a:lvl3pPr>
            <a:lvl4pPr marL="2560366" indent="0">
              <a:buNone/>
              <a:defRPr sz="3733"/>
            </a:lvl4pPr>
            <a:lvl5pPr marL="3413821" indent="0">
              <a:buNone/>
              <a:defRPr sz="3733"/>
            </a:lvl5pPr>
            <a:lvl6pPr marL="4267276" indent="0">
              <a:buNone/>
              <a:defRPr sz="3733"/>
            </a:lvl6pPr>
            <a:lvl7pPr marL="5120731" indent="0">
              <a:buNone/>
              <a:defRPr sz="3733"/>
            </a:lvl7pPr>
            <a:lvl8pPr marL="5974187" indent="0">
              <a:buNone/>
              <a:defRPr sz="3733"/>
            </a:lvl8pPr>
            <a:lvl9pPr marL="6827642" indent="0">
              <a:buNone/>
              <a:defRPr sz="3733"/>
            </a:lvl9pPr>
          </a:lstStyle>
          <a:p>
            <a:endParaRPr lang="en-GB"/>
          </a:p>
        </p:txBody>
      </p:sp>
      <p:sp>
        <p:nvSpPr>
          <p:cNvPr id="4" name="Text Placeholder 3">
            <a:extLst>
              <a:ext uri="{FF2B5EF4-FFF2-40B4-BE49-F238E27FC236}">
                <a16:creationId xmlns:a16="http://schemas.microsoft.com/office/drawing/2014/main" id="{72E64FAF-1B0B-C0E4-BB4A-C8771E4BD8B7}"/>
              </a:ext>
            </a:extLst>
          </p:cNvPr>
          <p:cNvSpPr>
            <a:spLocks noGrp="1"/>
          </p:cNvSpPr>
          <p:nvPr>
            <p:ph type="body" sz="half" idx="2"/>
          </p:nvPr>
        </p:nvSpPr>
        <p:spPr>
          <a:xfrm>
            <a:off x="661333" y="3840480"/>
            <a:ext cx="3096637" cy="7114964"/>
          </a:xfrm>
        </p:spPr>
        <p:txBody>
          <a:bodyPr/>
          <a:lstStyle>
            <a:lvl1pPr marL="0" indent="0">
              <a:buNone/>
              <a:defRPr sz="2987"/>
            </a:lvl1pPr>
            <a:lvl2pPr marL="853455" indent="0">
              <a:buNone/>
              <a:defRPr sz="2613"/>
            </a:lvl2pPr>
            <a:lvl3pPr marL="1706910" indent="0">
              <a:buNone/>
              <a:defRPr sz="2240"/>
            </a:lvl3pPr>
            <a:lvl4pPr marL="2560366" indent="0">
              <a:buNone/>
              <a:defRPr sz="1867"/>
            </a:lvl4pPr>
            <a:lvl5pPr marL="3413821" indent="0">
              <a:buNone/>
              <a:defRPr sz="1867"/>
            </a:lvl5pPr>
            <a:lvl6pPr marL="4267276" indent="0">
              <a:buNone/>
              <a:defRPr sz="1867"/>
            </a:lvl6pPr>
            <a:lvl7pPr marL="5120731" indent="0">
              <a:buNone/>
              <a:defRPr sz="1867"/>
            </a:lvl7pPr>
            <a:lvl8pPr marL="5974187" indent="0">
              <a:buNone/>
              <a:defRPr sz="1867"/>
            </a:lvl8pPr>
            <a:lvl9pPr marL="6827642" indent="0">
              <a:buNone/>
              <a:defRPr sz="1867"/>
            </a:lvl9pPr>
          </a:lstStyle>
          <a:p>
            <a:pPr lvl="0"/>
            <a:r>
              <a:rPr lang="en-US"/>
              <a:t>Click to edit Master text styles</a:t>
            </a:r>
          </a:p>
        </p:txBody>
      </p:sp>
      <p:sp>
        <p:nvSpPr>
          <p:cNvPr id="5" name="Date Placeholder 4">
            <a:extLst>
              <a:ext uri="{FF2B5EF4-FFF2-40B4-BE49-F238E27FC236}">
                <a16:creationId xmlns:a16="http://schemas.microsoft.com/office/drawing/2014/main" id="{84781043-F4E0-B6B2-9B02-A39D0C61B15F}"/>
              </a:ext>
            </a:extLst>
          </p:cNvPr>
          <p:cNvSpPr>
            <a:spLocks noGrp="1"/>
          </p:cNvSpPr>
          <p:nvPr>
            <p:ph type="dt" sz="half" idx="10"/>
          </p:nvPr>
        </p:nvSpPr>
        <p:spPr/>
        <p:txBody>
          <a:bodyPr/>
          <a:lstStyle/>
          <a:p>
            <a:fld id="{47641A74-98BD-4B3C-827E-E8E43FD96C93}" type="datetimeFigureOut">
              <a:rPr lang="en-GB" smtClean="0"/>
              <a:t>27/11/2025</a:t>
            </a:fld>
            <a:endParaRPr lang="en-GB"/>
          </a:p>
        </p:txBody>
      </p:sp>
      <p:sp>
        <p:nvSpPr>
          <p:cNvPr id="6" name="Footer Placeholder 5">
            <a:extLst>
              <a:ext uri="{FF2B5EF4-FFF2-40B4-BE49-F238E27FC236}">
                <a16:creationId xmlns:a16="http://schemas.microsoft.com/office/drawing/2014/main" id="{D24F4448-4867-29B0-B381-ABD2324B4ED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2FACF4C-402B-97E5-D6F8-6282619D925D}"/>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27787314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4EB5B2-D5B0-19AC-BEB0-9D73849D3E59}"/>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406005CA-94BC-E16C-EF84-344BD073F8C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5F94088-AE02-9F42-0711-DB0AF9A0CDB3}"/>
              </a:ext>
            </a:extLst>
          </p:cNvPr>
          <p:cNvSpPr>
            <a:spLocks noGrp="1"/>
          </p:cNvSpPr>
          <p:nvPr>
            <p:ph type="dt" sz="half" idx="10"/>
          </p:nvPr>
        </p:nvSpPr>
        <p:spPr/>
        <p:txBody>
          <a:bodyPr/>
          <a:lstStyle/>
          <a:p>
            <a:fld id="{47641A74-98BD-4B3C-827E-E8E43FD96C93}" type="datetimeFigureOut">
              <a:rPr lang="en-GB" smtClean="0"/>
              <a:t>27/11/2025</a:t>
            </a:fld>
            <a:endParaRPr lang="en-GB"/>
          </a:p>
        </p:txBody>
      </p:sp>
      <p:sp>
        <p:nvSpPr>
          <p:cNvPr id="5" name="Footer Placeholder 4">
            <a:extLst>
              <a:ext uri="{FF2B5EF4-FFF2-40B4-BE49-F238E27FC236}">
                <a16:creationId xmlns:a16="http://schemas.microsoft.com/office/drawing/2014/main" id="{7FA0081D-87C2-4B1B-DDE0-CC3F00DF20B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C445E1E-A0A0-BC08-735D-62C39D971EA0}"/>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6551544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B9DBB0D-0647-BD14-ACDE-3FE29F7DAF94}"/>
              </a:ext>
            </a:extLst>
          </p:cNvPr>
          <p:cNvSpPr>
            <a:spLocks noGrp="1"/>
          </p:cNvSpPr>
          <p:nvPr>
            <p:ph type="title" orient="vert"/>
          </p:nvPr>
        </p:nvSpPr>
        <p:spPr>
          <a:xfrm>
            <a:off x="6870859" y="681567"/>
            <a:ext cx="2070259" cy="10848764"/>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91E2EB1-B200-E53F-4C09-07E4B9A25240}"/>
              </a:ext>
            </a:extLst>
          </p:cNvPr>
          <p:cNvSpPr>
            <a:spLocks noGrp="1"/>
          </p:cNvSpPr>
          <p:nvPr>
            <p:ph type="body" orient="vert" idx="1"/>
          </p:nvPr>
        </p:nvSpPr>
        <p:spPr>
          <a:xfrm>
            <a:off x="660083" y="681567"/>
            <a:ext cx="6090761" cy="1084876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E5D952A-342F-8455-302E-FD29E5066A15}"/>
              </a:ext>
            </a:extLst>
          </p:cNvPr>
          <p:cNvSpPr>
            <a:spLocks noGrp="1"/>
          </p:cNvSpPr>
          <p:nvPr>
            <p:ph type="dt" sz="half" idx="10"/>
          </p:nvPr>
        </p:nvSpPr>
        <p:spPr/>
        <p:txBody>
          <a:bodyPr/>
          <a:lstStyle/>
          <a:p>
            <a:fld id="{47641A74-98BD-4B3C-827E-E8E43FD96C93}" type="datetimeFigureOut">
              <a:rPr lang="en-GB" smtClean="0"/>
              <a:t>27/11/2025</a:t>
            </a:fld>
            <a:endParaRPr lang="en-GB"/>
          </a:p>
        </p:txBody>
      </p:sp>
      <p:sp>
        <p:nvSpPr>
          <p:cNvPr id="5" name="Footer Placeholder 4">
            <a:extLst>
              <a:ext uri="{FF2B5EF4-FFF2-40B4-BE49-F238E27FC236}">
                <a16:creationId xmlns:a16="http://schemas.microsoft.com/office/drawing/2014/main" id="{22F88315-D6D6-B195-E85D-6EE3849FE9A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E1E61F3-CA3E-E61E-9D5D-F0E721CF0231}"/>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36245053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73BBE65-6769-7B1F-8E17-8E4DEE0F5E6F}"/>
              </a:ext>
            </a:extLst>
          </p:cNvPr>
          <p:cNvSpPr>
            <a:spLocks noGrp="1"/>
          </p:cNvSpPr>
          <p:nvPr>
            <p:ph type="title"/>
          </p:nvPr>
        </p:nvSpPr>
        <p:spPr>
          <a:xfrm>
            <a:off x="660083" y="681568"/>
            <a:ext cx="8281035" cy="2474384"/>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99B3C84-1ABC-9785-51AA-DEFE5FD58DE4}"/>
              </a:ext>
            </a:extLst>
          </p:cNvPr>
          <p:cNvSpPr>
            <a:spLocks noGrp="1"/>
          </p:cNvSpPr>
          <p:nvPr>
            <p:ph type="body" idx="1"/>
          </p:nvPr>
        </p:nvSpPr>
        <p:spPr>
          <a:xfrm>
            <a:off x="660083" y="3407833"/>
            <a:ext cx="8281035" cy="812249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94952F6-A5E3-AE07-1374-AB3E6483774A}"/>
              </a:ext>
            </a:extLst>
          </p:cNvPr>
          <p:cNvSpPr>
            <a:spLocks noGrp="1"/>
          </p:cNvSpPr>
          <p:nvPr>
            <p:ph type="dt" sz="half" idx="2"/>
          </p:nvPr>
        </p:nvSpPr>
        <p:spPr>
          <a:xfrm>
            <a:off x="660083" y="11865187"/>
            <a:ext cx="2160270" cy="681567"/>
          </a:xfrm>
          <a:prstGeom prst="rect">
            <a:avLst/>
          </a:prstGeom>
        </p:spPr>
        <p:txBody>
          <a:bodyPr vert="horz" lIns="91440" tIns="45720" rIns="91440" bIns="45720" rtlCol="0" anchor="ctr"/>
          <a:lstStyle>
            <a:lvl1pPr algn="l">
              <a:defRPr sz="2240">
                <a:solidFill>
                  <a:schemeClr val="tx1">
                    <a:tint val="75000"/>
                  </a:schemeClr>
                </a:solidFill>
              </a:defRPr>
            </a:lvl1pPr>
          </a:lstStyle>
          <a:p>
            <a:fld id="{47641A74-98BD-4B3C-827E-E8E43FD96C93}" type="datetimeFigureOut">
              <a:rPr lang="en-GB" smtClean="0"/>
              <a:t>27/11/2025</a:t>
            </a:fld>
            <a:endParaRPr lang="en-GB"/>
          </a:p>
        </p:txBody>
      </p:sp>
      <p:sp>
        <p:nvSpPr>
          <p:cNvPr id="5" name="Footer Placeholder 4">
            <a:extLst>
              <a:ext uri="{FF2B5EF4-FFF2-40B4-BE49-F238E27FC236}">
                <a16:creationId xmlns:a16="http://schemas.microsoft.com/office/drawing/2014/main" id="{2DD11E92-5A95-C483-050F-E7CB60E47E38}"/>
              </a:ext>
            </a:extLst>
          </p:cNvPr>
          <p:cNvSpPr>
            <a:spLocks noGrp="1"/>
          </p:cNvSpPr>
          <p:nvPr>
            <p:ph type="ftr" sz="quarter" idx="3"/>
          </p:nvPr>
        </p:nvSpPr>
        <p:spPr>
          <a:xfrm>
            <a:off x="3180398" y="11865187"/>
            <a:ext cx="3240405" cy="681567"/>
          </a:xfrm>
          <a:prstGeom prst="rect">
            <a:avLst/>
          </a:prstGeom>
        </p:spPr>
        <p:txBody>
          <a:bodyPr vert="horz" lIns="91440" tIns="45720" rIns="91440" bIns="45720" rtlCol="0" anchor="ctr"/>
          <a:lstStyle>
            <a:lvl1pPr algn="ctr">
              <a:defRPr sz="224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A63E2AB0-37CA-182D-9940-8EDF9D524C17}"/>
              </a:ext>
            </a:extLst>
          </p:cNvPr>
          <p:cNvSpPr>
            <a:spLocks noGrp="1"/>
          </p:cNvSpPr>
          <p:nvPr>
            <p:ph type="sldNum" sz="quarter" idx="4"/>
          </p:nvPr>
        </p:nvSpPr>
        <p:spPr>
          <a:xfrm>
            <a:off x="6780848" y="11865187"/>
            <a:ext cx="2160270" cy="681567"/>
          </a:xfrm>
          <a:prstGeom prst="rect">
            <a:avLst/>
          </a:prstGeom>
        </p:spPr>
        <p:txBody>
          <a:bodyPr vert="horz" lIns="91440" tIns="45720" rIns="91440" bIns="45720" rtlCol="0" anchor="ctr"/>
          <a:lstStyle>
            <a:lvl1pPr algn="r">
              <a:defRPr sz="2240">
                <a:solidFill>
                  <a:schemeClr val="tx1">
                    <a:tint val="75000"/>
                  </a:schemeClr>
                </a:solidFill>
              </a:defRPr>
            </a:lvl1pPr>
          </a:lstStyle>
          <a:p>
            <a:fld id="{F88AA56C-1734-4119-BA56-AE67025E1ADC}" type="slidenum">
              <a:rPr lang="en-GB" smtClean="0"/>
              <a:t>‹#›</a:t>
            </a:fld>
            <a:endParaRPr lang="en-GB"/>
          </a:p>
        </p:txBody>
      </p:sp>
    </p:spTree>
    <p:extLst>
      <p:ext uri="{BB962C8B-B14F-4D97-AF65-F5344CB8AC3E}">
        <p14:creationId xmlns:p14="http://schemas.microsoft.com/office/powerpoint/2010/main" val="15274000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1706910" rtl="0" eaLnBrk="1" latinLnBrk="0" hangingPunct="1">
        <a:lnSpc>
          <a:spcPct val="90000"/>
        </a:lnSpc>
        <a:spcBef>
          <a:spcPct val="0"/>
        </a:spcBef>
        <a:buNone/>
        <a:defRPr sz="8213" kern="1200">
          <a:solidFill>
            <a:schemeClr val="tx1"/>
          </a:solidFill>
          <a:latin typeface="+mj-lt"/>
          <a:ea typeface="+mj-ea"/>
          <a:cs typeface="+mj-cs"/>
        </a:defRPr>
      </a:lvl1pPr>
    </p:titleStyle>
    <p:bodyStyle>
      <a:lvl1pPr marL="426728" indent="-426728" algn="l" defTabSz="1706910" rtl="0" eaLnBrk="1" latinLnBrk="0" hangingPunct="1">
        <a:lnSpc>
          <a:spcPct val="90000"/>
        </a:lnSpc>
        <a:spcBef>
          <a:spcPts val="1867"/>
        </a:spcBef>
        <a:buFont typeface="Arial" panose="020B0604020202020204" pitchFamily="34" charset="0"/>
        <a:buChar char="•"/>
        <a:defRPr sz="5227" kern="1200">
          <a:solidFill>
            <a:schemeClr val="tx1"/>
          </a:solidFill>
          <a:latin typeface="+mn-lt"/>
          <a:ea typeface="+mn-ea"/>
          <a:cs typeface="+mn-cs"/>
        </a:defRPr>
      </a:lvl1pPr>
      <a:lvl2pPr marL="1280183" indent="-426728" algn="l" defTabSz="1706910" rtl="0" eaLnBrk="1" latinLnBrk="0" hangingPunct="1">
        <a:lnSpc>
          <a:spcPct val="90000"/>
        </a:lnSpc>
        <a:spcBef>
          <a:spcPts val="933"/>
        </a:spcBef>
        <a:buFont typeface="Arial" panose="020B0604020202020204" pitchFamily="34" charset="0"/>
        <a:buChar char="•"/>
        <a:defRPr sz="4480" kern="1200">
          <a:solidFill>
            <a:schemeClr val="tx1"/>
          </a:solidFill>
          <a:latin typeface="+mn-lt"/>
          <a:ea typeface="+mn-ea"/>
          <a:cs typeface="+mn-cs"/>
        </a:defRPr>
      </a:lvl2pPr>
      <a:lvl3pPr marL="2133638" indent="-426728" algn="l" defTabSz="1706910" rtl="0" eaLnBrk="1" latinLnBrk="0" hangingPunct="1">
        <a:lnSpc>
          <a:spcPct val="90000"/>
        </a:lnSpc>
        <a:spcBef>
          <a:spcPts val="933"/>
        </a:spcBef>
        <a:buFont typeface="Arial" panose="020B0604020202020204" pitchFamily="34" charset="0"/>
        <a:buChar char="•"/>
        <a:defRPr sz="3733" kern="1200">
          <a:solidFill>
            <a:schemeClr val="tx1"/>
          </a:solidFill>
          <a:latin typeface="+mn-lt"/>
          <a:ea typeface="+mn-ea"/>
          <a:cs typeface="+mn-cs"/>
        </a:defRPr>
      </a:lvl3pPr>
      <a:lvl4pPr marL="2987093"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4pPr>
      <a:lvl5pPr marL="3840549"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5pPr>
      <a:lvl6pPr marL="4694004"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6pPr>
      <a:lvl7pPr marL="5547459"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7pPr>
      <a:lvl8pPr marL="6400914"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8pPr>
      <a:lvl9pPr marL="7254370"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9pPr>
    </p:bodyStyle>
    <p:otherStyle>
      <a:defPPr>
        <a:defRPr lang="en-US"/>
      </a:defPPr>
      <a:lvl1pPr marL="0" algn="l" defTabSz="1706910" rtl="0" eaLnBrk="1" latinLnBrk="0" hangingPunct="1">
        <a:defRPr sz="3360" kern="1200">
          <a:solidFill>
            <a:schemeClr val="tx1"/>
          </a:solidFill>
          <a:latin typeface="+mn-lt"/>
          <a:ea typeface="+mn-ea"/>
          <a:cs typeface="+mn-cs"/>
        </a:defRPr>
      </a:lvl1pPr>
      <a:lvl2pPr marL="853455" algn="l" defTabSz="1706910" rtl="0" eaLnBrk="1" latinLnBrk="0" hangingPunct="1">
        <a:defRPr sz="3360" kern="1200">
          <a:solidFill>
            <a:schemeClr val="tx1"/>
          </a:solidFill>
          <a:latin typeface="+mn-lt"/>
          <a:ea typeface="+mn-ea"/>
          <a:cs typeface="+mn-cs"/>
        </a:defRPr>
      </a:lvl2pPr>
      <a:lvl3pPr marL="1706910" algn="l" defTabSz="1706910" rtl="0" eaLnBrk="1" latinLnBrk="0" hangingPunct="1">
        <a:defRPr sz="3360" kern="1200">
          <a:solidFill>
            <a:schemeClr val="tx1"/>
          </a:solidFill>
          <a:latin typeface="+mn-lt"/>
          <a:ea typeface="+mn-ea"/>
          <a:cs typeface="+mn-cs"/>
        </a:defRPr>
      </a:lvl3pPr>
      <a:lvl4pPr marL="2560366" algn="l" defTabSz="1706910" rtl="0" eaLnBrk="1" latinLnBrk="0" hangingPunct="1">
        <a:defRPr sz="3360" kern="1200">
          <a:solidFill>
            <a:schemeClr val="tx1"/>
          </a:solidFill>
          <a:latin typeface="+mn-lt"/>
          <a:ea typeface="+mn-ea"/>
          <a:cs typeface="+mn-cs"/>
        </a:defRPr>
      </a:lvl4pPr>
      <a:lvl5pPr marL="3413821" algn="l" defTabSz="1706910" rtl="0" eaLnBrk="1" latinLnBrk="0" hangingPunct="1">
        <a:defRPr sz="3360" kern="1200">
          <a:solidFill>
            <a:schemeClr val="tx1"/>
          </a:solidFill>
          <a:latin typeface="+mn-lt"/>
          <a:ea typeface="+mn-ea"/>
          <a:cs typeface="+mn-cs"/>
        </a:defRPr>
      </a:lvl5pPr>
      <a:lvl6pPr marL="4267276" algn="l" defTabSz="1706910" rtl="0" eaLnBrk="1" latinLnBrk="0" hangingPunct="1">
        <a:defRPr sz="3360" kern="1200">
          <a:solidFill>
            <a:schemeClr val="tx1"/>
          </a:solidFill>
          <a:latin typeface="+mn-lt"/>
          <a:ea typeface="+mn-ea"/>
          <a:cs typeface="+mn-cs"/>
        </a:defRPr>
      </a:lvl6pPr>
      <a:lvl7pPr marL="5120731" algn="l" defTabSz="1706910" rtl="0" eaLnBrk="1" latinLnBrk="0" hangingPunct="1">
        <a:defRPr sz="3360" kern="1200">
          <a:solidFill>
            <a:schemeClr val="tx1"/>
          </a:solidFill>
          <a:latin typeface="+mn-lt"/>
          <a:ea typeface="+mn-ea"/>
          <a:cs typeface="+mn-cs"/>
        </a:defRPr>
      </a:lvl7pPr>
      <a:lvl8pPr marL="5974187" algn="l" defTabSz="1706910" rtl="0" eaLnBrk="1" latinLnBrk="0" hangingPunct="1">
        <a:defRPr sz="3360" kern="1200">
          <a:solidFill>
            <a:schemeClr val="tx1"/>
          </a:solidFill>
          <a:latin typeface="+mn-lt"/>
          <a:ea typeface="+mn-ea"/>
          <a:cs typeface="+mn-cs"/>
        </a:defRPr>
      </a:lvl8pPr>
      <a:lvl9pPr marL="6827642" algn="l" defTabSz="1706910" rtl="0" eaLnBrk="1" latinLnBrk="0" hangingPunct="1">
        <a:defRPr sz="33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4">
            <a:extLst>
              <a:ext uri="{FF2B5EF4-FFF2-40B4-BE49-F238E27FC236}">
                <a16:creationId xmlns:a16="http://schemas.microsoft.com/office/drawing/2014/main" id="{5C505450-C5E0-1B5C-6748-4D78433A1E86}"/>
              </a:ext>
            </a:extLst>
          </p:cNvPr>
          <p:cNvGraphicFramePr>
            <a:graphicFrameLocks noGrp="1"/>
          </p:cNvGraphicFramePr>
          <p:nvPr>
            <p:extLst>
              <p:ext uri="{D42A27DB-BD31-4B8C-83A1-F6EECF244321}">
                <p14:modId xmlns:p14="http://schemas.microsoft.com/office/powerpoint/2010/main" val="1483958890"/>
              </p:ext>
            </p:extLst>
          </p:nvPr>
        </p:nvGraphicFramePr>
        <p:xfrm>
          <a:off x="212538" y="640569"/>
          <a:ext cx="9235515" cy="12141612"/>
        </p:xfrm>
        <a:graphic>
          <a:graphicData uri="http://schemas.openxmlformats.org/drawingml/2006/table">
            <a:tbl>
              <a:tblPr firstRow="1" bandRow="1">
                <a:tableStyleId>{5940675A-B579-460E-94D1-54222C63F5DA}</a:tableStyleId>
              </a:tblPr>
              <a:tblGrid>
                <a:gridCol w="4619065">
                  <a:extLst>
                    <a:ext uri="{9D8B030D-6E8A-4147-A177-3AD203B41FA5}">
                      <a16:colId xmlns:a16="http://schemas.microsoft.com/office/drawing/2014/main" val="2764526960"/>
                    </a:ext>
                  </a:extLst>
                </a:gridCol>
                <a:gridCol w="4616450">
                  <a:extLst>
                    <a:ext uri="{9D8B030D-6E8A-4147-A177-3AD203B41FA5}">
                      <a16:colId xmlns:a16="http://schemas.microsoft.com/office/drawing/2014/main" val="4046254876"/>
                    </a:ext>
                  </a:extLst>
                </a:gridCol>
              </a:tblGrid>
              <a:tr h="4422933">
                <a:tc>
                  <a:txBody>
                    <a:bodyPr/>
                    <a:lstStyle/>
                    <a:p>
                      <a:r>
                        <a:rPr lang="en-GB" sz="2000" dirty="0"/>
                        <a:t>2. Project Methodology</a:t>
                      </a:r>
                    </a:p>
                    <a:p>
                      <a:pPr marL="228600" indent="-228600">
                        <a:buAutoNum type="arabicPeriod"/>
                      </a:pPr>
                      <a:r>
                        <a:rPr lang="en-GB" sz="1000" dirty="0"/>
                        <a:t>List the steps you took to carry out the project</a:t>
                      </a:r>
                    </a:p>
                    <a:p>
                      <a:pPr marL="228600" indent="-228600">
                        <a:buAutoNum type="arabicPeriod"/>
                      </a:pPr>
                      <a:r>
                        <a:rPr lang="en-GB" sz="1000" dirty="0"/>
                        <a:t>Include train/validate/test split and model selection</a:t>
                      </a:r>
                    </a:p>
                    <a:p>
                      <a:pPr marL="228600" indent="-228600">
                        <a:buAutoNum type="arabicPeriod"/>
                      </a:pPr>
                      <a:r>
                        <a:rPr lang="en-GB" sz="1000" dirty="0"/>
                        <a:t>This list should cover ALL the steps in the process</a:t>
                      </a:r>
                    </a:p>
                    <a:p>
                      <a:pPr marL="228600" indent="-228600">
                        <a:buAutoNum type="arabicPeriod"/>
                      </a:pPr>
                      <a:r>
                        <a:rPr lang="en-GB" sz="1000" dirty="0"/>
                        <a:t>…</a:t>
                      </a:r>
                    </a:p>
                    <a:p>
                      <a:pPr marL="228600" indent="-228600">
                        <a:buAutoNum type="arabicPeriod"/>
                      </a:pPr>
                      <a:r>
                        <a:rPr lang="en-GB" sz="1000" dirty="0"/>
                        <a:t>…</a:t>
                      </a:r>
                    </a:p>
                    <a:p>
                      <a:pPr marL="0" indent="0">
                        <a:buNone/>
                      </a:pPr>
                      <a:endParaRPr lang="en-GB" sz="1000" dirty="0"/>
                    </a:p>
                    <a:p>
                      <a:pPr marL="0" indent="0">
                        <a:buNone/>
                      </a:pPr>
                      <a:endParaRPr lang="en-GB" sz="1000" dirty="0"/>
                    </a:p>
                    <a:p>
                      <a:pPr marL="0" indent="0">
                        <a:buNone/>
                      </a:pPr>
                      <a:endParaRPr lang="en-GB" sz="1000" dirty="0"/>
                    </a:p>
                    <a:p>
                      <a:pPr marL="0" indent="0">
                        <a:buNone/>
                      </a:pPr>
                      <a:endParaRPr lang="en-GB" sz="1200" dirty="0"/>
                    </a:p>
                    <a:p>
                      <a:pPr marL="0" marR="0" lvl="0" indent="0" algn="l" defTabSz="1706910" rtl="0" eaLnBrk="1" fontAlgn="auto" latinLnBrk="0" hangingPunct="1">
                        <a:lnSpc>
                          <a:spcPct val="100000"/>
                        </a:lnSpc>
                        <a:spcBef>
                          <a:spcPts val="0"/>
                        </a:spcBef>
                        <a:spcAft>
                          <a:spcPts val="0"/>
                        </a:spcAft>
                        <a:buClrTx/>
                        <a:buSzTx/>
                        <a:buFontTx/>
                        <a:buNone/>
                        <a:tabLst/>
                        <a:defRPr/>
                      </a:pPr>
                      <a:r>
                        <a:rPr lang="en-GB" sz="2000" kern="1200" dirty="0">
                          <a:solidFill>
                            <a:schemeClr val="tx1"/>
                          </a:solidFill>
                          <a:latin typeface="+mn-lt"/>
                          <a:ea typeface="+mn-ea"/>
                          <a:cs typeface="+mn-cs"/>
                        </a:rPr>
                        <a:t>4. Data Preparation</a:t>
                      </a:r>
                    </a:p>
                    <a:p>
                      <a:pPr marL="0" indent="0">
                        <a:buNone/>
                      </a:pPr>
                      <a:r>
                        <a:rPr lang="en-GB" sz="1100" dirty="0"/>
                        <a:t>In the ISI variable histogram showed there is one extreme outlier far outside the normal range. The outlier was trimmed using the select rows widget in Orange. Histograms below show the ISI distribution before and after cleaning.</a:t>
                      </a:r>
                    </a:p>
                    <a:p>
                      <a:pPr marL="0" indent="0">
                        <a:buNone/>
                      </a:pPr>
                      <a:endParaRPr lang="en-GB" sz="1200" dirty="0"/>
                    </a:p>
                    <a:p>
                      <a:pPr marL="0" indent="0">
                        <a:buNone/>
                      </a:pPr>
                      <a:endParaRPr lang="en-GB" sz="1200" dirty="0"/>
                    </a:p>
                    <a:p>
                      <a:pPr marL="0" indent="0">
                        <a:buNone/>
                      </a:pPr>
                      <a:endParaRPr lang="en-GB" sz="1200" dirty="0"/>
                    </a:p>
                    <a:p>
                      <a:pPr marL="0" indent="0">
                        <a:buNone/>
                      </a:pPr>
                      <a:endParaRPr lang="en-GB" sz="1200" dirty="0"/>
                    </a:p>
                    <a:p>
                      <a:pPr marL="0" indent="0">
                        <a:buNone/>
                      </a:pPr>
                      <a:endParaRPr lang="en-GB" sz="1200" dirty="0"/>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2000" kern="1200" dirty="0">
                          <a:solidFill>
                            <a:schemeClr val="tx1"/>
                          </a:solidFill>
                          <a:latin typeface="+mn-lt"/>
                          <a:ea typeface="+mn-ea"/>
                          <a:cs typeface="+mn-cs"/>
                        </a:rPr>
                        <a:t>3 Variables/ Data Understanding</a:t>
                      </a:r>
                      <a:endParaRPr lang="en-GB" dirty="0"/>
                    </a:p>
                  </a:txBody>
                  <a:tcPr/>
                </a:tc>
                <a:extLst>
                  <a:ext uri="{0D108BD9-81ED-4DB2-BD59-A6C34878D82A}">
                    <a16:rowId xmlns:a16="http://schemas.microsoft.com/office/drawing/2014/main" val="4220087450"/>
                  </a:ext>
                </a:extLst>
              </a:tr>
              <a:tr h="3170497">
                <a:tc gridSpan="2">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2000" kern="1200" dirty="0">
                          <a:solidFill>
                            <a:schemeClr val="tx1"/>
                          </a:solidFill>
                          <a:latin typeface="+mn-lt"/>
                          <a:ea typeface="+mn-ea"/>
                          <a:cs typeface="+mn-cs"/>
                        </a:rPr>
                        <a:t>5. Model Training and Hyper Parameters</a:t>
                      </a:r>
                    </a:p>
                    <a:p>
                      <a:pPr marL="0" marR="0" lvl="0" indent="0" algn="l" defTabSz="1706910" rtl="0" eaLnBrk="1" fontAlgn="auto" latinLnBrk="0" hangingPunct="1">
                        <a:lnSpc>
                          <a:spcPct val="100000"/>
                        </a:lnSpc>
                        <a:spcBef>
                          <a:spcPts val="0"/>
                        </a:spcBef>
                        <a:spcAft>
                          <a:spcPts val="0"/>
                        </a:spcAft>
                        <a:buClrTx/>
                        <a:buSzTx/>
                        <a:buFontTx/>
                        <a:buNone/>
                        <a:tabLst/>
                        <a:defRPr/>
                      </a:pPr>
                      <a:r>
                        <a:rPr lang="en-US" sz="1050" dirty="0"/>
                        <a:t>This table below is showing the different models and hyper parameters that were </a:t>
                      </a:r>
                    </a:p>
                    <a:p>
                      <a:pPr marL="0" marR="0" lvl="0" indent="0" algn="l" defTabSz="1706910" rtl="0" eaLnBrk="1" fontAlgn="auto" latinLnBrk="0" hangingPunct="1">
                        <a:lnSpc>
                          <a:spcPct val="100000"/>
                        </a:lnSpc>
                        <a:spcBef>
                          <a:spcPts val="0"/>
                        </a:spcBef>
                        <a:spcAft>
                          <a:spcPts val="0"/>
                        </a:spcAft>
                        <a:buClrTx/>
                        <a:buSzTx/>
                        <a:buFontTx/>
                        <a:buNone/>
                        <a:tabLst/>
                        <a:defRPr/>
                      </a:pPr>
                      <a:r>
                        <a:rPr lang="en-US" sz="1050" dirty="0"/>
                        <a:t>trained, along with the correct metric for each;</a:t>
                      </a:r>
                      <a:endParaRPr lang="en-GB" sz="1050" kern="1200" dirty="0">
                        <a:solidFill>
                          <a:schemeClr val="tx1"/>
                        </a:solidFill>
                        <a:latin typeface="+mn-lt"/>
                        <a:ea typeface="+mn-ea"/>
                        <a:cs typeface="+mn-cs"/>
                      </a:endParaRPr>
                    </a:p>
                  </a:txBody>
                  <a:tcPr/>
                </a:tc>
                <a:tc hMerge="1">
                  <a:txBody>
                    <a:bodyPr/>
                    <a:lstStyle/>
                    <a:p>
                      <a:r>
                        <a:rPr lang="en-GB" dirty="0"/>
                        <a:t>Model Hyper Parameters</a:t>
                      </a:r>
                    </a:p>
                  </a:txBody>
                  <a:tcPr/>
                </a:tc>
                <a:extLst>
                  <a:ext uri="{0D108BD9-81ED-4DB2-BD59-A6C34878D82A}">
                    <a16:rowId xmlns:a16="http://schemas.microsoft.com/office/drawing/2014/main" val="2896326707"/>
                  </a:ext>
                </a:extLst>
              </a:tr>
              <a:tr h="2140262">
                <a:tc rowSpan="2">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2000" b="0" i="0" u="none" strike="noStrike" kern="1200" cap="none" spc="0" normalizeH="0" baseline="0" noProof="0" dirty="0">
                          <a:ln>
                            <a:noFill/>
                          </a:ln>
                          <a:solidFill>
                            <a:prstClr val="black"/>
                          </a:solidFill>
                          <a:effectLst/>
                          <a:uLnTx/>
                          <a:uFillTx/>
                          <a:latin typeface="+mn-lt"/>
                          <a:ea typeface="+mn-ea"/>
                          <a:cs typeface="+mn-cs"/>
                        </a:rPr>
                        <a:t>6. Final Model and Results</a:t>
                      </a:r>
                    </a:p>
                    <a:p>
                      <a:pPr marL="0" marR="0" lvl="0" indent="0" algn="l" defTabSz="1706910" rtl="0" eaLnBrk="1" fontAlgn="auto" latinLnBrk="0" hangingPunct="1">
                        <a:lnSpc>
                          <a:spcPct val="100000"/>
                        </a:lnSpc>
                        <a:spcBef>
                          <a:spcPts val="0"/>
                        </a:spcBef>
                        <a:spcAft>
                          <a:spcPts val="0"/>
                        </a:spcAft>
                        <a:buClrTx/>
                        <a:buSzTx/>
                        <a:buFontTx/>
                        <a:buNone/>
                        <a:tabLst/>
                        <a:defRPr/>
                      </a:pPr>
                      <a:r>
                        <a:rPr lang="en-GB" sz="1050" dirty="0">
                          <a:latin typeface="Times New Roman" panose="02020603050405020304" pitchFamily="18" charset="0"/>
                          <a:cs typeface="Times New Roman" panose="02020603050405020304" pitchFamily="18" charset="0"/>
                        </a:rPr>
                        <a:t>Gradient Boosting achieved the highest validation score for both F1 score and Classification Accuracy although Random Forest performed better with training data it achieved lower validation accuracy, pointing out that Random Forest is overfitting. For this reason, Gradient Boosting was chosen as the final model.  </a:t>
                      </a:r>
                      <a:endParaRPr kumimoji="0" lang="en-GB" sz="105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mn-lt"/>
                          <a:ea typeface="+mn-ea"/>
                          <a:cs typeface="+mn-cs"/>
                        </a:rPr>
                        <a:t>Below is the confusion metric of the Gradient Boosting model. </a:t>
                      </a: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r>
                        <a:rPr lang="en-GB" sz="1050" dirty="0"/>
                        <a:t>The confusion matrix tells us that we model correctly predicts most cases. We have 29 true negatives and 41 true positives which are correct predictions. We also have 7 errors for this model 2 are false positives and 5 false negatives. This means the model predicts that 5 areas which burned more than 4% did not burn which can be cause a safety risk. However, the model performs well with more correct prediction than incorrect predictions on unseen test data. </a:t>
                      </a: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mn-lt"/>
                        <a:ea typeface="+mn-ea"/>
                        <a:cs typeface="+mn-cs"/>
                      </a:endParaRPr>
                    </a:p>
                    <a:p>
                      <a:endParaRPr lang="en-GB" dirty="0"/>
                    </a:p>
                  </a:txBody>
                  <a:tcPr/>
                </a:tc>
                <a:tc>
                  <a:txBody>
                    <a:bodyPr/>
                    <a:lstStyle/>
                    <a:p>
                      <a:r>
                        <a:rPr lang="en-GB" sz="2000" dirty="0"/>
                        <a:t>7. Insight about data or models gained</a:t>
                      </a:r>
                      <a:endParaRPr lang="en-GB" sz="1200" dirty="0"/>
                    </a:p>
                    <a:p>
                      <a:endParaRPr lang="en-GB" sz="1200" dirty="0"/>
                    </a:p>
                    <a:p>
                      <a:r>
                        <a:rPr lang="en-GB" sz="1200" dirty="0"/>
                        <a:t>I learn that tree-based models like Random Forest , Decision Tree and Gradient Boosting outperformed linear models which shows that relationship between features is nonlinear. With ranking importance of features, it is shown that DC, Month, DMC, Y, and Temp are the five most important features. This means drought conditions, seasonal patterns and location are important indicators of fire. The model seems unbiased between the classes as the confusion matrix showed we had five false negatives and two positive negatives which does not suggest that this model favours one more than the other. </a:t>
                      </a:r>
                    </a:p>
                    <a:p>
                      <a:endParaRPr lang="en-GB" sz="1200" dirty="0"/>
                    </a:p>
                  </a:txBody>
                  <a:tcPr/>
                </a:tc>
                <a:extLst>
                  <a:ext uri="{0D108BD9-81ED-4DB2-BD59-A6C34878D82A}">
                    <a16:rowId xmlns:a16="http://schemas.microsoft.com/office/drawing/2014/main" val="3680923459"/>
                  </a:ext>
                </a:extLst>
              </a:tr>
              <a:tr h="2140262">
                <a:tc vMerge="1">
                  <a:txBody>
                    <a:bodyPr/>
                    <a:lstStyle/>
                    <a:p>
                      <a:endParaRPr lang="en-GB" dirty="0"/>
                    </a:p>
                  </a:txBody>
                  <a:tcPr/>
                </a:tc>
                <a:tc>
                  <a:txBody>
                    <a:bodyPr/>
                    <a:lstStyle/>
                    <a:p>
                      <a:pPr lvl="0">
                        <a:buNone/>
                      </a:pPr>
                      <a:endParaRPr lang="en-GB" sz="1200" dirty="0"/>
                    </a:p>
                  </a:txBody>
                  <a:tcPr/>
                </a:tc>
                <a:extLst>
                  <a:ext uri="{0D108BD9-81ED-4DB2-BD59-A6C34878D82A}">
                    <a16:rowId xmlns:a16="http://schemas.microsoft.com/office/drawing/2014/main" val="2549638520"/>
                  </a:ext>
                </a:extLst>
              </a:tr>
            </a:tbl>
          </a:graphicData>
        </a:graphic>
      </p:graphicFrame>
      <p:sp>
        <p:nvSpPr>
          <p:cNvPr id="6" name="TextBox 5">
            <a:extLst>
              <a:ext uri="{FF2B5EF4-FFF2-40B4-BE49-F238E27FC236}">
                <a16:creationId xmlns:a16="http://schemas.microsoft.com/office/drawing/2014/main" id="{8AF6D823-6DA6-9959-0DCB-CCA6AD2DD76E}"/>
              </a:ext>
            </a:extLst>
          </p:cNvPr>
          <p:cNvSpPr txBox="1"/>
          <p:nvPr/>
        </p:nvSpPr>
        <p:spPr>
          <a:xfrm>
            <a:off x="4939741" y="10673247"/>
            <a:ext cx="3637442" cy="807913"/>
          </a:xfrm>
          <a:prstGeom prst="rect">
            <a:avLst/>
          </a:prstGeom>
          <a:noFill/>
        </p:spPr>
        <p:txBody>
          <a:bodyPr wrap="square" lIns="91440" tIns="45720" rIns="91440" bIns="45720" rtlCol="0" anchor="t">
            <a:spAutoFit/>
          </a:bodyPr>
          <a:lstStyle/>
          <a:p>
            <a:r>
              <a:rPr lang="en-GB" dirty="0"/>
              <a:t>8. References</a:t>
            </a:r>
          </a:p>
          <a:p>
            <a:r>
              <a:rPr lang="en-GB" sz="1050" b="0" i="0" dirty="0">
                <a:solidFill>
                  <a:srgbClr val="202122"/>
                </a:solidFill>
                <a:effectLst/>
                <a:latin typeface="Arial"/>
                <a:cs typeface="Arial"/>
              </a:rPr>
              <a:t>[1] If you reference any papers or websites, list them here</a:t>
            </a:r>
            <a:endParaRPr lang="en-GB" sz="1200" dirty="0">
              <a:latin typeface="Calibri" panose="020F0502020204030204"/>
              <a:ea typeface="Calibri" panose="020F0502020204030204"/>
              <a:cs typeface="Calibri" panose="020F0502020204030204"/>
            </a:endParaRPr>
          </a:p>
          <a:p>
            <a:endParaRPr lang="en-GB" dirty="0"/>
          </a:p>
        </p:txBody>
      </p:sp>
      <p:graphicFrame>
        <p:nvGraphicFramePr>
          <p:cNvPr id="7" name="Table 7">
            <a:extLst>
              <a:ext uri="{FF2B5EF4-FFF2-40B4-BE49-F238E27FC236}">
                <a16:creationId xmlns:a16="http://schemas.microsoft.com/office/drawing/2014/main" id="{FBE95B7C-B010-6D30-1BB3-D0BB1817071D}"/>
              </a:ext>
            </a:extLst>
          </p:cNvPr>
          <p:cNvGraphicFramePr>
            <a:graphicFrameLocks noGrp="1"/>
          </p:cNvGraphicFramePr>
          <p:nvPr>
            <p:extLst>
              <p:ext uri="{D42A27DB-BD31-4B8C-83A1-F6EECF244321}">
                <p14:modId xmlns:p14="http://schemas.microsoft.com/office/powerpoint/2010/main" val="539695108"/>
              </p:ext>
            </p:extLst>
          </p:nvPr>
        </p:nvGraphicFramePr>
        <p:xfrm>
          <a:off x="212539" y="5740076"/>
          <a:ext cx="4588061" cy="2502075"/>
        </p:xfrm>
        <a:graphic>
          <a:graphicData uri="http://schemas.openxmlformats.org/drawingml/2006/table">
            <a:tbl>
              <a:tblPr firstRow="1" bandRow="1">
                <a:tableStyleId>{5C22544A-7EE6-4342-B048-85BDC9FD1C3A}</a:tableStyleId>
              </a:tblPr>
              <a:tblGrid>
                <a:gridCol w="1529354">
                  <a:extLst>
                    <a:ext uri="{9D8B030D-6E8A-4147-A177-3AD203B41FA5}">
                      <a16:colId xmlns:a16="http://schemas.microsoft.com/office/drawing/2014/main" val="1907166431"/>
                    </a:ext>
                  </a:extLst>
                </a:gridCol>
                <a:gridCol w="1926620">
                  <a:extLst>
                    <a:ext uri="{9D8B030D-6E8A-4147-A177-3AD203B41FA5}">
                      <a16:colId xmlns:a16="http://schemas.microsoft.com/office/drawing/2014/main" val="3484362391"/>
                    </a:ext>
                  </a:extLst>
                </a:gridCol>
                <a:gridCol w="1132087">
                  <a:extLst>
                    <a:ext uri="{9D8B030D-6E8A-4147-A177-3AD203B41FA5}">
                      <a16:colId xmlns:a16="http://schemas.microsoft.com/office/drawing/2014/main" val="326053815"/>
                    </a:ext>
                  </a:extLst>
                </a:gridCol>
              </a:tblGrid>
              <a:tr h="207370">
                <a:tc>
                  <a:txBody>
                    <a:bodyPr/>
                    <a:lstStyle/>
                    <a:p>
                      <a:r>
                        <a:rPr lang="en-GB" sz="800" b="0" dirty="0">
                          <a:latin typeface="Times New Roman" panose="02020603050405020304" pitchFamily="18" charset="0"/>
                          <a:cs typeface="Times New Roman" panose="02020603050405020304" pitchFamily="18" charset="0"/>
                        </a:rPr>
                        <a:t>Model</a:t>
                      </a:r>
                    </a:p>
                  </a:txBody>
                  <a:tcPr/>
                </a:tc>
                <a:tc>
                  <a:txBody>
                    <a:bodyPr/>
                    <a:lstStyle/>
                    <a:p>
                      <a:r>
                        <a:rPr lang="en-GB" sz="800" b="0" dirty="0">
                          <a:latin typeface="Times New Roman" panose="02020603050405020304" pitchFamily="18" charset="0"/>
                          <a:cs typeface="Times New Roman" panose="02020603050405020304" pitchFamily="18" charset="0"/>
                        </a:rPr>
                        <a:t>Hyper Parameters</a:t>
                      </a:r>
                    </a:p>
                  </a:txBody>
                  <a:tcPr/>
                </a:tc>
                <a:tc>
                  <a:txBody>
                    <a:bodyPr/>
                    <a:lstStyle/>
                    <a:p>
                      <a:r>
                        <a:rPr lang="en-GB" sz="800" b="0" dirty="0">
                          <a:latin typeface="Times New Roman" panose="02020603050405020304" pitchFamily="18" charset="0"/>
                          <a:cs typeface="Times New Roman" panose="02020603050405020304" pitchFamily="18" charset="0"/>
                        </a:rPr>
                        <a:t>Validation Metric</a:t>
                      </a:r>
                    </a:p>
                  </a:txBody>
                  <a:tcPr/>
                </a:tc>
                <a:extLst>
                  <a:ext uri="{0D108BD9-81ED-4DB2-BD59-A6C34878D82A}">
                    <a16:rowId xmlns:a16="http://schemas.microsoft.com/office/drawing/2014/main" val="3158663126"/>
                  </a:ext>
                </a:extLst>
              </a:tr>
              <a:tr h="335749">
                <a:tc>
                  <a:txBody>
                    <a:bodyPr/>
                    <a:lstStyle/>
                    <a:p>
                      <a:r>
                        <a:rPr lang="en-US" sz="800" b="0" dirty="0">
                          <a:latin typeface="Times New Roman" panose="02020603050405020304" pitchFamily="18" charset="0"/>
                          <a:cs typeface="Times New Roman" panose="02020603050405020304" pitchFamily="18" charset="0"/>
                        </a:rPr>
                        <a:t>Random Forest</a:t>
                      </a:r>
                      <a:endParaRPr lang="en-GB" sz="800" b="0" dirty="0">
                        <a:latin typeface="Times New Roman" panose="02020603050405020304" pitchFamily="18" charset="0"/>
                        <a:cs typeface="Times New Roman" panose="02020603050405020304" pitchFamily="18" charset="0"/>
                      </a:endParaRPr>
                    </a:p>
                  </a:txBody>
                  <a:tcPr/>
                </a:tc>
                <a:tc>
                  <a:txBody>
                    <a:bodyPr/>
                    <a:lstStyle/>
                    <a:p>
                      <a:r>
                        <a:rPr lang="en-GB" sz="800" b="0" dirty="0">
                          <a:latin typeface="Times New Roman" panose="02020603050405020304" pitchFamily="18" charset="0"/>
                          <a:cs typeface="Times New Roman" panose="02020603050405020304" pitchFamily="18" charset="0"/>
                        </a:rPr>
                        <a:t>150 trees, attributes at each split 5, Do not split subsets smaller than 5</a:t>
                      </a:r>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800" b="0" dirty="0">
                          <a:latin typeface="Times New Roman" panose="02020603050405020304" pitchFamily="18" charset="0"/>
                          <a:cs typeface="Times New Roman" panose="02020603050405020304" pitchFamily="18" charset="0"/>
                        </a:rPr>
                        <a:t>CA: 0.909, F1: 0.909</a:t>
                      </a:r>
                    </a:p>
                    <a:p>
                      <a:endParaRPr lang="en-GB" sz="800" b="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91472538"/>
                  </a:ext>
                </a:extLst>
              </a:tr>
              <a:tr h="444364">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800" b="0" dirty="0">
                          <a:latin typeface="Times New Roman" panose="02020603050405020304" pitchFamily="18" charset="0"/>
                          <a:cs typeface="Times New Roman" panose="02020603050405020304" pitchFamily="18" charset="0"/>
                        </a:rPr>
                        <a:t>Gradient Boosting </a:t>
                      </a:r>
                    </a:p>
                  </a:txBody>
                  <a:tcPr/>
                </a:tc>
                <a:tc>
                  <a:txBody>
                    <a:bodyPr/>
                    <a:lstStyle/>
                    <a:p>
                      <a:r>
                        <a:rPr lang="en-GB" sz="800" b="0" dirty="0">
                          <a:latin typeface="Times New Roman" panose="02020603050405020304" pitchFamily="18" charset="0"/>
                          <a:cs typeface="Times New Roman" panose="02020603050405020304" pitchFamily="18" charset="0"/>
                        </a:rPr>
                        <a:t>150 trees, 0.1 learning rate, depth limit 3, subsampling 1.00, Do not split subsets smaller than 2</a:t>
                      </a:r>
                    </a:p>
                  </a:txBody>
                  <a:tcPr/>
                </a:tc>
                <a:tc>
                  <a:txBody>
                    <a:bodyPr/>
                    <a:lstStyle/>
                    <a:p>
                      <a:r>
                        <a:rPr lang="en-GB" sz="800" b="0" dirty="0">
                          <a:latin typeface="Times New Roman" panose="02020603050405020304" pitchFamily="18" charset="0"/>
                          <a:cs typeface="Times New Roman" panose="02020603050405020304" pitchFamily="18" charset="0"/>
                        </a:rPr>
                        <a:t>CA: 0.922, F1: 0.922</a:t>
                      </a:r>
                    </a:p>
                  </a:txBody>
                  <a:tcPr/>
                </a:tc>
                <a:extLst>
                  <a:ext uri="{0D108BD9-81ED-4DB2-BD59-A6C34878D82A}">
                    <a16:rowId xmlns:a16="http://schemas.microsoft.com/office/drawing/2014/main" val="3680307176"/>
                  </a:ext>
                </a:extLst>
              </a:tr>
              <a:tr h="444364">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800" b="0" dirty="0">
                          <a:latin typeface="Times New Roman" panose="02020603050405020304" pitchFamily="18" charset="0"/>
                          <a:cs typeface="Times New Roman" panose="02020603050405020304" pitchFamily="18" charset="0"/>
                        </a:rPr>
                        <a:t>Tree</a:t>
                      </a:r>
                    </a:p>
                  </a:txBody>
                  <a:tcPr/>
                </a:tc>
                <a:tc>
                  <a:txBody>
                    <a:bodyPr/>
                    <a:lstStyle/>
                    <a:p>
                      <a:r>
                        <a:rPr lang="en-GB" sz="800" b="0" dirty="0">
                          <a:latin typeface="Times New Roman" panose="02020603050405020304" pitchFamily="18" charset="0"/>
                          <a:cs typeface="Times New Roman" panose="02020603050405020304" pitchFamily="18" charset="0"/>
                        </a:rPr>
                        <a:t>Do not split subsets smaller than 5, Maximum tree depth 10, Stop when class majority reaches 95%, </a:t>
                      </a:r>
                      <a:r>
                        <a:rPr lang="en-GB" sz="800" dirty="0">
                          <a:latin typeface="Times New Roman" panose="02020603050405020304" pitchFamily="18" charset="0"/>
                          <a:cs typeface="Times New Roman" panose="02020603050405020304" pitchFamily="18" charset="0"/>
                        </a:rPr>
                        <a:t>Min leaves 2</a:t>
                      </a:r>
                      <a:endParaRPr lang="en-GB" sz="800" b="0" dirty="0">
                        <a:latin typeface="Times New Roman" panose="02020603050405020304" pitchFamily="18" charset="0"/>
                        <a:cs typeface="Times New Roman" panose="02020603050405020304" pitchFamily="18" charset="0"/>
                      </a:endParaRPr>
                    </a:p>
                  </a:txBody>
                  <a:tcPr/>
                </a:tc>
                <a:tc>
                  <a:txBody>
                    <a:bodyPr/>
                    <a:lstStyle/>
                    <a:p>
                      <a:r>
                        <a:rPr lang="en-GB" sz="800" b="0" dirty="0">
                          <a:latin typeface="Times New Roman" panose="02020603050405020304" pitchFamily="18" charset="0"/>
                          <a:cs typeface="Times New Roman" panose="02020603050405020304" pitchFamily="18" charset="0"/>
                        </a:rPr>
                        <a:t>CA: 0.896, F1: 0.896</a:t>
                      </a:r>
                    </a:p>
                  </a:txBody>
                  <a:tcPr/>
                </a:tc>
                <a:extLst>
                  <a:ext uri="{0D108BD9-81ED-4DB2-BD59-A6C34878D82A}">
                    <a16:rowId xmlns:a16="http://schemas.microsoft.com/office/drawing/2014/main" val="1144539082"/>
                  </a:ext>
                </a:extLst>
              </a:tr>
              <a:tr h="421508">
                <a:tc>
                  <a:txBody>
                    <a:bodyPr/>
                    <a:lstStyle/>
                    <a:p>
                      <a:r>
                        <a:rPr lang="en-US" sz="800" b="0" dirty="0">
                          <a:latin typeface="Times New Roman" panose="02020603050405020304" pitchFamily="18" charset="0"/>
                          <a:cs typeface="Times New Roman" panose="02020603050405020304" pitchFamily="18" charset="0"/>
                        </a:rPr>
                        <a:t>Neural Networks</a:t>
                      </a:r>
                      <a:endParaRPr lang="en-GB" sz="800" b="0" dirty="0">
                        <a:latin typeface="Times New Roman" panose="02020603050405020304" pitchFamily="18" charset="0"/>
                        <a:cs typeface="Times New Roman" panose="02020603050405020304" pitchFamily="18" charset="0"/>
                      </a:endParaRPr>
                    </a:p>
                  </a:txBody>
                  <a:tcPr/>
                </a:tc>
                <a:tc>
                  <a:txBody>
                    <a:bodyPr/>
                    <a:lstStyle/>
                    <a:p>
                      <a:r>
                        <a:rPr lang="en-GB" sz="800" b="0" dirty="0">
                          <a:latin typeface="Times New Roman" panose="02020603050405020304" pitchFamily="18" charset="0"/>
                          <a:cs typeface="Times New Roman" panose="02020603050405020304" pitchFamily="18" charset="0"/>
                        </a:rPr>
                        <a:t>Hidden layers: 5, 10. Activation: </a:t>
                      </a:r>
                      <a:r>
                        <a:rPr lang="en-GB" sz="800" b="0" dirty="0" err="1">
                          <a:latin typeface="Times New Roman" panose="02020603050405020304" pitchFamily="18" charset="0"/>
                          <a:cs typeface="Times New Roman" panose="02020603050405020304" pitchFamily="18" charset="0"/>
                        </a:rPr>
                        <a:t>ReLU</a:t>
                      </a:r>
                      <a:r>
                        <a:rPr lang="en-GB" sz="800" b="0" dirty="0">
                          <a:latin typeface="Times New Roman" panose="02020603050405020304" pitchFamily="18" charset="0"/>
                          <a:cs typeface="Times New Roman" panose="02020603050405020304" pitchFamily="18" charset="0"/>
                        </a:rPr>
                        <a:t> Solver Adam, Regularisation: 0.01 Iterations: 200</a:t>
                      </a:r>
                    </a:p>
                  </a:txBody>
                  <a:tcPr/>
                </a:tc>
                <a:tc>
                  <a:txBody>
                    <a:bodyPr/>
                    <a:lstStyle/>
                    <a:p>
                      <a:r>
                        <a:rPr lang="en-GB" sz="800" b="0" dirty="0">
                          <a:latin typeface="Times New Roman" panose="02020603050405020304" pitchFamily="18" charset="0"/>
                          <a:cs typeface="Times New Roman" panose="02020603050405020304" pitchFamily="18" charset="0"/>
                        </a:rPr>
                        <a:t>CA: 0.727, F1: 0.719</a:t>
                      </a:r>
                    </a:p>
                  </a:txBody>
                  <a:tcPr/>
                </a:tc>
                <a:extLst>
                  <a:ext uri="{0D108BD9-81ED-4DB2-BD59-A6C34878D82A}">
                    <a16:rowId xmlns:a16="http://schemas.microsoft.com/office/drawing/2014/main" val="3656706315"/>
                  </a:ext>
                </a:extLst>
              </a:tr>
              <a:tr h="246086">
                <a:tc>
                  <a:txBody>
                    <a:bodyPr/>
                    <a:lstStyle/>
                    <a:p>
                      <a:r>
                        <a:rPr lang="en-GB" sz="800" b="0" dirty="0">
                          <a:latin typeface="Times New Roman" panose="02020603050405020304" pitchFamily="18" charset="0"/>
                          <a:cs typeface="Times New Roman" panose="02020603050405020304" pitchFamily="18" charset="0"/>
                        </a:rPr>
                        <a:t>Logistic Regression </a:t>
                      </a:r>
                    </a:p>
                  </a:txBody>
                  <a:tcPr/>
                </a:tc>
                <a:tc>
                  <a:txBody>
                    <a:bodyPr/>
                    <a:lstStyle/>
                    <a:p>
                      <a:r>
                        <a:rPr lang="en-GB" sz="800" b="0" dirty="0">
                          <a:latin typeface="Times New Roman" panose="02020603050405020304" pitchFamily="18" charset="0"/>
                          <a:cs typeface="Times New Roman" panose="02020603050405020304" pitchFamily="18" charset="0"/>
                        </a:rPr>
                        <a:t>Regularisation: L2 (Ridge)strength C = 10</a:t>
                      </a:r>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800" b="0" dirty="0">
                          <a:latin typeface="Times New Roman" panose="02020603050405020304" pitchFamily="18" charset="0"/>
                          <a:cs typeface="Times New Roman" panose="02020603050405020304" pitchFamily="18" charset="0"/>
                        </a:rPr>
                        <a:t>CA: 0.740, F1: 0.738</a:t>
                      </a:r>
                    </a:p>
                  </a:txBody>
                  <a:tcPr/>
                </a:tc>
                <a:extLst>
                  <a:ext uri="{0D108BD9-81ED-4DB2-BD59-A6C34878D82A}">
                    <a16:rowId xmlns:a16="http://schemas.microsoft.com/office/drawing/2014/main" val="3941308124"/>
                  </a:ext>
                </a:extLst>
              </a:tr>
              <a:tr h="325867">
                <a:tc>
                  <a:txBody>
                    <a:bodyPr/>
                    <a:lstStyle/>
                    <a:p>
                      <a:r>
                        <a:rPr lang="en-GB" sz="800" b="0" dirty="0">
                          <a:latin typeface="Times New Roman" panose="02020603050405020304" pitchFamily="18" charset="0"/>
                          <a:cs typeface="Times New Roman" panose="02020603050405020304" pitchFamily="18" charset="0"/>
                        </a:rPr>
                        <a:t>KNN </a:t>
                      </a:r>
                    </a:p>
                  </a:txBody>
                  <a:tcPr/>
                </a:tc>
                <a:tc>
                  <a:txBody>
                    <a:bodyPr/>
                    <a:lstStyle/>
                    <a:p>
                      <a:r>
                        <a:rPr lang="en-GB" sz="800" b="0" dirty="0">
                          <a:latin typeface="Times New Roman" panose="02020603050405020304" pitchFamily="18" charset="0"/>
                          <a:cs typeface="Times New Roman" panose="02020603050405020304" pitchFamily="18" charset="0"/>
                        </a:rPr>
                        <a:t>5 neighbours, metric: Euclidean, Weight: Uniform</a:t>
                      </a:r>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800" b="0" dirty="0">
                          <a:latin typeface="Times New Roman" panose="02020603050405020304" pitchFamily="18" charset="0"/>
                          <a:cs typeface="Times New Roman" panose="02020603050405020304" pitchFamily="18" charset="0"/>
                        </a:rPr>
                        <a:t>CA: 0.831, F1: 0.832</a:t>
                      </a:r>
                    </a:p>
                  </a:txBody>
                  <a:tcPr/>
                </a:tc>
                <a:extLst>
                  <a:ext uri="{0D108BD9-81ED-4DB2-BD59-A6C34878D82A}">
                    <a16:rowId xmlns:a16="http://schemas.microsoft.com/office/drawing/2014/main" val="3014681235"/>
                  </a:ext>
                </a:extLst>
              </a:tr>
            </a:tbl>
          </a:graphicData>
        </a:graphic>
      </p:graphicFrame>
      <p:graphicFrame>
        <p:nvGraphicFramePr>
          <p:cNvPr id="2" name="Table 2">
            <a:extLst>
              <a:ext uri="{FF2B5EF4-FFF2-40B4-BE49-F238E27FC236}">
                <a16:creationId xmlns:a16="http://schemas.microsoft.com/office/drawing/2014/main" id="{50697821-56EE-B522-2650-CAC52B000E80}"/>
              </a:ext>
            </a:extLst>
          </p:cNvPr>
          <p:cNvGraphicFramePr>
            <a:graphicFrameLocks noGrp="1"/>
          </p:cNvGraphicFramePr>
          <p:nvPr>
            <p:extLst>
              <p:ext uri="{D42A27DB-BD31-4B8C-83A1-F6EECF244321}">
                <p14:modId xmlns:p14="http://schemas.microsoft.com/office/powerpoint/2010/main" val="2779454812"/>
              </p:ext>
            </p:extLst>
          </p:nvPr>
        </p:nvGraphicFramePr>
        <p:xfrm>
          <a:off x="276049" y="9724961"/>
          <a:ext cx="4168836" cy="1155753"/>
        </p:xfrm>
        <a:graphic>
          <a:graphicData uri="http://schemas.openxmlformats.org/drawingml/2006/table">
            <a:tbl>
              <a:tblPr firstRow="1" bandRow="1">
                <a:tableStyleId>{5C22544A-7EE6-4342-B048-85BDC9FD1C3A}</a:tableStyleId>
              </a:tblPr>
              <a:tblGrid>
                <a:gridCol w="1383304">
                  <a:extLst>
                    <a:ext uri="{9D8B030D-6E8A-4147-A177-3AD203B41FA5}">
                      <a16:colId xmlns:a16="http://schemas.microsoft.com/office/drawing/2014/main" val="3385219870"/>
                    </a:ext>
                  </a:extLst>
                </a:gridCol>
                <a:gridCol w="1392766">
                  <a:extLst>
                    <a:ext uri="{9D8B030D-6E8A-4147-A177-3AD203B41FA5}">
                      <a16:colId xmlns:a16="http://schemas.microsoft.com/office/drawing/2014/main" val="2134976436"/>
                    </a:ext>
                  </a:extLst>
                </a:gridCol>
                <a:gridCol w="1392766">
                  <a:extLst>
                    <a:ext uri="{9D8B030D-6E8A-4147-A177-3AD203B41FA5}">
                      <a16:colId xmlns:a16="http://schemas.microsoft.com/office/drawing/2014/main" val="629384850"/>
                    </a:ext>
                  </a:extLst>
                </a:gridCol>
              </a:tblGrid>
              <a:tr h="385251">
                <a:tc>
                  <a:txBody>
                    <a:bodyPr/>
                    <a:lstStyle/>
                    <a:p>
                      <a:r>
                        <a:rPr lang="en-GB" sz="1200" dirty="0"/>
                        <a:t>Actual / Predicted</a:t>
                      </a:r>
                    </a:p>
                  </a:txBody>
                  <a:tcPr/>
                </a:tc>
                <a:tc>
                  <a:txBody>
                    <a:bodyPr/>
                    <a:lstStyle/>
                    <a:p>
                      <a:r>
                        <a:rPr lang="en-GB" sz="1200" dirty="0"/>
                        <a:t>False</a:t>
                      </a:r>
                    </a:p>
                  </a:txBody>
                  <a:tcPr/>
                </a:tc>
                <a:tc>
                  <a:txBody>
                    <a:bodyPr/>
                    <a:lstStyle/>
                    <a:p>
                      <a:r>
                        <a:rPr lang="en-GB" sz="1200" dirty="0"/>
                        <a:t>True</a:t>
                      </a:r>
                    </a:p>
                  </a:txBody>
                  <a:tcPr/>
                </a:tc>
                <a:extLst>
                  <a:ext uri="{0D108BD9-81ED-4DB2-BD59-A6C34878D82A}">
                    <a16:rowId xmlns:a16="http://schemas.microsoft.com/office/drawing/2014/main" val="2126179801"/>
                  </a:ext>
                </a:extLst>
              </a:tr>
              <a:tr h="385251">
                <a:tc>
                  <a:txBody>
                    <a:bodyPr/>
                    <a:lstStyle/>
                    <a:p>
                      <a:r>
                        <a:rPr lang="en-GB" sz="1200" dirty="0"/>
                        <a:t>False</a:t>
                      </a:r>
                    </a:p>
                  </a:txBody>
                  <a:tcPr/>
                </a:tc>
                <a:tc>
                  <a:txBody>
                    <a:bodyPr/>
                    <a:lstStyle/>
                    <a:p>
                      <a:r>
                        <a:rPr lang="en-GB" sz="1200" dirty="0"/>
                        <a:t>29</a:t>
                      </a:r>
                    </a:p>
                  </a:txBody>
                  <a:tcPr/>
                </a:tc>
                <a:tc>
                  <a:txBody>
                    <a:bodyPr/>
                    <a:lstStyle/>
                    <a:p>
                      <a:r>
                        <a:rPr lang="en-GB" sz="1200" dirty="0"/>
                        <a:t>2</a:t>
                      </a:r>
                    </a:p>
                  </a:txBody>
                  <a:tcPr/>
                </a:tc>
                <a:extLst>
                  <a:ext uri="{0D108BD9-81ED-4DB2-BD59-A6C34878D82A}">
                    <a16:rowId xmlns:a16="http://schemas.microsoft.com/office/drawing/2014/main" val="1186692526"/>
                  </a:ext>
                </a:extLst>
              </a:tr>
              <a:tr h="385251">
                <a:tc>
                  <a:txBody>
                    <a:bodyPr/>
                    <a:lstStyle/>
                    <a:p>
                      <a:r>
                        <a:rPr lang="en-GB" sz="1200" dirty="0"/>
                        <a:t>True</a:t>
                      </a:r>
                    </a:p>
                  </a:txBody>
                  <a:tcPr/>
                </a:tc>
                <a:tc>
                  <a:txBody>
                    <a:bodyPr/>
                    <a:lstStyle/>
                    <a:p>
                      <a:r>
                        <a:rPr lang="en-GB" sz="1200" dirty="0"/>
                        <a:t>5</a:t>
                      </a:r>
                    </a:p>
                  </a:txBody>
                  <a:tcPr/>
                </a:tc>
                <a:tc>
                  <a:txBody>
                    <a:bodyPr/>
                    <a:lstStyle/>
                    <a:p>
                      <a:r>
                        <a:rPr lang="en-GB" sz="1200" dirty="0"/>
                        <a:t>41</a:t>
                      </a:r>
                    </a:p>
                  </a:txBody>
                  <a:tcPr/>
                </a:tc>
                <a:extLst>
                  <a:ext uri="{0D108BD9-81ED-4DB2-BD59-A6C34878D82A}">
                    <a16:rowId xmlns:a16="http://schemas.microsoft.com/office/drawing/2014/main" val="788774926"/>
                  </a:ext>
                </a:extLst>
              </a:tr>
            </a:tbl>
          </a:graphicData>
        </a:graphic>
      </p:graphicFrame>
      <p:graphicFrame>
        <p:nvGraphicFramePr>
          <p:cNvPr id="5" name="Table 9">
            <a:extLst>
              <a:ext uri="{FF2B5EF4-FFF2-40B4-BE49-F238E27FC236}">
                <a16:creationId xmlns:a16="http://schemas.microsoft.com/office/drawing/2014/main" id="{D4D093B8-47C2-E43F-6BF0-1D763DE45341}"/>
              </a:ext>
            </a:extLst>
          </p:cNvPr>
          <p:cNvGraphicFramePr>
            <a:graphicFrameLocks noGrp="1"/>
          </p:cNvGraphicFramePr>
          <p:nvPr>
            <p:extLst>
              <p:ext uri="{D42A27DB-BD31-4B8C-83A1-F6EECF244321}">
                <p14:modId xmlns:p14="http://schemas.microsoft.com/office/powerpoint/2010/main" val="3735690057"/>
              </p:ext>
            </p:extLst>
          </p:nvPr>
        </p:nvGraphicFramePr>
        <p:xfrm>
          <a:off x="4830295" y="960063"/>
          <a:ext cx="4617758" cy="4637427"/>
        </p:xfrm>
        <a:graphic>
          <a:graphicData uri="http://schemas.openxmlformats.org/drawingml/2006/table">
            <a:tbl>
              <a:tblPr firstRow="1" bandRow="1">
                <a:tableStyleId>{5C22544A-7EE6-4342-B048-85BDC9FD1C3A}</a:tableStyleId>
              </a:tblPr>
              <a:tblGrid>
                <a:gridCol w="461123">
                  <a:extLst>
                    <a:ext uri="{9D8B030D-6E8A-4147-A177-3AD203B41FA5}">
                      <a16:colId xmlns:a16="http://schemas.microsoft.com/office/drawing/2014/main" val="1922141735"/>
                    </a:ext>
                  </a:extLst>
                </a:gridCol>
                <a:gridCol w="685800">
                  <a:extLst>
                    <a:ext uri="{9D8B030D-6E8A-4147-A177-3AD203B41FA5}">
                      <a16:colId xmlns:a16="http://schemas.microsoft.com/office/drawing/2014/main" val="2956065983"/>
                    </a:ext>
                  </a:extLst>
                </a:gridCol>
                <a:gridCol w="524436">
                  <a:extLst>
                    <a:ext uri="{9D8B030D-6E8A-4147-A177-3AD203B41FA5}">
                      <a16:colId xmlns:a16="http://schemas.microsoft.com/office/drawing/2014/main" val="1545408251"/>
                    </a:ext>
                  </a:extLst>
                </a:gridCol>
                <a:gridCol w="2946399">
                  <a:extLst>
                    <a:ext uri="{9D8B030D-6E8A-4147-A177-3AD203B41FA5}">
                      <a16:colId xmlns:a16="http://schemas.microsoft.com/office/drawing/2014/main" val="2530128174"/>
                    </a:ext>
                  </a:extLst>
                </a:gridCol>
              </a:tblGrid>
              <a:tr h="340078">
                <a:tc>
                  <a:txBody>
                    <a:bodyPr/>
                    <a:lstStyle/>
                    <a:p>
                      <a:r>
                        <a:rPr lang="en-US" sz="800" dirty="0">
                          <a:latin typeface="Times New Roman" panose="02020603050405020304" pitchFamily="18" charset="0"/>
                          <a:cs typeface="Times New Roman" panose="02020603050405020304" pitchFamily="18" charset="0"/>
                        </a:rPr>
                        <a:t>Variable</a:t>
                      </a:r>
                      <a:endParaRPr lang="en-GB" sz="800" dirty="0">
                        <a:latin typeface="Times New Roman" panose="02020603050405020304" pitchFamily="18" charset="0"/>
                        <a:cs typeface="Times New Roman" panose="02020603050405020304" pitchFamily="18" charset="0"/>
                      </a:endParaRPr>
                    </a:p>
                  </a:txBody>
                  <a:tcPr/>
                </a:tc>
                <a:tc>
                  <a:txBody>
                    <a:bodyPr/>
                    <a:lstStyle/>
                    <a:p>
                      <a:r>
                        <a:rPr lang="en-US" sz="800" dirty="0">
                          <a:latin typeface="Times New Roman" panose="02020603050405020304" pitchFamily="18" charset="0"/>
                          <a:cs typeface="Times New Roman" panose="02020603050405020304" pitchFamily="18" charset="0"/>
                        </a:rPr>
                        <a:t>Type</a:t>
                      </a:r>
                      <a:endParaRPr lang="en-GB" sz="800" dirty="0">
                        <a:latin typeface="Times New Roman" panose="02020603050405020304" pitchFamily="18" charset="0"/>
                        <a:cs typeface="Times New Roman" panose="02020603050405020304" pitchFamily="18" charset="0"/>
                      </a:endParaRPr>
                    </a:p>
                  </a:txBody>
                  <a:tcPr/>
                </a:tc>
                <a:tc>
                  <a:txBody>
                    <a:bodyPr/>
                    <a:lstStyle/>
                    <a:p>
                      <a:r>
                        <a:rPr lang="en-GB" sz="600" b="1" dirty="0">
                          <a:latin typeface="Times New Roman" panose="02020603050405020304" pitchFamily="18" charset="0"/>
                          <a:cs typeface="Times New Roman" panose="02020603050405020304" pitchFamily="18" charset="0"/>
                        </a:rPr>
                        <a:t>Used</a:t>
                      </a:r>
                      <a:r>
                        <a:rPr lang="en-GB" sz="800" dirty="0">
                          <a:latin typeface="Times New Roman" panose="02020603050405020304" pitchFamily="18" charset="0"/>
                          <a:cs typeface="Times New Roman" panose="02020603050405020304" pitchFamily="18" charset="0"/>
                        </a:rPr>
                        <a:t> </a:t>
                      </a:r>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800" dirty="0">
                          <a:latin typeface="Times New Roman" panose="02020603050405020304" pitchFamily="18" charset="0"/>
                          <a:cs typeface="Times New Roman" panose="02020603050405020304" pitchFamily="18" charset="0"/>
                        </a:rPr>
                        <a:t>Impact</a:t>
                      </a:r>
                    </a:p>
                    <a:p>
                      <a:endParaRPr lang="en-GB" sz="8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2821401175"/>
                  </a:ext>
                </a:extLst>
              </a:tr>
              <a:tr h="340078">
                <a:tc>
                  <a:txBody>
                    <a:bodyPr/>
                    <a:lstStyle/>
                    <a:p>
                      <a:r>
                        <a:rPr lang="en-US" sz="800" dirty="0">
                          <a:latin typeface="Times New Roman" panose="02020603050405020304" pitchFamily="18" charset="0"/>
                          <a:cs typeface="Times New Roman" panose="02020603050405020304" pitchFamily="18" charset="0"/>
                        </a:rPr>
                        <a:t>X</a:t>
                      </a:r>
                      <a:endParaRPr lang="en-GB" sz="800" dirty="0">
                        <a:latin typeface="Times New Roman" panose="02020603050405020304" pitchFamily="18" charset="0"/>
                        <a:cs typeface="Times New Roman" panose="02020603050405020304" pitchFamily="18" charset="0"/>
                      </a:endParaRPr>
                    </a:p>
                  </a:txBody>
                  <a:tcPr/>
                </a:tc>
                <a:tc>
                  <a:txBody>
                    <a:bodyPr/>
                    <a:lstStyle/>
                    <a:p>
                      <a:r>
                        <a:rPr lang="en-US" sz="800" dirty="0">
                          <a:latin typeface="Times New Roman" panose="02020603050405020304" pitchFamily="18" charset="0"/>
                          <a:cs typeface="Times New Roman" panose="02020603050405020304" pitchFamily="18" charset="0"/>
                        </a:rPr>
                        <a:t>Categorical</a:t>
                      </a:r>
                      <a:endParaRPr lang="en-GB" sz="800" dirty="0">
                        <a:latin typeface="Times New Roman" panose="02020603050405020304" pitchFamily="18" charset="0"/>
                        <a:cs typeface="Times New Roman" panose="02020603050405020304" pitchFamily="18" charset="0"/>
                      </a:endParaRPr>
                    </a:p>
                  </a:txBody>
                  <a:tcPr/>
                </a:tc>
                <a:tc>
                  <a:txBody>
                    <a:bodyPr/>
                    <a:lstStyle/>
                    <a:p>
                      <a:r>
                        <a:rPr lang="en-GB" sz="800" dirty="0">
                          <a:latin typeface="Times New Roman" panose="02020603050405020304" pitchFamily="18" charset="0"/>
                          <a:cs typeface="Times New Roman" panose="02020603050405020304" pitchFamily="18" charset="0"/>
                        </a:rPr>
                        <a:t>yes</a:t>
                      </a:r>
                    </a:p>
                  </a:txBody>
                  <a:tcPr/>
                </a:tc>
                <a:tc>
                  <a:txBody>
                    <a:bodyPr/>
                    <a:lstStyle/>
                    <a:p>
                      <a:r>
                        <a:rPr lang="en-GB" sz="800" dirty="0">
                          <a:latin typeface="Times New Roman" panose="02020603050405020304" pitchFamily="18" charset="0"/>
                          <a:cs typeface="Times New Roman" panose="02020603050405020304" pitchFamily="18" charset="0"/>
                        </a:rPr>
                        <a:t>Used as categorical to avoid false numerical order and helps model identify location-based fire </a:t>
                      </a:r>
                    </a:p>
                  </a:txBody>
                  <a:tcPr/>
                </a:tc>
                <a:extLst>
                  <a:ext uri="{0D108BD9-81ED-4DB2-BD59-A6C34878D82A}">
                    <a16:rowId xmlns:a16="http://schemas.microsoft.com/office/drawing/2014/main" val="3202199352"/>
                  </a:ext>
                </a:extLst>
              </a:tr>
              <a:tr h="340078">
                <a:tc>
                  <a:txBody>
                    <a:bodyPr/>
                    <a:lstStyle/>
                    <a:p>
                      <a:r>
                        <a:rPr lang="en-US" sz="800" dirty="0">
                          <a:latin typeface="Times New Roman" panose="02020603050405020304" pitchFamily="18" charset="0"/>
                          <a:cs typeface="Times New Roman" panose="02020603050405020304" pitchFamily="18" charset="0"/>
                        </a:rPr>
                        <a:t>Y</a:t>
                      </a:r>
                      <a:endParaRPr lang="en-GB" sz="800" dirty="0">
                        <a:latin typeface="Times New Roman" panose="02020603050405020304" pitchFamily="18" charset="0"/>
                        <a:cs typeface="Times New Roman" panose="02020603050405020304" pitchFamily="18" charset="0"/>
                      </a:endParaRPr>
                    </a:p>
                  </a:txBody>
                  <a:tcPr/>
                </a:tc>
                <a:tc>
                  <a:txBody>
                    <a:bodyPr/>
                    <a:lstStyle/>
                    <a:p>
                      <a:r>
                        <a:rPr lang="en-US" sz="800" dirty="0">
                          <a:latin typeface="Times New Roman" panose="02020603050405020304" pitchFamily="18" charset="0"/>
                          <a:cs typeface="Times New Roman" panose="02020603050405020304" pitchFamily="18" charset="0"/>
                        </a:rPr>
                        <a:t>Categorical</a:t>
                      </a:r>
                      <a:endParaRPr lang="en-GB" sz="800" dirty="0">
                        <a:latin typeface="Times New Roman" panose="02020603050405020304" pitchFamily="18" charset="0"/>
                        <a:cs typeface="Times New Roman" panose="02020603050405020304" pitchFamily="18" charset="0"/>
                      </a:endParaRPr>
                    </a:p>
                  </a:txBody>
                  <a:tcPr/>
                </a:tc>
                <a:tc>
                  <a:txBody>
                    <a:bodyPr/>
                    <a:lstStyle/>
                    <a:p>
                      <a:r>
                        <a:rPr lang="en-GB" sz="800" dirty="0">
                          <a:latin typeface="Times New Roman" panose="02020603050405020304" pitchFamily="18" charset="0"/>
                          <a:cs typeface="Times New Roman" panose="02020603050405020304" pitchFamily="18" charset="0"/>
                        </a:rPr>
                        <a:t>yes</a:t>
                      </a:r>
                    </a:p>
                  </a:txBody>
                  <a:tcPr/>
                </a:tc>
                <a:tc>
                  <a:txBody>
                    <a:bodyPr/>
                    <a:lstStyle/>
                    <a:p>
                      <a:r>
                        <a:rPr lang="en-GB" sz="800" dirty="0">
                          <a:latin typeface="Times New Roman" panose="02020603050405020304" pitchFamily="18" charset="0"/>
                          <a:cs typeface="Times New Roman" panose="02020603050405020304" pitchFamily="18" charset="0"/>
                        </a:rPr>
                        <a:t>Used as categorical to avoid false numerical order and helps model identify location-based fire.</a:t>
                      </a:r>
                    </a:p>
                  </a:txBody>
                  <a:tcPr/>
                </a:tc>
                <a:extLst>
                  <a:ext uri="{0D108BD9-81ED-4DB2-BD59-A6C34878D82A}">
                    <a16:rowId xmlns:a16="http://schemas.microsoft.com/office/drawing/2014/main" val="2473242010"/>
                  </a:ext>
                </a:extLst>
              </a:tr>
              <a:tr h="340078">
                <a:tc>
                  <a:txBody>
                    <a:bodyPr/>
                    <a:lstStyle/>
                    <a:p>
                      <a:r>
                        <a:rPr lang="en-GB" sz="800" dirty="0">
                          <a:latin typeface="Times New Roman" panose="02020603050405020304" pitchFamily="18" charset="0"/>
                          <a:cs typeface="Times New Roman" panose="02020603050405020304" pitchFamily="18" charset="0"/>
                        </a:rPr>
                        <a:t>Month </a:t>
                      </a:r>
                    </a:p>
                  </a:txBody>
                  <a:tcPr/>
                </a:tc>
                <a:tc>
                  <a:txBody>
                    <a:bodyPr/>
                    <a:lstStyle/>
                    <a:p>
                      <a:r>
                        <a:rPr lang="en-US" sz="800" dirty="0">
                          <a:latin typeface="Times New Roman" panose="02020603050405020304" pitchFamily="18" charset="0"/>
                          <a:cs typeface="Times New Roman" panose="02020603050405020304" pitchFamily="18" charset="0"/>
                        </a:rPr>
                        <a:t>Categorical</a:t>
                      </a:r>
                      <a:endParaRPr lang="en-GB" sz="800" dirty="0">
                        <a:latin typeface="Times New Roman" panose="02020603050405020304" pitchFamily="18" charset="0"/>
                        <a:cs typeface="Times New Roman" panose="02020603050405020304" pitchFamily="18" charset="0"/>
                      </a:endParaRPr>
                    </a:p>
                  </a:txBody>
                  <a:tcPr/>
                </a:tc>
                <a:tc>
                  <a:txBody>
                    <a:bodyPr/>
                    <a:lstStyle/>
                    <a:p>
                      <a:r>
                        <a:rPr lang="en-GB" sz="800" dirty="0">
                          <a:latin typeface="Times New Roman" panose="02020603050405020304" pitchFamily="18" charset="0"/>
                          <a:cs typeface="Times New Roman" panose="02020603050405020304" pitchFamily="18" charset="0"/>
                        </a:rPr>
                        <a:t>yes</a:t>
                      </a:r>
                    </a:p>
                  </a:txBody>
                  <a:tcPr/>
                </a:tc>
                <a:tc>
                  <a:txBody>
                    <a:bodyPr/>
                    <a:lstStyle/>
                    <a:p>
                      <a:r>
                        <a:rPr lang="en-GB" sz="800" dirty="0">
                          <a:latin typeface="Times New Roman" panose="02020603050405020304" pitchFamily="18" charset="0"/>
                          <a:cs typeface="Times New Roman" panose="02020603050405020304" pitchFamily="18" charset="0"/>
                        </a:rPr>
                        <a:t>Helps models detect seasonal fire risk. It is categorical to avoid false numerical order </a:t>
                      </a:r>
                    </a:p>
                  </a:txBody>
                  <a:tcPr/>
                </a:tc>
                <a:extLst>
                  <a:ext uri="{0D108BD9-81ED-4DB2-BD59-A6C34878D82A}">
                    <a16:rowId xmlns:a16="http://schemas.microsoft.com/office/drawing/2014/main" val="1850716645"/>
                  </a:ext>
                </a:extLst>
              </a:tr>
              <a:tr h="340078">
                <a:tc>
                  <a:txBody>
                    <a:bodyPr/>
                    <a:lstStyle/>
                    <a:p>
                      <a:r>
                        <a:rPr lang="en-GB" sz="800" dirty="0">
                          <a:latin typeface="Times New Roman" panose="02020603050405020304" pitchFamily="18" charset="0"/>
                          <a:cs typeface="Times New Roman" panose="02020603050405020304" pitchFamily="18" charset="0"/>
                        </a:rPr>
                        <a:t>Day</a:t>
                      </a:r>
                    </a:p>
                  </a:txBody>
                  <a:tcPr/>
                </a:tc>
                <a:tc>
                  <a:txBody>
                    <a:bodyPr/>
                    <a:lstStyle/>
                    <a:p>
                      <a:r>
                        <a:rPr lang="en-US" sz="800" dirty="0">
                          <a:latin typeface="Times New Roman" panose="02020603050405020304" pitchFamily="18" charset="0"/>
                          <a:cs typeface="Times New Roman" panose="02020603050405020304" pitchFamily="18" charset="0"/>
                        </a:rPr>
                        <a:t>Categorical</a:t>
                      </a:r>
                      <a:endParaRPr lang="en-GB" sz="800" dirty="0">
                        <a:latin typeface="Times New Roman" panose="02020603050405020304" pitchFamily="18" charset="0"/>
                        <a:cs typeface="Times New Roman" panose="02020603050405020304" pitchFamily="18" charset="0"/>
                      </a:endParaRPr>
                    </a:p>
                  </a:txBody>
                  <a:tcPr/>
                </a:tc>
                <a:tc>
                  <a:txBody>
                    <a:bodyPr/>
                    <a:lstStyle/>
                    <a:p>
                      <a:r>
                        <a:rPr lang="en-GB" sz="800" dirty="0">
                          <a:latin typeface="Times New Roman" panose="02020603050405020304" pitchFamily="18" charset="0"/>
                          <a:cs typeface="Times New Roman" panose="02020603050405020304" pitchFamily="18" charset="0"/>
                        </a:rPr>
                        <a:t>No</a:t>
                      </a:r>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800" dirty="0">
                          <a:latin typeface="Times New Roman" panose="02020603050405020304" pitchFamily="18" charset="0"/>
                          <a:cs typeface="Times New Roman" panose="02020603050405020304" pitchFamily="18" charset="0"/>
                        </a:rPr>
                        <a:t>Day of the week has no physical influence on fire behaviour so removed as it just adds noise without value. </a:t>
                      </a:r>
                    </a:p>
                  </a:txBody>
                  <a:tcPr/>
                </a:tc>
                <a:extLst>
                  <a:ext uri="{0D108BD9-81ED-4DB2-BD59-A6C34878D82A}">
                    <a16:rowId xmlns:a16="http://schemas.microsoft.com/office/drawing/2014/main" val="520662613"/>
                  </a:ext>
                </a:extLst>
              </a:tr>
              <a:tr h="340078">
                <a:tc>
                  <a:txBody>
                    <a:bodyPr/>
                    <a:lstStyle/>
                    <a:p>
                      <a:r>
                        <a:rPr lang="en-GB" sz="800" dirty="0">
                          <a:latin typeface="Times New Roman" panose="02020603050405020304" pitchFamily="18" charset="0"/>
                          <a:cs typeface="Times New Roman" panose="02020603050405020304" pitchFamily="18" charset="0"/>
                        </a:rPr>
                        <a:t>FFMC</a:t>
                      </a:r>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800" dirty="0">
                          <a:latin typeface="Times New Roman" panose="02020603050405020304" pitchFamily="18" charset="0"/>
                          <a:cs typeface="Times New Roman" panose="02020603050405020304" pitchFamily="18" charset="0"/>
                        </a:rPr>
                        <a:t>Numeric</a:t>
                      </a:r>
                      <a:endParaRPr lang="en-GB" sz="800" dirty="0">
                        <a:latin typeface="Times New Roman" panose="02020603050405020304" pitchFamily="18" charset="0"/>
                        <a:cs typeface="Times New Roman" panose="02020603050405020304" pitchFamily="18" charset="0"/>
                      </a:endParaRPr>
                    </a:p>
                  </a:txBody>
                  <a:tcPr/>
                </a:tc>
                <a:tc>
                  <a:txBody>
                    <a:bodyPr/>
                    <a:lstStyle/>
                    <a:p>
                      <a:r>
                        <a:rPr lang="en-GB" sz="800" dirty="0">
                          <a:latin typeface="Times New Roman" panose="02020603050405020304" pitchFamily="18" charset="0"/>
                          <a:cs typeface="Times New Roman" panose="02020603050405020304" pitchFamily="18" charset="0"/>
                        </a:rPr>
                        <a:t>yes</a:t>
                      </a:r>
                    </a:p>
                  </a:txBody>
                  <a:tcPr/>
                </a:tc>
                <a:tc>
                  <a:txBody>
                    <a:bodyPr/>
                    <a:lstStyle/>
                    <a:p>
                      <a:r>
                        <a:rPr lang="en-GB" sz="800" dirty="0">
                          <a:latin typeface="Times New Roman" panose="02020603050405020304" pitchFamily="18" charset="0"/>
                          <a:cs typeface="Times New Roman" panose="02020603050405020304" pitchFamily="18" charset="0"/>
                        </a:rPr>
                        <a:t>Strong predictor for fire. Few instances of near outliers but kept as they are in a scientifically possible range </a:t>
                      </a:r>
                    </a:p>
                  </a:txBody>
                  <a:tcPr/>
                </a:tc>
                <a:extLst>
                  <a:ext uri="{0D108BD9-81ED-4DB2-BD59-A6C34878D82A}">
                    <a16:rowId xmlns:a16="http://schemas.microsoft.com/office/drawing/2014/main" val="3259559913"/>
                  </a:ext>
                </a:extLst>
              </a:tr>
              <a:tr h="340078">
                <a:tc>
                  <a:txBody>
                    <a:bodyPr/>
                    <a:lstStyle/>
                    <a:p>
                      <a:r>
                        <a:rPr lang="en-GB" sz="800" dirty="0">
                          <a:latin typeface="Times New Roman" panose="02020603050405020304" pitchFamily="18" charset="0"/>
                          <a:cs typeface="Times New Roman" panose="02020603050405020304" pitchFamily="18" charset="0"/>
                        </a:rPr>
                        <a:t>DMC</a:t>
                      </a:r>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800" dirty="0">
                          <a:latin typeface="Times New Roman" panose="02020603050405020304" pitchFamily="18" charset="0"/>
                          <a:cs typeface="Times New Roman" panose="02020603050405020304" pitchFamily="18" charset="0"/>
                        </a:rPr>
                        <a:t>Numeric</a:t>
                      </a:r>
                      <a:endParaRPr lang="en-GB" sz="800" dirty="0">
                        <a:latin typeface="Times New Roman" panose="02020603050405020304" pitchFamily="18" charset="0"/>
                        <a:cs typeface="Times New Roman" panose="02020603050405020304" pitchFamily="18" charset="0"/>
                      </a:endParaRPr>
                    </a:p>
                  </a:txBody>
                  <a:tcPr/>
                </a:tc>
                <a:tc>
                  <a:txBody>
                    <a:bodyPr/>
                    <a:lstStyle/>
                    <a:p>
                      <a:r>
                        <a:rPr lang="en-GB" sz="800" dirty="0">
                          <a:latin typeface="Times New Roman" panose="02020603050405020304" pitchFamily="18" charset="0"/>
                          <a:cs typeface="Times New Roman" panose="02020603050405020304" pitchFamily="18" charset="0"/>
                        </a:rPr>
                        <a:t>yes</a:t>
                      </a:r>
                    </a:p>
                  </a:txBody>
                  <a:tcPr/>
                </a:tc>
                <a:tc>
                  <a:txBody>
                    <a:bodyPr/>
                    <a:lstStyle/>
                    <a:p>
                      <a:r>
                        <a:rPr lang="en-GB" sz="800" dirty="0">
                          <a:latin typeface="Times New Roman" panose="02020603050405020304" pitchFamily="18" charset="0"/>
                          <a:cs typeface="Times New Roman" panose="02020603050405020304" pitchFamily="18" charset="0"/>
                        </a:rPr>
                        <a:t>Important predictor for fire. Numeric so linear/tree models can learn trends.</a:t>
                      </a:r>
                    </a:p>
                  </a:txBody>
                  <a:tcPr/>
                </a:tc>
                <a:extLst>
                  <a:ext uri="{0D108BD9-81ED-4DB2-BD59-A6C34878D82A}">
                    <a16:rowId xmlns:a16="http://schemas.microsoft.com/office/drawing/2014/main" val="946676872"/>
                  </a:ext>
                </a:extLst>
              </a:tr>
              <a:tr h="340078">
                <a:tc>
                  <a:txBody>
                    <a:bodyPr/>
                    <a:lstStyle/>
                    <a:p>
                      <a:r>
                        <a:rPr lang="en-GB" sz="800" dirty="0">
                          <a:latin typeface="Times New Roman" panose="02020603050405020304" pitchFamily="18" charset="0"/>
                          <a:cs typeface="Times New Roman" panose="02020603050405020304" pitchFamily="18" charset="0"/>
                        </a:rPr>
                        <a:t>DC</a:t>
                      </a:r>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800" dirty="0">
                          <a:latin typeface="Times New Roman" panose="02020603050405020304" pitchFamily="18" charset="0"/>
                          <a:cs typeface="Times New Roman" panose="02020603050405020304" pitchFamily="18" charset="0"/>
                        </a:rPr>
                        <a:t>Numeric</a:t>
                      </a:r>
                      <a:endParaRPr lang="en-GB" sz="800" dirty="0">
                        <a:latin typeface="Times New Roman" panose="02020603050405020304" pitchFamily="18" charset="0"/>
                        <a:cs typeface="Times New Roman" panose="02020603050405020304" pitchFamily="18" charset="0"/>
                      </a:endParaRPr>
                    </a:p>
                  </a:txBody>
                  <a:tcPr/>
                </a:tc>
                <a:tc>
                  <a:txBody>
                    <a:bodyPr/>
                    <a:lstStyle/>
                    <a:p>
                      <a:r>
                        <a:rPr lang="en-GB" sz="800" dirty="0">
                          <a:latin typeface="Times New Roman" panose="02020603050405020304" pitchFamily="18" charset="0"/>
                          <a:cs typeface="Times New Roman" panose="02020603050405020304" pitchFamily="18" charset="0"/>
                        </a:rPr>
                        <a:t>yes</a:t>
                      </a:r>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800" dirty="0">
                          <a:latin typeface="Times New Roman" panose="02020603050405020304" pitchFamily="18" charset="0"/>
                          <a:cs typeface="Times New Roman" panose="02020603050405020304" pitchFamily="18" charset="0"/>
                        </a:rPr>
                        <a:t>Important predictor for fire. Numeric so linear/tree models can learn trends.</a:t>
                      </a:r>
                    </a:p>
                  </a:txBody>
                  <a:tcPr/>
                </a:tc>
                <a:extLst>
                  <a:ext uri="{0D108BD9-81ED-4DB2-BD59-A6C34878D82A}">
                    <a16:rowId xmlns:a16="http://schemas.microsoft.com/office/drawing/2014/main" val="1557909503"/>
                  </a:ext>
                </a:extLst>
              </a:tr>
              <a:tr h="340078">
                <a:tc>
                  <a:txBody>
                    <a:bodyPr/>
                    <a:lstStyle/>
                    <a:p>
                      <a:r>
                        <a:rPr lang="en-GB" sz="800" dirty="0">
                          <a:latin typeface="Times New Roman" panose="02020603050405020304" pitchFamily="18" charset="0"/>
                          <a:cs typeface="Times New Roman" panose="02020603050405020304" pitchFamily="18" charset="0"/>
                        </a:rPr>
                        <a:t>ISI</a:t>
                      </a:r>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800" dirty="0">
                          <a:latin typeface="Times New Roman" panose="02020603050405020304" pitchFamily="18" charset="0"/>
                          <a:cs typeface="Times New Roman" panose="02020603050405020304" pitchFamily="18" charset="0"/>
                        </a:rPr>
                        <a:t>Numeric</a:t>
                      </a:r>
                      <a:endParaRPr lang="en-GB" sz="800" dirty="0">
                        <a:latin typeface="Times New Roman" panose="02020603050405020304" pitchFamily="18" charset="0"/>
                        <a:cs typeface="Times New Roman" panose="02020603050405020304" pitchFamily="18" charset="0"/>
                      </a:endParaRPr>
                    </a:p>
                  </a:txBody>
                  <a:tcPr/>
                </a:tc>
                <a:tc>
                  <a:txBody>
                    <a:bodyPr/>
                    <a:lstStyle/>
                    <a:p>
                      <a:r>
                        <a:rPr lang="en-GB" sz="800" dirty="0">
                          <a:latin typeface="Times New Roman" panose="02020603050405020304" pitchFamily="18" charset="0"/>
                          <a:cs typeface="Times New Roman" panose="02020603050405020304" pitchFamily="18" charset="0"/>
                        </a:rPr>
                        <a:t>yes</a:t>
                      </a:r>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800" dirty="0">
                          <a:latin typeface="Times New Roman" panose="02020603050405020304" pitchFamily="18" charset="0"/>
                          <a:cs typeface="Times New Roman" panose="02020603050405020304" pitchFamily="18" charset="0"/>
                        </a:rPr>
                        <a:t>Important predictor for fire. One extreme outlier removed for model stability. </a:t>
                      </a:r>
                    </a:p>
                  </a:txBody>
                  <a:tcPr/>
                </a:tc>
                <a:extLst>
                  <a:ext uri="{0D108BD9-81ED-4DB2-BD59-A6C34878D82A}">
                    <a16:rowId xmlns:a16="http://schemas.microsoft.com/office/drawing/2014/main" val="3327091444"/>
                  </a:ext>
                </a:extLst>
              </a:tr>
              <a:tr h="340078">
                <a:tc>
                  <a:txBody>
                    <a:bodyPr/>
                    <a:lstStyle/>
                    <a:p>
                      <a:r>
                        <a:rPr lang="en-GB" sz="800" dirty="0">
                          <a:latin typeface="Times New Roman" panose="02020603050405020304" pitchFamily="18" charset="0"/>
                          <a:cs typeface="Times New Roman" panose="02020603050405020304" pitchFamily="18" charset="0"/>
                        </a:rPr>
                        <a:t>TEMP</a:t>
                      </a:r>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800" dirty="0">
                          <a:latin typeface="Times New Roman" panose="02020603050405020304" pitchFamily="18" charset="0"/>
                          <a:cs typeface="Times New Roman" panose="02020603050405020304" pitchFamily="18" charset="0"/>
                        </a:rPr>
                        <a:t>Numeric</a:t>
                      </a:r>
                      <a:endParaRPr lang="en-GB" sz="800" dirty="0">
                        <a:latin typeface="Times New Roman" panose="02020603050405020304" pitchFamily="18" charset="0"/>
                        <a:cs typeface="Times New Roman" panose="02020603050405020304" pitchFamily="18" charset="0"/>
                      </a:endParaRPr>
                    </a:p>
                  </a:txBody>
                  <a:tcPr/>
                </a:tc>
                <a:tc>
                  <a:txBody>
                    <a:bodyPr/>
                    <a:lstStyle/>
                    <a:p>
                      <a:r>
                        <a:rPr lang="en-GB" sz="800" dirty="0">
                          <a:latin typeface="Times New Roman" panose="02020603050405020304" pitchFamily="18" charset="0"/>
                          <a:cs typeface="Times New Roman" panose="02020603050405020304" pitchFamily="18" charset="0"/>
                        </a:rPr>
                        <a:t>yes</a:t>
                      </a:r>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800" dirty="0">
                          <a:latin typeface="Times New Roman" panose="02020603050405020304" pitchFamily="18" charset="0"/>
                          <a:cs typeface="Times New Roman" panose="02020603050405020304" pitchFamily="18" charset="0"/>
                        </a:rPr>
                        <a:t>Important predictor for fire. Numeric so linear/tree models can learn trends.</a:t>
                      </a:r>
                    </a:p>
                  </a:txBody>
                  <a:tcPr/>
                </a:tc>
                <a:extLst>
                  <a:ext uri="{0D108BD9-81ED-4DB2-BD59-A6C34878D82A}">
                    <a16:rowId xmlns:a16="http://schemas.microsoft.com/office/drawing/2014/main" val="2971215626"/>
                  </a:ext>
                </a:extLst>
              </a:tr>
              <a:tr h="340078">
                <a:tc>
                  <a:txBody>
                    <a:bodyPr/>
                    <a:lstStyle/>
                    <a:p>
                      <a:r>
                        <a:rPr lang="en-GB" sz="800" dirty="0">
                          <a:latin typeface="Times New Roman" panose="02020603050405020304" pitchFamily="18" charset="0"/>
                          <a:cs typeface="Times New Roman" panose="02020603050405020304" pitchFamily="18" charset="0"/>
                        </a:rPr>
                        <a:t>RH</a:t>
                      </a:r>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800" dirty="0">
                          <a:latin typeface="Times New Roman" panose="02020603050405020304" pitchFamily="18" charset="0"/>
                          <a:cs typeface="Times New Roman" panose="02020603050405020304" pitchFamily="18" charset="0"/>
                        </a:rPr>
                        <a:t>Numeric</a:t>
                      </a:r>
                      <a:endParaRPr lang="en-GB" sz="800" dirty="0">
                        <a:latin typeface="Times New Roman" panose="02020603050405020304" pitchFamily="18" charset="0"/>
                        <a:cs typeface="Times New Roman" panose="02020603050405020304" pitchFamily="18" charset="0"/>
                      </a:endParaRPr>
                    </a:p>
                  </a:txBody>
                  <a:tcPr/>
                </a:tc>
                <a:tc>
                  <a:txBody>
                    <a:bodyPr/>
                    <a:lstStyle/>
                    <a:p>
                      <a:r>
                        <a:rPr lang="en-GB" sz="800" dirty="0">
                          <a:latin typeface="Times New Roman" panose="02020603050405020304" pitchFamily="18" charset="0"/>
                          <a:cs typeface="Times New Roman" panose="02020603050405020304" pitchFamily="18" charset="0"/>
                        </a:rPr>
                        <a:t>yes</a:t>
                      </a:r>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800" dirty="0">
                          <a:latin typeface="Times New Roman" panose="02020603050405020304" pitchFamily="18" charset="0"/>
                          <a:cs typeface="Times New Roman" panose="02020603050405020304" pitchFamily="18" charset="0"/>
                        </a:rPr>
                        <a:t>Important predictor for fire. Numeric so linear/tree models can learn trends.</a:t>
                      </a:r>
                    </a:p>
                  </a:txBody>
                  <a:tcPr/>
                </a:tc>
                <a:extLst>
                  <a:ext uri="{0D108BD9-81ED-4DB2-BD59-A6C34878D82A}">
                    <a16:rowId xmlns:a16="http://schemas.microsoft.com/office/drawing/2014/main" val="3306669620"/>
                  </a:ext>
                </a:extLst>
              </a:tr>
              <a:tr h="340078">
                <a:tc>
                  <a:txBody>
                    <a:bodyPr/>
                    <a:lstStyle/>
                    <a:p>
                      <a:r>
                        <a:rPr lang="en-GB" sz="800" dirty="0">
                          <a:latin typeface="Times New Roman" panose="02020603050405020304" pitchFamily="18" charset="0"/>
                          <a:cs typeface="Times New Roman" panose="02020603050405020304" pitchFamily="18" charset="0"/>
                        </a:rPr>
                        <a:t>Wind</a:t>
                      </a:r>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800" dirty="0">
                          <a:latin typeface="Times New Roman" panose="02020603050405020304" pitchFamily="18" charset="0"/>
                          <a:cs typeface="Times New Roman" panose="02020603050405020304" pitchFamily="18" charset="0"/>
                        </a:rPr>
                        <a:t>Numeric</a:t>
                      </a:r>
                      <a:endParaRPr lang="en-GB" sz="800" dirty="0">
                        <a:latin typeface="Times New Roman" panose="02020603050405020304" pitchFamily="18" charset="0"/>
                        <a:cs typeface="Times New Roman" panose="02020603050405020304" pitchFamily="18" charset="0"/>
                      </a:endParaRPr>
                    </a:p>
                  </a:txBody>
                  <a:tcPr/>
                </a:tc>
                <a:tc>
                  <a:txBody>
                    <a:bodyPr/>
                    <a:lstStyle/>
                    <a:p>
                      <a:r>
                        <a:rPr lang="en-GB" sz="800" dirty="0">
                          <a:latin typeface="Times New Roman" panose="02020603050405020304" pitchFamily="18" charset="0"/>
                          <a:cs typeface="Times New Roman" panose="02020603050405020304" pitchFamily="18" charset="0"/>
                        </a:rPr>
                        <a:t>yes</a:t>
                      </a:r>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800" dirty="0">
                          <a:latin typeface="Times New Roman" panose="02020603050405020304" pitchFamily="18" charset="0"/>
                          <a:cs typeface="Times New Roman" panose="02020603050405020304" pitchFamily="18" charset="0"/>
                        </a:rPr>
                        <a:t>Important predictor for fire. Numeric so linear/tree models can learn trends.</a:t>
                      </a:r>
                    </a:p>
                  </a:txBody>
                  <a:tcPr/>
                </a:tc>
                <a:extLst>
                  <a:ext uri="{0D108BD9-81ED-4DB2-BD59-A6C34878D82A}">
                    <a16:rowId xmlns:a16="http://schemas.microsoft.com/office/drawing/2014/main" val="1452192130"/>
                  </a:ext>
                </a:extLst>
              </a:tr>
              <a:tr h="340078">
                <a:tc>
                  <a:txBody>
                    <a:bodyPr/>
                    <a:lstStyle/>
                    <a:p>
                      <a:r>
                        <a:rPr lang="en-GB" sz="800" dirty="0">
                          <a:latin typeface="Times New Roman" panose="02020603050405020304" pitchFamily="18" charset="0"/>
                          <a:cs typeface="Times New Roman" panose="02020603050405020304" pitchFamily="18" charset="0"/>
                        </a:rPr>
                        <a:t>Rain</a:t>
                      </a:r>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800" dirty="0">
                          <a:latin typeface="Times New Roman" panose="02020603050405020304" pitchFamily="18" charset="0"/>
                          <a:cs typeface="Times New Roman" panose="02020603050405020304" pitchFamily="18" charset="0"/>
                        </a:rPr>
                        <a:t>Numeric</a:t>
                      </a:r>
                      <a:endParaRPr lang="en-GB" sz="800" dirty="0">
                        <a:latin typeface="Times New Roman" panose="02020603050405020304" pitchFamily="18" charset="0"/>
                        <a:cs typeface="Times New Roman" panose="02020603050405020304" pitchFamily="18" charset="0"/>
                      </a:endParaRPr>
                    </a:p>
                  </a:txBody>
                  <a:tcPr/>
                </a:tc>
                <a:tc>
                  <a:txBody>
                    <a:bodyPr/>
                    <a:lstStyle/>
                    <a:p>
                      <a:r>
                        <a:rPr lang="en-GB" sz="800" dirty="0">
                          <a:latin typeface="Times New Roman" panose="02020603050405020304" pitchFamily="18" charset="0"/>
                          <a:cs typeface="Times New Roman" panose="02020603050405020304" pitchFamily="18" charset="0"/>
                        </a:rPr>
                        <a:t>yes</a:t>
                      </a:r>
                    </a:p>
                  </a:txBody>
                  <a:tcPr/>
                </a:tc>
                <a:tc>
                  <a:txBody>
                    <a:bodyPr/>
                    <a:lstStyle/>
                    <a:p>
                      <a:r>
                        <a:rPr lang="en-GB" sz="800" dirty="0">
                          <a:latin typeface="Times New Roman" panose="02020603050405020304" pitchFamily="18" charset="0"/>
                          <a:cs typeface="Times New Roman" panose="02020603050405020304" pitchFamily="18" charset="0"/>
                        </a:rPr>
                        <a:t>509 of 517 entries are zero. May weaken linear models but tree-models handle Zero dominated data well.</a:t>
                      </a:r>
                    </a:p>
                  </a:txBody>
                  <a:tcPr/>
                </a:tc>
                <a:extLst>
                  <a:ext uri="{0D108BD9-81ED-4DB2-BD59-A6C34878D82A}">
                    <a16:rowId xmlns:a16="http://schemas.microsoft.com/office/drawing/2014/main" val="1756197607"/>
                  </a:ext>
                </a:extLst>
              </a:tr>
              <a:tr h="216413">
                <a:tc>
                  <a:txBody>
                    <a:bodyPr/>
                    <a:lstStyle/>
                    <a:p>
                      <a:r>
                        <a:rPr lang="en-GB" sz="800" dirty="0">
                          <a:latin typeface="Times New Roman" panose="02020603050405020304" pitchFamily="18" charset="0"/>
                          <a:cs typeface="Times New Roman" panose="02020603050405020304" pitchFamily="18" charset="0"/>
                        </a:rPr>
                        <a:t>Area</a:t>
                      </a:r>
                    </a:p>
                  </a:txBody>
                  <a:tcPr/>
                </a:tc>
                <a:tc>
                  <a:txBody>
                    <a:bodyPr/>
                    <a:lstStyle/>
                    <a:p>
                      <a:r>
                        <a:rPr lang="en-US" sz="800" dirty="0">
                          <a:latin typeface="Times New Roman" panose="02020603050405020304" pitchFamily="18" charset="0"/>
                          <a:cs typeface="Times New Roman" panose="02020603050405020304" pitchFamily="18" charset="0"/>
                        </a:rPr>
                        <a:t>Categorical</a:t>
                      </a:r>
                      <a:endParaRPr lang="en-GB" sz="800" dirty="0">
                        <a:latin typeface="Times New Roman" panose="02020603050405020304" pitchFamily="18" charset="0"/>
                        <a:cs typeface="Times New Roman" panose="02020603050405020304" pitchFamily="18" charset="0"/>
                      </a:endParaRPr>
                    </a:p>
                  </a:txBody>
                  <a:tcPr/>
                </a:tc>
                <a:tc>
                  <a:txBody>
                    <a:bodyPr/>
                    <a:lstStyle/>
                    <a:p>
                      <a:r>
                        <a:rPr lang="en-GB" sz="800" dirty="0">
                          <a:latin typeface="Times New Roman" panose="02020603050405020304" pitchFamily="18" charset="0"/>
                          <a:cs typeface="Times New Roman" panose="02020603050405020304" pitchFamily="18" charset="0"/>
                        </a:rPr>
                        <a:t>Target</a:t>
                      </a:r>
                    </a:p>
                  </a:txBody>
                  <a:tcPr/>
                </a:tc>
                <a:tc>
                  <a:txBody>
                    <a:bodyPr/>
                    <a:lstStyle/>
                    <a:p>
                      <a:r>
                        <a:rPr lang="en-GB" sz="800" dirty="0">
                          <a:latin typeface="Times New Roman" panose="02020603050405020304" pitchFamily="18" charset="0"/>
                          <a:cs typeface="Times New Roman" panose="02020603050405020304" pitchFamily="18" charset="0"/>
                        </a:rPr>
                        <a:t>Defines the classification task. Binary as it is just true or false</a:t>
                      </a:r>
                    </a:p>
                  </a:txBody>
                  <a:tcPr/>
                </a:tc>
                <a:extLst>
                  <a:ext uri="{0D108BD9-81ED-4DB2-BD59-A6C34878D82A}">
                    <a16:rowId xmlns:a16="http://schemas.microsoft.com/office/drawing/2014/main" val="1648314266"/>
                  </a:ext>
                </a:extLst>
              </a:tr>
            </a:tbl>
          </a:graphicData>
        </a:graphic>
      </p:graphicFrame>
      <p:sp>
        <p:nvSpPr>
          <p:cNvPr id="13" name="TextBox 12">
            <a:extLst>
              <a:ext uri="{FF2B5EF4-FFF2-40B4-BE49-F238E27FC236}">
                <a16:creationId xmlns:a16="http://schemas.microsoft.com/office/drawing/2014/main" id="{CA1EAAA5-A1A2-3B0D-12F1-60B2E50A677D}"/>
              </a:ext>
            </a:extLst>
          </p:cNvPr>
          <p:cNvSpPr txBox="1"/>
          <p:nvPr/>
        </p:nvSpPr>
        <p:spPr>
          <a:xfrm>
            <a:off x="4738742" y="5752397"/>
            <a:ext cx="4709312" cy="1384995"/>
          </a:xfrm>
          <a:prstGeom prst="rect">
            <a:avLst/>
          </a:prstGeom>
          <a:noFill/>
        </p:spPr>
        <p:txBody>
          <a:bodyPr wrap="square" rtlCol="0">
            <a:spAutoFit/>
          </a:bodyPr>
          <a:lstStyle/>
          <a:p>
            <a:r>
              <a:rPr lang="en-GB" sz="1200" dirty="0">
                <a:latin typeface="Times New Roman" panose="02020603050405020304" pitchFamily="18" charset="0"/>
                <a:cs typeface="Times New Roman" panose="02020603050405020304" pitchFamily="18" charset="0"/>
              </a:rPr>
              <a:t>For each model, I experimented with each settings and the setting with the best validation  F1 and CA were chosen. Tree based models performed best with 150 trees which makes sense for data about 500 rows is this number is not too overfitting or underfitting. Linear models performed best with the least changes with the standard settings. Gradient Boosting I chose 3 for depth limit and a learning rate of 0.1 to avoid overfitting. </a:t>
            </a:r>
          </a:p>
        </p:txBody>
      </p:sp>
      <p:pic>
        <p:nvPicPr>
          <p:cNvPr id="16" name="Picture 15">
            <a:extLst>
              <a:ext uri="{FF2B5EF4-FFF2-40B4-BE49-F238E27FC236}">
                <a16:creationId xmlns:a16="http://schemas.microsoft.com/office/drawing/2014/main" id="{0E3C226F-631E-BF67-79D0-A31373A149E1}"/>
              </a:ext>
            </a:extLst>
          </p:cNvPr>
          <p:cNvPicPr>
            <a:picLocks noChangeAspect="1"/>
          </p:cNvPicPr>
          <p:nvPr/>
        </p:nvPicPr>
        <p:blipFill>
          <a:blip r:embed="rId2"/>
          <a:stretch>
            <a:fillRect/>
          </a:stretch>
        </p:blipFill>
        <p:spPr>
          <a:xfrm>
            <a:off x="276049" y="3320283"/>
            <a:ext cx="2210887" cy="1671912"/>
          </a:xfrm>
          <a:prstGeom prst="rect">
            <a:avLst/>
          </a:prstGeom>
        </p:spPr>
      </p:pic>
      <p:sp>
        <p:nvSpPr>
          <p:cNvPr id="3" name="TextBox 2">
            <a:extLst>
              <a:ext uri="{FF2B5EF4-FFF2-40B4-BE49-F238E27FC236}">
                <a16:creationId xmlns:a16="http://schemas.microsoft.com/office/drawing/2014/main" id="{338DF5F8-9949-2770-C0AC-DDFE95DDE2A8}"/>
              </a:ext>
            </a:extLst>
          </p:cNvPr>
          <p:cNvSpPr txBox="1"/>
          <p:nvPr/>
        </p:nvSpPr>
        <p:spPr>
          <a:xfrm>
            <a:off x="212538" y="63914"/>
            <a:ext cx="8885186" cy="523220"/>
          </a:xfrm>
          <a:prstGeom prst="rect">
            <a:avLst/>
          </a:prstGeom>
          <a:noFill/>
        </p:spPr>
        <p:txBody>
          <a:bodyPr wrap="square" lIns="91440" tIns="45720" rIns="91440" bIns="45720" rtlCol="0" anchor="t">
            <a:spAutoFit/>
          </a:bodyPr>
          <a:lstStyle/>
          <a:p>
            <a:r>
              <a:rPr lang="en-GB" sz="2800" dirty="0"/>
              <a:t>CSCU9M5 Assignment 1. Student Number 3344671</a:t>
            </a:r>
            <a:endParaRPr lang="en-GB" sz="2800" dirty="0">
              <a:ea typeface="Calibri" panose="020F0502020204030204"/>
              <a:cs typeface="Calibri" panose="020F0502020204030204"/>
            </a:endParaRPr>
          </a:p>
        </p:txBody>
      </p:sp>
      <p:pic>
        <p:nvPicPr>
          <p:cNvPr id="10" name="Picture 9">
            <a:extLst>
              <a:ext uri="{FF2B5EF4-FFF2-40B4-BE49-F238E27FC236}">
                <a16:creationId xmlns:a16="http://schemas.microsoft.com/office/drawing/2014/main" id="{37C1D729-4E4F-3B91-B475-787F46B523C0}"/>
              </a:ext>
            </a:extLst>
          </p:cNvPr>
          <p:cNvPicPr>
            <a:picLocks noChangeAspect="1"/>
          </p:cNvPicPr>
          <p:nvPr/>
        </p:nvPicPr>
        <p:blipFill>
          <a:blip r:embed="rId3"/>
          <a:stretch>
            <a:fillRect/>
          </a:stretch>
        </p:blipFill>
        <p:spPr>
          <a:xfrm>
            <a:off x="2546326" y="3246064"/>
            <a:ext cx="2283969" cy="1820350"/>
          </a:xfrm>
          <a:prstGeom prst="rect">
            <a:avLst/>
          </a:prstGeom>
        </p:spPr>
      </p:pic>
    </p:spTree>
    <p:extLst>
      <p:ext uri="{BB962C8B-B14F-4D97-AF65-F5344CB8AC3E}">
        <p14:creationId xmlns:p14="http://schemas.microsoft.com/office/powerpoint/2010/main" val="150171040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F1DA950B468274CB53651377B661D5E" ma:contentTypeVersion="4" ma:contentTypeDescription="Create a new document." ma:contentTypeScope="" ma:versionID="27a16cd52dc681f2d631c60625793089">
  <xsd:schema xmlns:xsd="http://www.w3.org/2001/XMLSchema" xmlns:xs="http://www.w3.org/2001/XMLSchema" xmlns:p="http://schemas.microsoft.com/office/2006/metadata/properties" xmlns:ns2="4ce3de0b-3eea-4cb9-8254-1efe69defd32" targetNamespace="http://schemas.microsoft.com/office/2006/metadata/properties" ma:root="true" ma:fieldsID="aa5d8f5ea0382bb42d66b4ec4f495684" ns2:_="">
    <xsd:import namespace="4ce3de0b-3eea-4cb9-8254-1efe69defd32"/>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ce3de0b-3eea-4cb9-8254-1efe69defd3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149E239-D122-40A9-AB11-D677033190C0}">
  <ds:schemaRefs>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33661331-00C7-43C5-9A5A-50F586F6088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ce3de0b-3eea-4cb9-8254-1efe69defd3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778572B-7D4E-4A33-82E0-6D91E9A8F67C}">
  <ds:schemaRefs>
    <ds:schemaRef ds:uri="http://schemas.microsoft.com/sharepoint/v3/contenttype/forms"/>
  </ds:schemaRefs>
</ds:datastoreItem>
</file>

<file path=docMetadata/LabelInfo.xml><?xml version="1.0" encoding="utf-8"?>
<clbl:labelList xmlns:clbl="http://schemas.microsoft.com/office/2020/mipLabelMetadata">
  <clbl:label id="{d6fa6db5-9f3a-4c93-9e38-61059ee07e95}" enabled="1" method="Standard" siteId="{4e8d09f7-cc79-4ccb-9149-a4238dd17422}" removed="0"/>
</clbl:labelList>
</file>

<file path=docProps/app.xml><?xml version="1.0" encoding="utf-8"?>
<Properties xmlns="http://schemas.openxmlformats.org/officeDocument/2006/extended-properties" xmlns:vt="http://schemas.openxmlformats.org/officeDocument/2006/docPropsVTypes">
  <TotalTime>3207</TotalTime>
  <Words>897</Words>
  <Application>Microsoft Office PowerPoint</Application>
  <PresentationFormat>A3 Paper (297x420 mm)</PresentationFormat>
  <Paragraphs>125</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Calibri Light</vt:lpstr>
      <vt:lpstr>Times New Roman</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Kevin Swingler</dc:creator>
  <cp:lastModifiedBy>Muniir Ahmed</cp:lastModifiedBy>
  <cp:revision>74</cp:revision>
  <dcterms:created xsi:type="dcterms:W3CDTF">2022-12-31T18:26:39Z</dcterms:created>
  <dcterms:modified xsi:type="dcterms:W3CDTF">2025-11-27T16:46:43Z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0x0101000F1DA950B468274CB53651377B661D5E</vt:lpwstr>
  </property>
</Properties>
</file>