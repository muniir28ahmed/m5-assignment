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6B099F-37AD-4060-8083-851FC7399DCF}" v="493" dt="2025-02-24T11:36:48.5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309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Swingler" userId="001c6080-f70b-4cb1-b297-9fe9cede6ac8" providerId="ADAL" clId="{551E86BF-3831-4B7B-9294-523CEAC6E0DE}"/>
    <pc:docChg chg="undo redo custSel addSld modSld">
      <pc:chgData name="Kevin Swingler" userId="001c6080-f70b-4cb1-b297-9fe9cede6ac8" providerId="ADAL" clId="{551E86BF-3831-4B7B-9294-523CEAC6E0DE}" dt="2023-03-03T15:02:52.833" v="2247" actId="20577"/>
      <pc:docMkLst>
        <pc:docMk/>
      </pc:docMkLst>
      <pc:sldChg chg="addSp delSp modSp mod">
        <pc:chgData name="Kevin Swingler" userId="001c6080-f70b-4cb1-b297-9fe9cede6ac8" providerId="ADAL" clId="{551E86BF-3831-4B7B-9294-523CEAC6E0DE}" dt="2023-03-03T14:47:53.073" v="1771" actId="1035"/>
        <pc:sldMkLst>
          <pc:docMk/>
          <pc:sldMk cId="1501710403" sldId="256"/>
        </pc:sldMkLst>
      </pc:sldChg>
      <pc:sldChg chg="addSp delSp modSp add mod">
        <pc:chgData name="Kevin Swingler" userId="001c6080-f70b-4cb1-b297-9fe9cede6ac8" providerId="ADAL" clId="{551E86BF-3831-4B7B-9294-523CEAC6E0DE}" dt="2023-03-03T15:02:52.833" v="2247" actId="20577"/>
        <pc:sldMkLst>
          <pc:docMk/>
          <pc:sldMk cId="16987582" sldId="257"/>
        </pc:sldMkLst>
      </pc:sldChg>
    </pc:docChg>
  </pc:docChgLst>
  <pc:docChgLst>
    <pc:chgData name="Kevin" userId="001c6080-f70b-4cb1-b297-9fe9cede6ac8" providerId="ADAL" clId="{1628BF53-6199-40F3-8C93-D7BBF2F2F5F9}"/>
    <pc:docChg chg="undo custSel addSld modSld">
      <pc:chgData name="Kevin" userId="001c6080-f70b-4cb1-b297-9fe9cede6ac8" providerId="ADAL" clId="{1628BF53-6199-40F3-8C93-D7BBF2F2F5F9}" dt="2023-01-03T10:55:59.469" v="3026" actId="20577"/>
      <pc:docMkLst>
        <pc:docMk/>
      </pc:docMkLst>
      <pc:sldChg chg="addSp delSp modSp new mod">
        <pc:chgData name="Kevin" userId="001c6080-f70b-4cb1-b297-9fe9cede6ac8" providerId="ADAL" clId="{1628BF53-6199-40F3-8C93-D7BBF2F2F5F9}" dt="2023-01-03T10:55:59.469" v="3026" actId="20577"/>
        <pc:sldMkLst>
          <pc:docMk/>
          <pc:sldMk cId="1501710403" sldId="256"/>
        </pc:sldMkLst>
      </pc:sldChg>
    </pc:docChg>
  </pc:docChgLst>
  <pc:docChgLst>
    <pc:chgData name="Sandy Brownlee" userId="S::ab90@stir.ac.uk::2cebf13b-e4a2-47d7-afd7-2a71264552b7" providerId="AD" clId="Web-{506B099F-37AD-4060-8083-851FC7399DCF}"/>
    <pc:docChg chg="modSld">
      <pc:chgData name="Sandy Brownlee" userId="S::ab90@stir.ac.uk::2cebf13b-e4a2-47d7-afd7-2a71264552b7" providerId="AD" clId="Web-{506B099F-37AD-4060-8083-851FC7399DCF}" dt="2025-02-24T11:36:48.578" v="446" actId="20577"/>
      <pc:docMkLst>
        <pc:docMk/>
      </pc:docMkLst>
      <pc:sldChg chg="modSp">
        <pc:chgData name="Sandy Brownlee" userId="S::ab90@stir.ac.uk::2cebf13b-e4a2-47d7-afd7-2a71264552b7" providerId="AD" clId="Web-{506B099F-37AD-4060-8083-851FC7399DCF}" dt="2025-02-24T11:36:48.578" v="446" actId="20577"/>
        <pc:sldMkLst>
          <pc:docMk/>
          <pc:sldMk cId="1501710403" sldId="256"/>
        </pc:sldMkLst>
        <pc:spChg chg="mod">
          <ac:chgData name="Sandy Brownlee" userId="S::ab90@stir.ac.uk::2cebf13b-e4a2-47d7-afd7-2a71264552b7" providerId="AD" clId="Web-{506B099F-37AD-4060-8083-851FC7399DCF}" dt="2025-02-24T11:32:07.552" v="379" actId="20577"/>
          <ac:spMkLst>
            <pc:docMk/>
            <pc:sldMk cId="1501710403" sldId="256"/>
            <ac:spMk id="6" creationId="{8AF6D823-6DA6-9959-0DCB-CCA6AD2DD76E}"/>
          </ac:spMkLst>
        </pc:spChg>
        <pc:spChg chg="mod">
          <ac:chgData name="Sandy Brownlee" userId="S::ab90@stir.ac.uk::2cebf13b-e4a2-47d7-afd7-2a71264552b7" providerId="AD" clId="Web-{506B099F-37AD-4060-8083-851FC7399DCF}" dt="2025-02-24T11:36:48.578" v="446" actId="20577"/>
          <ac:spMkLst>
            <pc:docMk/>
            <pc:sldMk cId="1501710403" sldId="256"/>
            <ac:spMk id="8" creationId="{53F18AD2-7D7C-86A1-617F-5ED4C88C525F}"/>
          </ac:spMkLst>
        </pc:spChg>
        <pc:graphicFrameChg chg="mod">
          <ac:chgData name="Sandy Brownlee" userId="S::ab90@stir.ac.uk::2cebf13b-e4a2-47d7-afd7-2a71264552b7" providerId="AD" clId="Web-{506B099F-37AD-4060-8083-851FC7399DCF}" dt="2025-02-24T11:31:51.052" v="368" actId="1076"/>
          <ac:graphicFrameMkLst>
            <pc:docMk/>
            <pc:sldMk cId="1501710403" sldId="256"/>
            <ac:graphicFrameMk id="2" creationId="{50697821-56EE-B522-2650-CAC52B000E80}"/>
          </ac:graphicFrameMkLst>
        </pc:graphicFrameChg>
        <pc:graphicFrameChg chg="mod modGraphic">
          <ac:chgData name="Sandy Brownlee" userId="S::ab90@stir.ac.uk::2cebf13b-e4a2-47d7-afd7-2a71264552b7" providerId="AD" clId="Web-{506B099F-37AD-4060-8083-851FC7399DCF}" dt="2025-02-24T11:32:03.083" v="376"/>
          <ac:graphicFrameMkLst>
            <pc:docMk/>
            <pc:sldMk cId="1501710403" sldId="256"/>
            <ac:graphicFrameMk id="4" creationId="{5C505450-C5E0-1B5C-6748-4D78433A1E86}"/>
          </ac:graphicFrameMkLst>
        </pc:graphicFrameChg>
      </pc:sldChg>
      <pc:sldChg chg="addSp modSp">
        <pc:chgData name="Sandy Brownlee" userId="S::ab90@stir.ac.uk::2cebf13b-e4a2-47d7-afd7-2a71264552b7" providerId="AD" clId="Web-{506B099F-37AD-4060-8083-851FC7399DCF}" dt="2025-02-24T11:36:22.109" v="436" actId="20577"/>
        <pc:sldMkLst>
          <pc:docMk/>
          <pc:sldMk cId="16987582" sldId="257"/>
        </pc:sldMkLst>
        <pc:spChg chg="add mod">
          <ac:chgData name="Sandy Brownlee" userId="S::ab90@stir.ac.uk::2cebf13b-e4a2-47d7-afd7-2a71264552b7" providerId="AD" clId="Web-{506B099F-37AD-4060-8083-851FC7399DCF}" dt="2025-02-24T11:35:50.139" v="432" actId="20577"/>
          <ac:spMkLst>
            <pc:docMk/>
            <pc:sldMk cId="16987582" sldId="257"/>
            <ac:spMk id="3" creationId="{483CDE9C-72DC-E883-E910-51206EB5A594}"/>
          </ac:spMkLst>
        </pc:spChg>
        <pc:spChg chg="mod">
          <ac:chgData name="Sandy Brownlee" userId="S::ab90@stir.ac.uk::2cebf13b-e4a2-47d7-afd7-2a71264552b7" providerId="AD" clId="Web-{506B099F-37AD-4060-8083-851FC7399DCF}" dt="2025-02-24T11:35:34.232" v="428" actId="20577"/>
          <ac:spMkLst>
            <pc:docMk/>
            <pc:sldMk cId="16987582" sldId="257"/>
            <ac:spMk id="6" creationId="{8AF6D823-6DA6-9959-0DCB-CCA6AD2DD76E}"/>
          </ac:spMkLst>
        </pc:spChg>
        <pc:spChg chg="mod">
          <ac:chgData name="Sandy Brownlee" userId="S::ab90@stir.ac.uk::2cebf13b-e4a2-47d7-afd7-2a71264552b7" providerId="AD" clId="Web-{506B099F-37AD-4060-8083-851FC7399DCF}" dt="2025-02-24T11:36:22.109" v="436" actId="20577"/>
          <ac:spMkLst>
            <pc:docMk/>
            <pc:sldMk cId="16987582" sldId="257"/>
            <ac:spMk id="8" creationId="{53F18AD2-7D7C-86A1-617F-5ED4C88C525F}"/>
          </ac:spMkLst>
        </pc:spChg>
        <pc:spChg chg="mod">
          <ac:chgData name="Sandy Brownlee" userId="S::ab90@stir.ac.uk::2cebf13b-e4a2-47d7-afd7-2a71264552b7" providerId="AD" clId="Web-{506B099F-37AD-4060-8083-851FC7399DCF}" dt="2025-02-24T11:32:21.084" v="381" actId="20577"/>
          <ac:spMkLst>
            <pc:docMk/>
            <pc:sldMk cId="16987582" sldId="257"/>
            <ac:spMk id="9" creationId="{F206284C-0E38-E129-A921-7FCAD4177EEC}"/>
          </ac:spMkLst>
        </pc:spChg>
        <pc:spChg chg="mod">
          <ac:chgData name="Sandy Brownlee" userId="S::ab90@stir.ac.uk::2cebf13b-e4a2-47d7-afd7-2a71264552b7" providerId="AD" clId="Web-{506B099F-37AD-4060-8083-851FC7399DCF}" dt="2025-02-24T11:32:51.913" v="392" actId="14100"/>
          <ac:spMkLst>
            <pc:docMk/>
            <pc:sldMk cId="16987582" sldId="257"/>
            <ac:spMk id="10" creationId="{61114EC5-034B-1ADA-C1F8-62FDCCE2A9A4}"/>
          </ac:spMkLst>
        </pc:spChg>
        <pc:spChg chg="mod">
          <ac:chgData name="Sandy Brownlee" userId="S::ab90@stir.ac.uk::2cebf13b-e4a2-47d7-afd7-2a71264552b7" providerId="AD" clId="Web-{506B099F-37AD-4060-8083-851FC7399DCF}" dt="2025-02-24T11:32:55.726" v="393" actId="14100"/>
          <ac:spMkLst>
            <pc:docMk/>
            <pc:sldMk cId="16987582" sldId="257"/>
            <ac:spMk id="12" creationId="{6DA0385D-A5DD-C169-AF26-24FFB0DB2E30}"/>
          </ac:spMkLst>
        </pc:spChg>
        <pc:spChg chg="mod">
          <ac:chgData name="Sandy Brownlee" userId="S::ab90@stir.ac.uk::2cebf13b-e4a2-47d7-afd7-2a71264552b7" providerId="AD" clId="Web-{506B099F-37AD-4060-8083-851FC7399DCF}" dt="2025-02-24T11:35:00.715" v="418" actId="1076"/>
          <ac:spMkLst>
            <pc:docMk/>
            <pc:sldMk cId="16987582" sldId="257"/>
            <ac:spMk id="13" creationId="{CA1EAAA5-A1A2-3B0D-12F1-60B2E50A677D}"/>
          </ac:spMkLst>
        </pc:spChg>
        <pc:spChg chg="mod">
          <ac:chgData name="Sandy Brownlee" userId="S::ab90@stir.ac.uk::2cebf13b-e4a2-47d7-afd7-2a71264552b7" providerId="AD" clId="Web-{506B099F-37AD-4060-8083-851FC7399DCF}" dt="2025-02-24T11:32:28.366" v="385" actId="20577"/>
          <ac:spMkLst>
            <pc:docMk/>
            <pc:sldMk cId="16987582" sldId="257"/>
            <ac:spMk id="14" creationId="{720648D2-2C2F-D4B7-A939-01723E5AA434}"/>
          </ac:spMkLst>
        </pc:spChg>
        <pc:spChg chg="mod">
          <ac:chgData name="Sandy Brownlee" userId="S::ab90@stir.ac.uk::2cebf13b-e4a2-47d7-afd7-2a71264552b7" providerId="AD" clId="Web-{506B099F-37AD-4060-8083-851FC7399DCF}" dt="2025-02-24T11:33:02.148" v="394" actId="14100"/>
          <ac:spMkLst>
            <pc:docMk/>
            <pc:sldMk cId="16987582" sldId="257"/>
            <ac:spMk id="16" creationId="{303339E9-D30D-6514-92CD-6CDE78311274}"/>
          </ac:spMkLst>
        </pc:spChg>
        <pc:spChg chg="mod ord">
          <ac:chgData name="Sandy Brownlee" userId="S::ab90@stir.ac.uk::2cebf13b-e4a2-47d7-afd7-2a71264552b7" providerId="AD" clId="Web-{506B099F-37AD-4060-8083-851FC7399DCF}" dt="2025-02-24T11:35:05.340" v="419" actId="14100"/>
          <ac:spMkLst>
            <pc:docMk/>
            <pc:sldMk cId="16987582" sldId="257"/>
            <ac:spMk id="18" creationId="{C388C717-AB61-4AA5-0065-CF8334987466}"/>
          </ac:spMkLst>
        </pc:spChg>
        <pc:spChg chg="mod">
          <ac:chgData name="Sandy Brownlee" userId="S::ab90@stir.ac.uk::2cebf13b-e4a2-47d7-afd7-2a71264552b7" providerId="AD" clId="Web-{506B099F-37AD-4060-8083-851FC7399DCF}" dt="2025-02-24T11:35:10.168" v="420" actId="1076"/>
          <ac:spMkLst>
            <pc:docMk/>
            <pc:sldMk cId="16987582" sldId="257"/>
            <ac:spMk id="20" creationId="{5F922132-ED33-E59C-B714-DBB27B5DF6F8}"/>
          </ac:spMkLst>
        </pc:spChg>
        <pc:spChg chg="mod">
          <ac:chgData name="Sandy Brownlee" userId="S::ab90@stir.ac.uk::2cebf13b-e4a2-47d7-afd7-2a71264552b7" providerId="AD" clId="Web-{506B099F-37AD-4060-8083-851FC7399DCF}" dt="2025-02-24T11:35:18.747" v="422" actId="1076"/>
          <ac:spMkLst>
            <pc:docMk/>
            <pc:sldMk cId="16987582" sldId="257"/>
            <ac:spMk id="22" creationId="{A963A857-22CD-BC85-9293-B211890D5A3A}"/>
          </ac:spMkLst>
        </pc:spChg>
        <pc:graphicFrameChg chg="mod">
          <ac:chgData name="Sandy Brownlee" userId="S::ab90@stir.ac.uk::2cebf13b-e4a2-47d7-afd7-2a71264552b7" providerId="AD" clId="Web-{506B099F-37AD-4060-8083-851FC7399DCF}" dt="2025-02-24T11:35:13.825" v="421" actId="1076"/>
          <ac:graphicFrameMkLst>
            <pc:docMk/>
            <pc:sldMk cId="16987582" sldId="257"/>
            <ac:graphicFrameMk id="2" creationId="{50697821-56EE-B522-2650-CAC52B000E80}"/>
          </ac:graphicFrameMkLst>
        </pc:graphicFrameChg>
        <pc:graphicFrameChg chg="mod modGraphic">
          <ac:chgData name="Sandy Brownlee" userId="S::ab90@stir.ac.uk::2cebf13b-e4a2-47d7-afd7-2a71264552b7" providerId="AD" clId="Web-{506B099F-37AD-4060-8083-851FC7399DCF}" dt="2025-02-24T11:34:48.964" v="416"/>
          <ac:graphicFrameMkLst>
            <pc:docMk/>
            <pc:sldMk cId="16987582" sldId="257"/>
            <ac:graphicFrameMk id="7" creationId="{FBE95B7C-B010-6D30-1BB3-D0BB1817071D}"/>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21/11/2025</a:t>
            </a:fld>
            <a:endParaRPr lang="en-GB"/>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21/11/2025</a:t>
            </a:fld>
            <a:endParaRPr lang="en-GB"/>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5C505450-C5E0-1B5C-6748-4D78433A1E86}"/>
              </a:ext>
            </a:extLst>
          </p:cNvPr>
          <p:cNvGraphicFramePr>
            <a:graphicFrameLocks noGrp="1"/>
          </p:cNvGraphicFramePr>
          <p:nvPr>
            <p:extLst>
              <p:ext uri="{D42A27DB-BD31-4B8C-83A1-F6EECF244321}">
                <p14:modId xmlns:p14="http://schemas.microsoft.com/office/powerpoint/2010/main" val="4100831764"/>
              </p:ext>
            </p:extLst>
          </p:nvPr>
        </p:nvGraphicFramePr>
        <p:xfrm>
          <a:off x="184150" y="2251279"/>
          <a:ext cx="9232900" cy="10370819"/>
        </p:xfrm>
        <a:graphic>
          <a:graphicData uri="http://schemas.openxmlformats.org/drawingml/2006/table">
            <a:tbl>
              <a:tblPr firstRow="1" bandRow="1">
                <a:tableStyleId>{5940675A-B579-460E-94D1-54222C63F5DA}</a:tableStyleId>
              </a:tblPr>
              <a:tblGrid>
                <a:gridCol w="4616450">
                  <a:extLst>
                    <a:ext uri="{9D8B030D-6E8A-4147-A177-3AD203B41FA5}">
                      <a16:colId xmlns:a16="http://schemas.microsoft.com/office/drawing/2014/main" val="2764526960"/>
                    </a:ext>
                  </a:extLst>
                </a:gridCol>
                <a:gridCol w="4616450">
                  <a:extLst>
                    <a:ext uri="{9D8B030D-6E8A-4147-A177-3AD203B41FA5}">
                      <a16:colId xmlns:a16="http://schemas.microsoft.com/office/drawing/2014/main" val="4046254876"/>
                    </a:ext>
                  </a:extLst>
                </a:gridCol>
              </a:tblGrid>
              <a:tr h="3863030">
                <a:tc>
                  <a:txBody>
                    <a:bodyPr/>
                    <a:lstStyle/>
                    <a:p>
                      <a:r>
                        <a:rPr lang="en-GB" sz="2000" dirty="0"/>
                        <a:t>2. Project Methodology</a:t>
                      </a:r>
                    </a:p>
                    <a:p>
                      <a:pPr marL="228600" indent="-228600">
                        <a:buAutoNum type="arabicPeriod"/>
                      </a:pPr>
                      <a:r>
                        <a:rPr lang="en-GB" sz="1000" dirty="0"/>
                        <a:t>List the steps you took to carry out the project</a:t>
                      </a:r>
                    </a:p>
                    <a:p>
                      <a:pPr marL="228600" indent="-228600">
                        <a:buAutoNum type="arabicPeriod"/>
                      </a:pPr>
                      <a:r>
                        <a:rPr lang="en-GB" sz="1000" dirty="0"/>
                        <a:t>Include train/validate/test split and model selection</a:t>
                      </a:r>
                    </a:p>
                    <a:p>
                      <a:pPr marL="228600" indent="-228600">
                        <a:buAutoNum type="arabicPeriod"/>
                      </a:pPr>
                      <a:r>
                        <a:rPr lang="en-GB" sz="1000" dirty="0"/>
                        <a:t>This list should cover ALL the steps in the process</a:t>
                      </a:r>
                    </a:p>
                    <a:p>
                      <a:pPr marL="228600" indent="-228600">
                        <a:buAutoNum type="arabicPeriod"/>
                      </a:pPr>
                      <a:r>
                        <a:rPr lang="en-GB" sz="1000" dirty="0"/>
                        <a:t>…</a:t>
                      </a:r>
                    </a:p>
                    <a:p>
                      <a:pPr marL="228600" indent="-228600">
                        <a:buAutoNum type="arabicPeriod"/>
                      </a:pPr>
                      <a:r>
                        <a:rPr lang="en-GB" sz="1000" dirty="0"/>
                        <a:t>…</a:t>
                      </a:r>
                    </a:p>
                    <a:p>
                      <a:pPr marL="0" indent="0">
                        <a:buNone/>
                      </a:pPr>
                      <a:endParaRPr lang="en-GB" sz="1200" dirty="0"/>
                    </a:p>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4. Data Preparation</a:t>
                      </a:r>
                    </a:p>
                    <a:p>
                      <a:pPr marL="0" indent="0">
                        <a:buNone/>
                      </a:pPr>
                      <a:r>
                        <a:rPr lang="en-GB" sz="1050" dirty="0"/>
                        <a:t>Show two histograms here. One should show the distribution of one variable before it has been cleaned. The other should show the distribution of the same variable after cleaning. Choose a variable that needs to be cleaned!!</a:t>
                      </a:r>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3 Variables/ Data Understanding </a:t>
                      </a:r>
                      <a:endParaRPr lang="en-GB" dirty="0"/>
                    </a:p>
                    <a:p>
                      <a:r>
                        <a:rPr lang="en-GB" sz="1050" dirty="0"/>
                        <a:t>Say which variables you used in your model, and whether you treated then as numeric or categorical. Explain the impact your choices will have on the models you build. You can use a table:</a:t>
                      </a:r>
                    </a:p>
                    <a:p>
                      <a:endParaRPr lang="en-GB" sz="1200" dirty="0"/>
                    </a:p>
                  </a:txBody>
                  <a:tcPr/>
                </a:tc>
                <a:extLst>
                  <a:ext uri="{0D108BD9-81ED-4DB2-BD59-A6C34878D82A}">
                    <a16:rowId xmlns:a16="http://schemas.microsoft.com/office/drawing/2014/main" val="4220087450"/>
                  </a:ext>
                </a:extLst>
              </a:tr>
              <a:tr h="2769141">
                <a:tc grid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5. Model Training and Hyper Parameters</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t>A table showing the different models and hyper parameters you trained, along with the correct metric for each; Add a sentence on how you chose the hyper parameter values. Make sure you name the metric correctly.</a:t>
                      </a:r>
                      <a:endParaRPr lang="en-GB" sz="1050" kern="1200" dirty="0">
                        <a:solidFill>
                          <a:schemeClr val="tx1"/>
                        </a:solidFill>
                        <a:latin typeface="+mn-lt"/>
                        <a:ea typeface="+mn-ea"/>
                        <a:cs typeface="+mn-cs"/>
                      </a:endParaRPr>
                    </a:p>
                  </a:txBody>
                  <a:tcPr/>
                </a:tc>
                <a:tc hMerge="1">
                  <a:txBody>
                    <a:bodyPr/>
                    <a:lstStyle/>
                    <a:p>
                      <a:r>
                        <a:rPr lang="en-GB" dirty="0"/>
                        <a:t>Model Hyper Parameters</a:t>
                      </a:r>
                    </a:p>
                  </a:txBody>
                  <a:tcPr/>
                </a:tc>
                <a:extLst>
                  <a:ext uri="{0D108BD9-81ED-4DB2-BD59-A6C34878D82A}">
                    <a16:rowId xmlns:a16="http://schemas.microsoft.com/office/drawing/2014/main" val="2896326707"/>
                  </a:ext>
                </a:extLst>
              </a:tr>
              <a:tr h="1869324">
                <a:tc row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mn-lt"/>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Say how you chose the final model to test, and how you trained that model.</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Put the confusion matrix here</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t>Explain what the confusion matrix tells us.</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endParaRPr lang="en-GB" dirty="0"/>
                    </a:p>
                  </a:txBody>
                  <a:tcPr/>
                </a:tc>
                <a:tc>
                  <a:txBody>
                    <a:bodyPr/>
                    <a:lstStyle/>
                    <a:p>
                      <a:r>
                        <a:rPr lang="en-GB" sz="2000" dirty="0"/>
                        <a:t>7. Insight about data or models gained</a:t>
                      </a:r>
                      <a:endParaRPr lang="en-GB" sz="1200" dirty="0"/>
                    </a:p>
                    <a:p>
                      <a:endParaRPr lang="en-GB" sz="1200" dirty="0"/>
                    </a:p>
                    <a:p>
                      <a:pPr marL="457200" lvl="0" indent="-457200">
                        <a:buFont typeface="Arial"/>
                        <a:buChar char="•"/>
                      </a:pPr>
                      <a:r>
                        <a:rPr lang="en-GB" sz="1050" b="0" i="0" u="none" strike="noStrike" noProof="0" dirty="0">
                          <a:solidFill>
                            <a:srgbClr val="000000"/>
                          </a:solidFill>
                          <a:latin typeface="Calibri"/>
                        </a:rPr>
                        <a:t>For example, did you learn anything about specific features that drive the model? Is the model biased towards particular groups in the data? Is the model you've chosen good for helping us to understand why particular predictions are made?</a:t>
                      </a:r>
                    </a:p>
                    <a:p>
                      <a:endParaRPr lang="en-GB" sz="1200" dirty="0"/>
                    </a:p>
                    <a:p>
                      <a:endParaRPr lang="en-GB" sz="1200" dirty="0"/>
                    </a:p>
                  </a:txBody>
                  <a:tcPr/>
                </a:tc>
                <a:extLst>
                  <a:ext uri="{0D108BD9-81ED-4DB2-BD59-A6C34878D82A}">
                    <a16:rowId xmlns:a16="http://schemas.microsoft.com/office/drawing/2014/main" val="3680923459"/>
                  </a:ext>
                </a:extLst>
              </a:tr>
              <a:tr h="1869324">
                <a:tc vMerge="1">
                  <a:txBody>
                    <a:bodyPr/>
                    <a:lstStyle/>
                    <a:p>
                      <a:endParaRPr lang="en-GB" dirty="0"/>
                    </a:p>
                  </a:txBody>
                  <a:tcPr/>
                </a:tc>
                <a:tc>
                  <a:txBody>
                    <a:bodyPr/>
                    <a:lstStyle/>
                    <a:p>
                      <a:pPr lvl="0">
                        <a:buNone/>
                      </a:pPr>
                      <a:endParaRPr lang="en-GB" sz="1200" dirty="0"/>
                    </a:p>
                  </a:txBody>
                  <a:tcPr/>
                </a:tc>
                <a:extLst>
                  <a:ext uri="{0D108BD9-81ED-4DB2-BD59-A6C34878D82A}">
                    <a16:rowId xmlns:a16="http://schemas.microsoft.com/office/drawing/2014/main" val="2549638520"/>
                  </a:ext>
                </a:extLst>
              </a:tr>
            </a:tbl>
          </a:graphicData>
        </a:graphic>
      </p:graphicFrame>
      <p:sp>
        <p:nvSpPr>
          <p:cNvPr id="6" name="TextBox 5">
            <a:extLst>
              <a:ext uri="{FF2B5EF4-FFF2-40B4-BE49-F238E27FC236}">
                <a16:creationId xmlns:a16="http://schemas.microsoft.com/office/drawing/2014/main" id="{8AF6D823-6DA6-9959-0DCB-CCA6AD2DD76E}"/>
              </a:ext>
            </a:extLst>
          </p:cNvPr>
          <p:cNvSpPr txBox="1"/>
          <p:nvPr/>
        </p:nvSpPr>
        <p:spPr>
          <a:xfrm>
            <a:off x="5152793" y="11490911"/>
            <a:ext cx="3637442" cy="807913"/>
          </a:xfrm>
          <a:prstGeom prst="rect">
            <a:avLst/>
          </a:prstGeom>
          <a:noFill/>
        </p:spPr>
        <p:txBody>
          <a:bodyPr wrap="square" lIns="91440" tIns="45720" rIns="91440" bIns="45720" rtlCol="0" anchor="t">
            <a:spAutoFit/>
          </a:bodyPr>
          <a:lstStyle/>
          <a:p>
            <a:r>
              <a:rPr lang="en-GB" dirty="0"/>
              <a:t>8. References</a:t>
            </a:r>
          </a:p>
          <a:p>
            <a:r>
              <a:rPr lang="en-GB" sz="1050" b="0" i="0" dirty="0">
                <a:solidFill>
                  <a:srgbClr val="202122"/>
                </a:solidFill>
                <a:effectLst/>
                <a:latin typeface="Arial"/>
                <a:cs typeface="Arial"/>
              </a:rPr>
              <a:t>[1] If you reference any papers or websites, list them here</a:t>
            </a:r>
            <a:endParaRPr lang="en-GB" sz="1200" dirty="0">
              <a:latin typeface="Calibri" panose="020F0502020204030204"/>
              <a:ea typeface="Calibri" panose="020F0502020204030204"/>
              <a:cs typeface="Calibri" panose="020F0502020204030204"/>
            </a:endParaRPr>
          </a:p>
          <a:p>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276969338"/>
              </p:ext>
            </p:extLst>
          </p:nvPr>
        </p:nvGraphicFramePr>
        <p:xfrm>
          <a:off x="358007" y="6934687"/>
          <a:ext cx="5170923" cy="1765300"/>
        </p:xfrm>
        <a:graphic>
          <a:graphicData uri="http://schemas.openxmlformats.org/drawingml/2006/table">
            <a:tbl>
              <a:tblPr firstRow="1" bandRow="1">
                <a:tableStyleId>{5C22544A-7EE6-4342-B048-85BDC9FD1C3A}</a:tableStyleId>
              </a:tblPr>
              <a:tblGrid>
                <a:gridCol w="1723641">
                  <a:extLst>
                    <a:ext uri="{9D8B030D-6E8A-4147-A177-3AD203B41FA5}">
                      <a16:colId xmlns:a16="http://schemas.microsoft.com/office/drawing/2014/main" val="1907166431"/>
                    </a:ext>
                  </a:extLst>
                </a:gridCol>
                <a:gridCol w="2171375">
                  <a:extLst>
                    <a:ext uri="{9D8B030D-6E8A-4147-A177-3AD203B41FA5}">
                      <a16:colId xmlns:a16="http://schemas.microsoft.com/office/drawing/2014/main" val="3484362391"/>
                    </a:ext>
                  </a:extLst>
                </a:gridCol>
                <a:gridCol w="1275907">
                  <a:extLst>
                    <a:ext uri="{9D8B030D-6E8A-4147-A177-3AD203B41FA5}">
                      <a16:colId xmlns:a16="http://schemas.microsoft.com/office/drawing/2014/main" val="326053815"/>
                    </a:ext>
                  </a:extLst>
                </a:gridCol>
              </a:tblGrid>
              <a:tr h="0">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302260">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65430">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4224728883"/>
              </p:ext>
            </p:extLst>
          </p:nvPr>
        </p:nvGraphicFramePr>
        <p:xfrm>
          <a:off x="358007" y="10013788"/>
          <a:ext cx="4178298" cy="1112520"/>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220</a:t>
                      </a:r>
                    </a:p>
                  </a:txBody>
                  <a:tcPr/>
                </a:tc>
                <a:tc>
                  <a:txBody>
                    <a:bodyPr/>
                    <a:lstStyle/>
                    <a:p>
                      <a:r>
                        <a:rPr lang="en-GB" sz="1200" dirty="0"/>
                        <a:t>25</a:t>
                      </a:r>
                    </a:p>
                  </a:txBody>
                  <a:tcPr/>
                </a:tc>
                <a:extLst>
                  <a:ext uri="{0D108BD9-81ED-4DB2-BD59-A6C34878D82A}">
                    <a16:rowId xmlns:a16="http://schemas.microsoft.com/office/drawing/2014/main" val="1186692526"/>
                  </a:ext>
                </a:extLst>
              </a:tr>
              <a:tr h="370840">
                <a:tc>
                  <a:txBody>
                    <a:bodyPr/>
                    <a:lstStyle/>
                    <a:p>
                      <a:r>
                        <a:rPr lang="en-GB" sz="1200" dirty="0"/>
                        <a:t>Bad</a:t>
                      </a:r>
                    </a:p>
                  </a:txBody>
                  <a:tcPr/>
                </a:tc>
                <a:tc>
                  <a:txBody>
                    <a:bodyPr/>
                    <a:lstStyle/>
                    <a:p>
                      <a:r>
                        <a:rPr lang="en-GB" sz="1200" dirty="0"/>
                        <a:t>32</a:t>
                      </a:r>
                    </a:p>
                  </a:txBody>
                  <a:tcPr/>
                </a:tc>
                <a:tc>
                  <a:txBody>
                    <a:bodyPr/>
                    <a:lstStyle/>
                    <a:p>
                      <a:r>
                        <a:rPr lang="en-GB" sz="1200" dirty="0"/>
                        <a:t>195</a:t>
                      </a:r>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2062103"/>
          </a:xfrm>
          <a:prstGeom prst="rect">
            <a:avLst/>
          </a:prstGeom>
          <a:noFill/>
        </p:spPr>
        <p:txBody>
          <a:bodyPr wrap="square" lIns="91440" tIns="45720" rIns="91440" bIns="45720" rtlCol="0" anchor="t">
            <a:spAutoFit/>
          </a:bodyPr>
          <a:lstStyle/>
          <a:p>
            <a:r>
              <a:rPr lang="en-GB" sz="2000" dirty="0"/>
              <a:t>Look at the assignment sheet, you will see there are 8 requirements listed. This template uses the same 8 numbers to show how you might present your work.</a:t>
            </a:r>
          </a:p>
          <a:p>
            <a:r>
              <a:rPr lang="en-GB" sz="2000" dirty="0"/>
              <a:t>You might choose a different layout – that is fine. You may find you need more space in one section and less in another. This is just an example, you should choose your own layout, to suit your results. Obviously, you should remove these instructions!</a:t>
            </a:r>
            <a:endParaRPr lang="en-GB" sz="2000" dirty="0">
              <a:ea typeface="Calibri"/>
              <a:cs typeface="Calibri"/>
            </a:endParaRPr>
          </a:p>
          <a:p>
            <a:r>
              <a:rPr lang="en-GB" sz="2800" dirty="0"/>
              <a:t>CSCU9M5 Assignment 1. Student Number 3344671</a:t>
            </a:r>
            <a:endParaRPr lang="en-GB" sz="2800"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297745608"/>
              </p:ext>
            </p:extLst>
          </p:nvPr>
        </p:nvGraphicFramePr>
        <p:xfrm>
          <a:off x="5153661" y="3317174"/>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3" name="TextBox 12">
            <a:extLst>
              <a:ext uri="{FF2B5EF4-FFF2-40B4-BE49-F238E27FC236}">
                <a16:creationId xmlns:a16="http://schemas.microsoft.com/office/drawing/2014/main" id="{CA1EAAA5-A1A2-3B0D-12F1-60B2E50A677D}"/>
              </a:ext>
            </a:extLst>
          </p:cNvPr>
          <p:cNvSpPr txBox="1"/>
          <p:nvPr/>
        </p:nvSpPr>
        <p:spPr>
          <a:xfrm>
            <a:off x="5830784" y="7243443"/>
            <a:ext cx="3265715" cy="1200329"/>
          </a:xfrm>
          <a:prstGeom prst="rect">
            <a:avLst/>
          </a:prstGeom>
          <a:noFill/>
        </p:spPr>
        <p:txBody>
          <a:bodyPr wrap="square" rtlCol="0">
            <a:spAutoFit/>
          </a:bodyPr>
          <a:lstStyle/>
          <a:p>
            <a:r>
              <a:rPr lang="en-US" dirty="0"/>
              <a:t>Explain here how you chose the hyper parameter settings to explore and how you ran your experiments.</a:t>
            </a:r>
            <a:endParaRPr lang="en-GB" dirty="0"/>
          </a:p>
        </p:txBody>
      </p:sp>
      <p:pic>
        <p:nvPicPr>
          <p:cNvPr id="14" name="Picture 13">
            <a:extLst>
              <a:ext uri="{FF2B5EF4-FFF2-40B4-BE49-F238E27FC236}">
                <a16:creationId xmlns:a16="http://schemas.microsoft.com/office/drawing/2014/main" id="{21EFEC39-9C45-DCE1-3B6E-CBC26EC46146}"/>
              </a:ext>
            </a:extLst>
          </p:cNvPr>
          <p:cNvPicPr>
            <a:picLocks noChangeAspect="1"/>
          </p:cNvPicPr>
          <p:nvPr/>
        </p:nvPicPr>
        <p:blipFill>
          <a:blip r:embed="rId2"/>
          <a:stretch>
            <a:fillRect/>
          </a:stretch>
        </p:blipFill>
        <p:spPr>
          <a:xfrm>
            <a:off x="2438400" y="4429694"/>
            <a:ext cx="2362200" cy="1674976"/>
          </a:xfrm>
          <a:prstGeom prst="rect">
            <a:avLst/>
          </a:prstGeom>
        </p:spPr>
      </p:pic>
      <p:pic>
        <p:nvPicPr>
          <p:cNvPr id="16" name="Picture 15">
            <a:extLst>
              <a:ext uri="{FF2B5EF4-FFF2-40B4-BE49-F238E27FC236}">
                <a16:creationId xmlns:a16="http://schemas.microsoft.com/office/drawing/2014/main" id="{0E3C226F-631E-BF67-79D0-A31373A149E1}"/>
              </a:ext>
            </a:extLst>
          </p:cNvPr>
          <p:cNvPicPr>
            <a:picLocks noChangeAspect="1"/>
          </p:cNvPicPr>
          <p:nvPr/>
        </p:nvPicPr>
        <p:blipFill>
          <a:blip r:embed="rId3"/>
          <a:stretch>
            <a:fillRect/>
          </a:stretch>
        </p:blipFill>
        <p:spPr>
          <a:xfrm>
            <a:off x="184150" y="4429694"/>
            <a:ext cx="2178050" cy="1674976"/>
          </a:xfrm>
          <a:prstGeom prst="rect">
            <a:avLst/>
          </a:prstGeom>
        </p:spPr>
      </p:pic>
    </p:spTree>
    <p:extLst>
      <p:ext uri="{BB962C8B-B14F-4D97-AF65-F5344CB8AC3E}">
        <p14:creationId xmlns:p14="http://schemas.microsoft.com/office/powerpoint/2010/main" val="1501710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C388C717-AB61-4AA5-0065-CF8334987466}"/>
              </a:ext>
            </a:extLst>
          </p:cNvPr>
          <p:cNvSpPr txBox="1"/>
          <p:nvPr/>
        </p:nvSpPr>
        <p:spPr>
          <a:xfrm>
            <a:off x="525101" y="6703042"/>
            <a:ext cx="8848120" cy="2185214"/>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A table showing the different models and hyper parameters you trained, along with the correct metric for each; Add a sentence on how you chose the hyper parameter values. Make sure you name the metric correctly.</a:t>
            </a:r>
            <a:endParaRPr lang="en-US" sz="1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75353" y="8816780"/>
            <a:ext cx="8831538" cy="2015936"/>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Say how you chose the final model to test, and how you trained that model.</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Put the confusion matrix here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AF6D823-6DA6-9959-0DCB-CCA6AD2DD76E}"/>
              </a:ext>
            </a:extLst>
          </p:cNvPr>
          <p:cNvSpPr txBox="1"/>
          <p:nvPr/>
        </p:nvSpPr>
        <p:spPr>
          <a:xfrm>
            <a:off x="540612" y="12021739"/>
            <a:ext cx="4884758" cy="553998"/>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dirty="0"/>
              <a:t>8. References</a:t>
            </a:r>
          </a:p>
          <a:p>
            <a:r>
              <a:rPr lang="en-GB" sz="1200" b="0" i="0" dirty="0">
                <a:solidFill>
                  <a:srgbClr val="202122"/>
                </a:solidFill>
                <a:effectLst/>
                <a:latin typeface="Arial" panose="020B0604020202020204" pitchFamily="34" charset="0"/>
              </a:rPr>
              <a:t>[1] If you reference any papers or websites, list them here</a:t>
            </a:r>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11063398"/>
              </p:ext>
            </p:extLst>
          </p:nvPr>
        </p:nvGraphicFramePr>
        <p:xfrm>
          <a:off x="4775726" y="6931436"/>
          <a:ext cx="4443504" cy="1737360"/>
        </p:xfrm>
        <a:graphic>
          <a:graphicData uri="http://schemas.openxmlformats.org/drawingml/2006/table">
            <a:tbl>
              <a:tblPr firstRow="1" bandRow="1">
                <a:tableStyleId>{5C22544A-7EE6-4342-B048-85BDC9FD1C3A}</a:tableStyleId>
              </a:tblPr>
              <a:tblGrid>
                <a:gridCol w="1481168">
                  <a:extLst>
                    <a:ext uri="{9D8B030D-6E8A-4147-A177-3AD203B41FA5}">
                      <a16:colId xmlns:a16="http://schemas.microsoft.com/office/drawing/2014/main" val="1907166431"/>
                    </a:ext>
                  </a:extLst>
                </a:gridCol>
                <a:gridCol w="1865917">
                  <a:extLst>
                    <a:ext uri="{9D8B030D-6E8A-4147-A177-3AD203B41FA5}">
                      <a16:colId xmlns:a16="http://schemas.microsoft.com/office/drawing/2014/main" val="3484362391"/>
                    </a:ext>
                  </a:extLst>
                </a:gridCol>
                <a:gridCol w="1096419">
                  <a:extLst>
                    <a:ext uri="{9D8B030D-6E8A-4147-A177-3AD203B41FA5}">
                      <a16:colId xmlns:a16="http://schemas.microsoft.com/office/drawing/2014/main" val="326053815"/>
                    </a:ext>
                  </a:extLst>
                </a:gridCol>
              </a:tblGrid>
              <a:tr h="561889">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268174">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42633">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1738814142"/>
              </p:ext>
            </p:extLst>
          </p:nvPr>
        </p:nvGraphicFramePr>
        <p:xfrm>
          <a:off x="589137" y="9555928"/>
          <a:ext cx="4178298" cy="1120548"/>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X</a:t>
                      </a:r>
                    </a:p>
                  </a:txBody>
                  <a:tcPr/>
                </a:tc>
                <a:tc>
                  <a:txBody>
                    <a:bodyPr/>
                    <a:lstStyle/>
                    <a:p>
                      <a:r>
                        <a:rPr lang="en-US" sz="1200" dirty="0"/>
                        <a:t>X</a:t>
                      </a:r>
                      <a:endParaRPr lang="en-GB" sz="1200" dirty="0"/>
                    </a:p>
                  </a:txBody>
                  <a:tcPr/>
                </a:tc>
                <a:extLst>
                  <a:ext uri="{0D108BD9-81ED-4DB2-BD59-A6C34878D82A}">
                    <a16:rowId xmlns:a16="http://schemas.microsoft.com/office/drawing/2014/main" val="1186692526"/>
                  </a:ext>
                </a:extLst>
              </a:tr>
              <a:tr h="378868">
                <a:tc>
                  <a:txBody>
                    <a:bodyPr/>
                    <a:lstStyle/>
                    <a:p>
                      <a:r>
                        <a:rPr lang="en-GB" sz="1200" dirty="0"/>
                        <a:t>Bad</a:t>
                      </a:r>
                    </a:p>
                  </a:txBody>
                  <a:tcPr/>
                </a:tc>
                <a:tc>
                  <a:txBody>
                    <a:bodyPr/>
                    <a:lstStyle/>
                    <a:p>
                      <a:r>
                        <a:rPr lang="en-US" sz="1200" dirty="0"/>
                        <a:t>X</a:t>
                      </a:r>
                      <a:endParaRPr lang="en-GB" sz="1200" dirty="0"/>
                    </a:p>
                  </a:txBody>
                  <a:tcPr/>
                </a:tc>
                <a:tc>
                  <a:txBody>
                    <a:bodyPr/>
                    <a:lstStyle/>
                    <a:p>
                      <a:r>
                        <a:rPr lang="en-US" sz="1200" dirty="0"/>
                        <a:t>X</a:t>
                      </a:r>
                      <a:endParaRPr lang="en-GB" sz="1200" dirty="0"/>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2062103"/>
          </a:xfrm>
          <a:prstGeom prst="rect">
            <a:avLst/>
          </a:prstGeom>
          <a:noFill/>
        </p:spPr>
        <p:txBody>
          <a:bodyPr wrap="square" lIns="91440" tIns="45720" rIns="91440" bIns="45720" rtlCol="0" anchor="t">
            <a:spAutoFit/>
          </a:bodyPr>
          <a:lstStyle/>
          <a:p>
            <a:r>
              <a:rPr lang="en-GB" sz="2000" dirty="0"/>
              <a:t>Look at the assignment sheet, you will see there are 8 requirements listed. This template uses the same 8 numbers to show how you might present your work.</a:t>
            </a:r>
          </a:p>
          <a:p>
            <a:r>
              <a:rPr lang="en-GB" sz="2000" dirty="0"/>
              <a:t>You might choose a different layout – that is fine. You may find you need more space in one section and less in another. This is just an example, you should choose your own layout, to suit your results. Obviously, you should remove these instructions!</a:t>
            </a:r>
          </a:p>
          <a:p>
            <a:r>
              <a:rPr lang="en-GB" sz="2800"/>
              <a:t>CSCU9M5 </a:t>
            </a:r>
            <a:r>
              <a:rPr lang="en-GB" sz="2800" dirty="0"/>
              <a:t>Assignment 1. Student Number </a:t>
            </a:r>
            <a:r>
              <a:rPr lang="en-GB" sz="2800" dirty="0" err="1"/>
              <a:t>xxxxxx</a:t>
            </a:r>
            <a:endParaRPr lang="en-GB" sz="2800"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2191066046"/>
              </p:ext>
            </p:extLst>
          </p:nvPr>
        </p:nvGraphicFramePr>
        <p:xfrm>
          <a:off x="4882290" y="4139057"/>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130744" y="5656129"/>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6841409" y="565612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1291458" y="7603951"/>
            <a:ext cx="2320660" cy="830997"/>
          </a:xfrm>
          <a:prstGeom prst="rect">
            <a:avLst/>
          </a:prstGeom>
          <a:noFill/>
          <a:ln w="38100">
            <a:noFill/>
          </a:ln>
        </p:spPr>
        <p:txBody>
          <a:bodyPr wrap="square" rtlCol="0">
            <a:spAutoFit/>
          </a:bodyPr>
          <a:lstStyle/>
          <a:p>
            <a:r>
              <a:rPr lang="en-US" sz="1200" dirty="0">
                <a:solidFill>
                  <a:prstClr val="black"/>
                </a:solidFill>
                <a:latin typeface="Calibri" panose="020F0502020204030204"/>
              </a:rPr>
              <a:t>Explain here how you chose the hyper parameter settings to explore and how you ran your experiments.</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540612" y="2448689"/>
            <a:ext cx="3830021" cy="2870016"/>
          </a:xfrm>
          <a:prstGeom prst="rect">
            <a:avLst/>
          </a:prstGeom>
          <a:noFill/>
          <a:ln w="38100">
            <a:solidFill>
              <a:schemeClr val="accent1">
                <a:lumMod val="60000"/>
                <a:lumOff val="40000"/>
              </a:schemeClr>
            </a:solidFill>
          </a:ln>
        </p:spPr>
        <p:txBody>
          <a:bodyPr wrap="square" lIns="91440" tIns="45720" rIns="91440" bIns="45720" anchor="t">
            <a:spAutoFit/>
          </a:bodyPr>
          <a:lstStyle/>
          <a:p>
            <a:r>
              <a:rPr lang="en-GB" sz="2000" dirty="0"/>
              <a:t>2. Project Methodology</a:t>
            </a:r>
          </a:p>
          <a:p>
            <a:pPr marL="228600" indent="-228600">
              <a:buAutoNum type="arabicPeriod"/>
            </a:pPr>
            <a:r>
              <a:rPr lang="en-GB" sz="1050" dirty="0"/>
              <a:t>List the steps you took to carry out the project</a:t>
            </a:r>
            <a:endParaRPr lang="en-GB" sz="1050" dirty="0">
              <a:ea typeface="Calibri"/>
              <a:cs typeface="Calibri"/>
            </a:endParaRPr>
          </a:p>
          <a:p>
            <a:pPr marL="228600" indent="-228600">
              <a:buAutoNum type="arabicPeriod"/>
            </a:pPr>
            <a:r>
              <a:rPr lang="en-GB" sz="1050" dirty="0"/>
              <a:t>Include train/validate/test split and model selection</a:t>
            </a:r>
            <a:endParaRPr lang="en-GB" sz="1050" dirty="0">
              <a:ea typeface="Calibri"/>
              <a:cs typeface="Calibri"/>
            </a:endParaRPr>
          </a:p>
          <a:p>
            <a:pPr marL="228600" indent="-228600">
              <a:buAutoNum type="arabicPeriod"/>
            </a:pPr>
            <a:r>
              <a:rPr lang="en-GB" sz="1050" dirty="0"/>
              <a:t>This list should cover ALL the steps in the process</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sp>
        <p:nvSpPr>
          <p:cNvPr id="14" name="TextBox 13">
            <a:extLst>
              <a:ext uri="{FF2B5EF4-FFF2-40B4-BE49-F238E27FC236}">
                <a16:creationId xmlns:a16="http://schemas.microsoft.com/office/drawing/2014/main" id="{720648D2-2C2F-D4B7-A939-01723E5AA434}"/>
              </a:ext>
            </a:extLst>
          </p:cNvPr>
          <p:cNvSpPr txBox="1"/>
          <p:nvPr/>
        </p:nvSpPr>
        <p:spPr>
          <a:xfrm>
            <a:off x="4569655" y="2448689"/>
            <a:ext cx="4803568" cy="2769989"/>
          </a:xfrm>
          <a:prstGeom prst="rect">
            <a:avLst/>
          </a:prstGeom>
          <a:noFill/>
          <a:ln w="38100">
            <a:solidFill>
              <a:schemeClr val="accent1">
                <a:lumMod val="60000"/>
                <a:lumOff val="40000"/>
              </a:schemeClr>
            </a:solidFill>
          </a:ln>
        </p:spPr>
        <p:txBody>
          <a:bodyPr wrap="square" lIns="91440" tIns="45720" rIns="91440" bIns="45720" anchor="t">
            <a:spAutoFit/>
          </a:bodyPr>
          <a:lstStyle/>
          <a:p>
            <a:pPr lvl="0" defTabSz="1706910">
              <a:defRPr/>
            </a:pPr>
            <a:r>
              <a:rPr lang="en-GB" sz="2000" dirty="0"/>
              <a:t>3 Variables/ Data Understanding </a:t>
            </a:r>
            <a:endParaRPr lang="en-GB" sz="1000" dirty="0">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numeric3 Variables</a:t>
            </a:r>
            <a:endParaRPr lang="en-GB" sz="100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r>
              <a:rPr lang="en-GB" sz="1000" dirty="0">
                <a:solidFill>
                  <a:prstClr val="black"/>
                </a:solidFill>
                <a:latin typeface="Calibri" panose="020F0502020204030204"/>
              </a:rPr>
              <a:t>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p:txBody>
      </p:sp>
      <p:sp>
        <p:nvSpPr>
          <p:cNvPr id="16" name="TextBox 15">
            <a:extLst>
              <a:ext uri="{FF2B5EF4-FFF2-40B4-BE49-F238E27FC236}">
                <a16:creationId xmlns:a16="http://schemas.microsoft.com/office/drawing/2014/main" id="{303339E9-D30D-6514-92CD-6CDE78311274}"/>
              </a:ext>
            </a:extLst>
          </p:cNvPr>
          <p:cNvSpPr txBox="1"/>
          <p:nvPr/>
        </p:nvSpPr>
        <p:spPr>
          <a:xfrm>
            <a:off x="525101" y="5538821"/>
            <a:ext cx="8848121" cy="104644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Show two histograms here. One should show the distribution of one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variable before it has been cleaned. The other should show the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distribution of the same variable after cleaning. Choose a variable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that needs to be cleaned!!</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22" name="TextBox 21">
            <a:extLst>
              <a:ext uri="{FF2B5EF4-FFF2-40B4-BE49-F238E27FC236}">
                <a16:creationId xmlns:a16="http://schemas.microsoft.com/office/drawing/2014/main" id="{A963A857-22CD-BC85-9293-B211890D5A3A}"/>
              </a:ext>
            </a:extLst>
          </p:cNvPr>
          <p:cNvSpPr txBox="1"/>
          <p:nvPr/>
        </p:nvSpPr>
        <p:spPr>
          <a:xfrm>
            <a:off x="4914384" y="9812406"/>
            <a:ext cx="4178298" cy="253916"/>
          </a:xfrm>
          <a:prstGeom prst="rect">
            <a:avLst/>
          </a:prstGeom>
          <a:noFill/>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Explain what the confusion matrix tells us.</a:t>
            </a:r>
          </a:p>
        </p:txBody>
      </p:sp>
      <p:sp>
        <p:nvSpPr>
          <p:cNvPr id="3" name="TextBox 2">
            <a:extLst>
              <a:ext uri="{FF2B5EF4-FFF2-40B4-BE49-F238E27FC236}">
                <a16:creationId xmlns:a16="http://schemas.microsoft.com/office/drawing/2014/main" id="{483CDE9C-72DC-E883-E910-51206EB5A594}"/>
              </a:ext>
            </a:extLst>
          </p:cNvPr>
          <p:cNvSpPr txBox="1"/>
          <p:nvPr/>
        </p:nvSpPr>
        <p:spPr>
          <a:xfrm>
            <a:off x="524029" y="10977048"/>
            <a:ext cx="8847947" cy="92333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778572B-7D4E-4A33-82E0-6D91E9A8F67C}">
  <ds:schemaRefs>
    <ds:schemaRef ds:uri="http://schemas.microsoft.com/sharepoint/v3/contenttype/form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2607</TotalTime>
  <Words>916</Words>
  <Application>Microsoft Office PowerPoint</Application>
  <PresentationFormat>A3 Paper (297x420 mm)</PresentationFormat>
  <Paragraphs>156</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Arial,Sans-Serif</vt:lpstr>
      <vt:lpstr>Calibri</vt:lpstr>
      <vt:lpstr>Calibri Light</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Muniir Ahmed</cp:lastModifiedBy>
  <cp:revision>70</cp:revision>
  <dcterms:created xsi:type="dcterms:W3CDTF">2022-12-31T18:26:39Z</dcterms:created>
  <dcterms:modified xsi:type="dcterms:W3CDTF">2025-11-21T19:26:36Z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