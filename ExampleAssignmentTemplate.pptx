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5874" autoAdjust="0"/>
  </p:normalViewPr>
  <p:slideViewPr>
    <p:cSldViewPr snapToGrid="0">
      <p:cViewPr>
        <p:scale>
          <a:sx n="130" d="100"/>
          <a:sy n="130" d="100"/>
        </p:scale>
        <p:origin x="-3144" y="-34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28/11/2025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2966443079"/>
              </p:ext>
            </p:extLst>
          </p:nvPr>
        </p:nvGraphicFramePr>
        <p:xfrm>
          <a:off x="212538" y="640569"/>
          <a:ext cx="9235515" cy="11989212"/>
        </p:xfrm>
        <a:graphic>
          <a:graphicData uri="http://schemas.openxmlformats.org/drawingml/2006/table">
            <a:tbl>
              <a:tblPr firstRow="1" bandRow="1">
                <a:tableStyleId>{5940675A-B579-460E-94D1-54222C63F5DA}</a:tableStyleId>
              </a:tblPr>
              <a:tblGrid>
                <a:gridCol w="4619065">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4422933">
                <a:tc>
                  <a:txBody>
                    <a:bodyPr/>
                    <a:lstStyle/>
                    <a:p>
                      <a:r>
                        <a:rPr lang="en-GB" sz="2000" dirty="0">
                          <a:latin typeface="Times New Roman" panose="02020603050405020304" pitchFamily="18" charset="0"/>
                          <a:cs typeface="Times New Roman" panose="02020603050405020304" pitchFamily="18" charset="0"/>
                        </a:rPr>
                        <a:t>2</a:t>
                      </a:r>
                      <a:r>
                        <a:rPr lang="en-GB" sz="1800" dirty="0">
                          <a:latin typeface="Times New Roman" panose="02020603050405020304" pitchFamily="18" charset="0"/>
                          <a:cs typeface="Times New Roman" panose="02020603050405020304" pitchFamily="18" charset="0"/>
                        </a:rPr>
                        <a:t>. Project Methodology</a:t>
                      </a:r>
                    </a:p>
                    <a:p>
                      <a:pPr marL="228600" indent="-228600">
                        <a:buAutoNum type="arabicPeriod"/>
                      </a:pPr>
                      <a:r>
                        <a:rPr lang="en-GB" sz="900" dirty="0">
                          <a:latin typeface="Times New Roman" panose="02020603050405020304" pitchFamily="18" charset="0"/>
                          <a:cs typeface="Times New Roman" panose="02020603050405020304" pitchFamily="18" charset="0"/>
                        </a:rPr>
                        <a:t>Loaded dataset into Orange and identified feature types numerical/categorical and looked for missing, outliers and errors in the data</a:t>
                      </a:r>
                    </a:p>
                    <a:p>
                      <a:pPr marL="228600" indent="-228600">
                        <a:buAutoNum type="arabicPeriod"/>
                      </a:pPr>
                      <a:r>
                        <a:rPr lang="en-GB" sz="900" dirty="0">
                          <a:latin typeface="Times New Roman" panose="02020603050405020304" pitchFamily="18" charset="0"/>
                          <a:cs typeface="Times New Roman" panose="02020603050405020304" pitchFamily="18" charset="0"/>
                        </a:rPr>
                        <a:t>Removed one extreme ISI outlier. Inspected remaining data and confirmed no issues. </a:t>
                      </a:r>
                    </a:p>
                    <a:p>
                      <a:pPr marL="228600" indent="-228600">
                        <a:buAutoNum type="arabicPeriod"/>
                      </a:pPr>
                      <a:r>
                        <a:rPr lang="en-GB" sz="900" dirty="0">
                          <a:latin typeface="Times New Roman" panose="02020603050405020304" pitchFamily="18" charset="0"/>
                          <a:cs typeface="Times New Roman" panose="02020603050405020304" pitchFamily="18" charset="0"/>
                        </a:rPr>
                        <a:t>Features X and Y changed to categorical as Orange assigned numerical by default</a:t>
                      </a:r>
                    </a:p>
                    <a:p>
                      <a:pPr marL="228600" indent="-228600">
                        <a:buAutoNum type="arabicPeriod"/>
                      </a:pPr>
                      <a:r>
                        <a:rPr lang="en-GB" sz="900" dirty="0">
                          <a:latin typeface="Times New Roman" panose="02020603050405020304" pitchFamily="18" charset="0"/>
                          <a:cs typeface="Times New Roman" panose="02020603050405020304" pitchFamily="18" charset="0"/>
                        </a:rPr>
                        <a:t>Split data into 70% training, 15% validation and 15% test data. </a:t>
                      </a:r>
                    </a:p>
                    <a:p>
                      <a:pPr marL="228600" indent="-228600">
                        <a:buAutoNum type="arabicPeriod"/>
                      </a:pPr>
                      <a:r>
                        <a:rPr lang="en-GB" sz="900" dirty="0">
                          <a:latin typeface="Times New Roman" panose="02020603050405020304" pitchFamily="18" charset="0"/>
                          <a:cs typeface="Times New Roman" panose="02020603050405020304" pitchFamily="18" charset="0"/>
                        </a:rPr>
                        <a:t>Trained 6 models, Random Forest, Gradient Boosting, Logistic Regression, KNN, Neural Networks and Decision Trees, on the 70% training data. </a:t>
                      </a:r>
                    </a:p>
                    <a:p>
                      <a:pPr marL="228600" indent="-228600">
                        <a:buAutoNum type="arabicPeriod"/>
                      </a:pPr>
                      <a:r>
                        <a:rPr lang="en-GB" sz="900" dirty="0">
                          <a:latin typeface="Times New Roman" panose="02020603050405020304" pitchFamily="18" charset="0"/>
                          <a:cs typeface="Times New Roman" panose="02020603050405020304" pitchFamily="18" charset="0"/>
                        </a:rPr>
                        <a:t>Tested against the validation data and tuned hyperparameters.</a:t>
                      </a:r>
                    </a:p>
                    <a:p>
                      <a:pPr marL="228600" indent="-228600">
                        <a:buAutoNum type="arabicPeriod"/>
                      </a:pPr>
                      <a:r>
                        <a:rPr lang="en-GB" sz="900" dirty="0">
                          <a:latin typeface="Times New Roman" panose="02020603050405020304" pitchFamily="18" charset="0"/>
                          <a:cs typeface="Times New Roman" panose="02020603050405020304" pitchFamily="18" charset="0"/>
                        </a:rPr>
                        <a:t>Selected Gradient Boosting as it achieved the best validation score for CA and F1. Recorded the validation scores for each model to a table.</a:t>
                      </a:r>
                    </a:p>
                    <a:p>
                      <a:pPr marL="228600" indent="-228600">
                        <a:buAutoNum type="arabicPeriod"/>
                      </a:pPr>
                      <a:r>
                        <a:rPr lang="en-GB" sz="900" dirty="0">
                          <a:latin typeface="Times New Roman" panose="02020603050405020304" pitchFamily="18" charset="0"/>
                          <a:cs typeface="Times New Roman" panose="02020603050405020304" pitchFamily="18" charset="0"/>
                        </a:rPr>
                        <a:t>Retrained the selected model on to the training data.</a:t>
                      </a:r>
                    </a:p>
                    <a:p>
                      <a:pPr marL="228600" indent="-228600">
                        <a:buAutoNum type="arabicPeriod"/>
                      </a:pPr>
                      <a:r>
                        <a:rPr lang="en-GB" sz="900" dirty="0">
                          <a:latin typeface="Times New Roman" panose="02020603050405020304" pitchFamily="18" charset="0"/>
                          <a:cs typeface="Times New Roman" panose="02020603050405020304" pitchFamily="18" charset="0"/>
                        </a:rPr>
                        <a:t>Tested the selected model against the test data and got the confusion matrix</a:t>
                      </a:r>
                    </a:p>
                    <a:p>
                      <a:pPr marL="228600" indent="-228600">
                        <a:buAutoNum type="arabicPeriod"/>
                      </a:pPr>
                      <a:r>
                        <a:rPr lang="en-GB" sz="900" dirty="0">
                          <a:latin typeface="Times New Roman" panose="02020603050405020304" pitchFamily="18" charset="0"/>
                          <a:cs typeface="Times New Roman" panose="02020603050405020304" pitchFamily="18" charset="0"/>
                        </a:rPr>
                        <a:t>Ranked features for their importance and checked for bias using the confusion matrix.</a:t>
                      </a:r>
                      <a:endParaRPr lang="en-GB" sz="1200" dirty="0">
                        <a:latin typeface="Times New Roman" panose="02020603050405020304" pitchFamily="18" charset="0"/>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800" kern="1200" dirty="0">
                          <a:solidFill>
                            <a:schemeClr val="tx1"/>
                          </a:solidFill>
                          <a:latin typeface="Times New Roman" panose="02020603050405020304" pitchFamily="18" charset="0"/>
                          <a:ea typeface="+mn-ea"/>
                          <a:cs typeface="Times New Roman" panose="02020603050405020304" pitchFamily="18" charset="0"/>
                        </a:rPr>
                        <a:t>4. Data Preparation</a:t>
                      </a:r>
                    </a:p>
                    <a:p>
                      <a:pPr marL="0" indent="0">
                        <a:buNone/>
                      </a:pPr>
                      <a:r>
                        <a:rPr lang="en-GB" sz="900" dirty="0">
                          <a:latin typeface="Times New Roman" panose="02020603050405020304" pitchFamily="18" charset="0"/>
                          <a:cs typeface="Times New Roman" panose="02020603050405020304" pitchFamily="18" charset="0"/>
                        </a:rPr>
                        <a:t>In the ISI variable histogram showed there is one extreme outlier far outside the normal range. Removing it helps tree-based models which are sensitive to outliers. The outlier was trimmed using the select rows widget in Orange. Histograms below show the ISI distribution before and after cleaning.</a:t>
                      </a:r>
                    </a:p>
                    <a:p>
                      <a:pPr marL="0" indent="0">
                        <a:buNone/>
                      </a:pPr>
                      <a:endParaRPr lang="en-GB" sz="1200" dirty="0">
                        <a:latin typeface="Times New Roman" panose="02020603050405020304" pitchFamily="18" charset="0"/>
                        <a:cs typeface="Times New Roman" panose="02020603050405020304" pitchFamily="18" charset="0"/>
                      </a:endParaRPr>
                    </a:p>
                    <a:p>
                      <a:pPr marL="0" indent="0">
                        <a:buNone/>
                      </a:pPr>
                      <a:endParaRPr lang="en-GB" sz="1200" dirty="0">
                        <a:latin typeface="Times New Roman" panose="02020603050405020304" pitchFamily="18" charset="0"/>
                        <a:cs typeface="Times New Roman" panose="02020603050405020304" pitchFamily="18" charset="0"/>
                      </a:endParaRPr>
                    </a:p>
                    <a:p>
                      <a:pPr marL="0" indent="0">
                        <a:buNone/>
                      </a:pPr>
                      <a:endParaRPr lang="en-GB" sz="1200" dirty="0">
                        <a:latin typeface="Times New Roman" panose="02020603050405020304" pitchFamily="18" charset="0"/>
                        <a:cs typeface="Times New Roman" panose="02020603050405020304" pitchFamily="18" charset="0"/>
                      </a:endParaRPr>
                    </a:p>
                    <a:p>
                      <a:pPr marL="0" indent="0">
                        <a:buNone/>
                      </a:pPr>
                      <a:endParaRPr lang="en-GB" sz="1200" dirty="0">
                        <a:latin typeface="Times New Roman" panose="02020603050405020304" pitchFamily="18" charset="0"/>
                        <a:cs typeface="Times New Roman" panose="02020603050405020304" pitchFamily="18" charset="0"/>
                      </a:endParaRPr>
                    </a:p>
                    <a:p>
                      <a:pPr marL="0" indent="0">
                        <a:buNone/>
                      </a:pPr>
                      <a:endParaRPr lang="en-GB" sz="1200" dirty="0">
                        <a:latin typeface="Times New Roman" panose="02020603050405020304" pitchFamily="18" charset="0"/>
                        <a:cs typeface="Times New Roman" panose="02020603050405020304" pitchFamily="18" charset="0"/>
                      </a:endParaRP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Times New Roman" panose="02020603050405020304" pitchFamily="18" charset="0"/>
                          <a:ea typeface="+mn-ea"/>
                          <a:cs typeface="Times New Roman" panose="02020603050405020304" pitchFamily="18" charset="0"/>
                        </a:rPr>
                        <a:t>3 Variables/ Data Understanding</a:t>
                      </a:r>
                      <a:endParaRPr lang="en-GB"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20087450"/>
                  </a:ext>
                </a:extLst>
              </a:tr>
              <a:tr h="3170497">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Times New Roman" panose="02020603050405020304" pitchFamily="18" charset="0"/>
                          <a:ea typeface="+mn-ea"/>
                          <a:cs typeface="Times New Roman" panose="02020603050405020304" pitchFamily="18" charset="0"/>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latin typeface="Times New Roman" panose="02020603050405020304" pitchFamily="18" charset="0"/>
                          <a:cs typeface="Times New Roman" panose="02020603050405020304" pitchFamily="18" charset="0"/>
                        </a:rPr>
                        <a:t>This table below is showing the different models and hyper parameters that were </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latin typeface="Times New Roman" panose="02020603050405020304" pitchFamily="18" charset="0"/>
                          <a:cs typeface="Times New Roman" panose="02020603050405020304" pitchFamily="18" charset="0"/>
                        </a:rPr>
                        <a:t>trained, along with the correct metric for each.</a:t>
                      </a:r>
                      <a:endParaRPr lang="en-GB" sz="1050" kern="1200" dirty="0">
                        <a:solidFill>
                          <a:schemeClr val="tx1"/>
                        </a:solidFill>
                        <a:latin typeface="Times New Roman" panose="02020603050405020304" pitchFamily="18" charset="0"/>
                        <a:ea typeface="+mn-ea"/>
                        <a:cs typeface="Times New Roman" panose="02020603050405020304" pitchFamily="18" charset="0"/>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2140262">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latin typeface="Times New Roman" panose="02020603050405020304" pitchFamily="18" charset="0"/>
                          <a:cs typeface="Times New Roman" panose="02020603050405020304" pitchFamily="18" charset="0"/>
                        </a:rPr>
                        <a:t>Gradient Boosting achieved the highest validation score for both F1 score and Classification Accuracy although Random Forest performed better with training data it achieved lower validation accuracy, pointing out that Random Forest is overfitting. For this reason, Gradient Boosting was chosen as the final model.  </a:t>
                      </a: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Below is the confusion metric of the Gradient Boosting model. </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latin typeface="Times New Roman" panose="02020603050405020304" pitchFamily="18" charset="0"/>
                          <a:cs typeface="Times New Roman" panose="02020603050405020304" pitchFamily="18" charset="0"/>
                        </a:rPr>
                        <a:t>The confusion matrix tells us that the model correctly predicts most cases. We have 29 true negatives and 41 true positives which are correct predictions. We also have 7 errors for this model 2 are false positives and 5 false negatives. This means the model predicts that 5 areas which burned more than 4% did not burn which can be cause a safety risk. However, the model performs well with more correct prediction than incorrect predictions on unseen test data. </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endParaRPr lang="en-GB" dirty="0">
                        <a:latin typeface="Times New Roman" panose="02020603050405020304" pitchFamily="18" charset="0"/>
                        <a:cs typeface="Times New Roman" panose="02020603050405020304" pitchFamily="18" charset="0"/>
                      </a:endParaRPr>
                    </a:p>
                  </a:txBody>
                  <a:tcPr/>
                </a:tc>
                <a:tc>
                  <a:txBody>
                    <a:bodyPr/>
                    <a:lstStyle/>
                    <a:p>
                      <a:r>
                        <a:rPr lang="en-GB" sz="2000" dirty="0">
                          <a:latin typeface="Times New Roman" panose="02020603050405020304" pitchFamily="18" charset="0"/>
                          <a:cs typeface="Times New Roman" panose="02020603050405020304" pitchFamily="18" charset="0"/>
                        </a:rPr>
                        <a:t>7. Insight about data or models gained</a:t>
                      </a:r>
                      <a:endParaRPr lang="en-GB" sz="1200" dirty="0">
                        <a:latin typeface="Times New Roman" panose="02020603050405020304" pitchFamily="18" charset="0"/>
                        <a:cs typeface="Times New Roman" panose="02020603050405020304" pitchFamily="18" charset="0"/>
                      </a:endParaRPr>
                    </a:p>
                    <a:p>
                      <a:endParaRPr lang="en-GB" sz="1000" dirty="0">
                        <a:latin typeface="Times New Roman" panose="02020603050405020304" pitchFamily="18" charset="0"/>
                        <a:cs typeface="Times New Roman" panose="02020603050405020304" pitchFamily="18" charset="0"/>
                      </a:endParaRPr>
                    </a:p>
                    <a:p>
                      <a:r>
                        <a:rPr lang="en-GB" sz="1000" dirty="0">
                          <a:latin typeface="Times New Roman" panose="02020603050405020304" pitchFamily="18" charset="0"/>
                          <a:cs typeface="Times New Roman" panose="02020603050405020304" pitchFamily="18" charset="0"/>
                        </a:rPr>
                        <a:t>I learn that tree-based models like Random Forest , Decision Tree and Gradient Boosting outperformed linear models which shows that relationship between features is nonlinear. With ranking importance of features, it is shown that DC, Month, DMC, Y, and Temp are the five most important features. This means drought conditions, seasonal patterns and location are important indicators of fire. The model seems unbiased between the classes as the confusion matrix showed it had five false negatives and two positive negatives which does not suggest that this model favours one more than the other. It is important to note that in this case false negatives, 5, represent areas which burned more than 4% which are incorrectly predicted. This could mean areas with higher fire risk identified safe. </a:t>
                      </a:r>
                    </a:p>
                    <a:p>
                      <a:endParaRPr lang="en-GB" sz="12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80923459"/>
                  </a:ext>
                </a:extLst>
              </a:tr>
              <a:tr h="2140262">
                <a:tc vMerge="1">
                  <a:txBody>
                    <a:bodyPr/>
                    <a:lstStyle/>
                    <a:p>
                      <a:endParaRPr lang="en-GB" dirty="0"/>
                    </a:p>
                  </a:txBody>
                  <a:tcPr/>
                </a:tc>
                <a:tc>
                  <a:txBody>
                    <a:bodyPr/>
                    <a:lstStyle/>
                    <a:p>
                      <a:pPr lvl="0">
                        <a:buNone/>
                      </a:pPr>
                      <a:endParaRPr lang="en-GB" sz="12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4939741" y="10673247"/>
            <a:ext cx="4385410" cy="1200329"/>
          </a:xfrm>
          <a:prstGeom prst="rect">
            <a:avLst/>
          </a:prstGeom>
          <a:noFill/>
        </p:spPr>
        <p:txBody>
          <a:bodyPr wrap="square" lIns="91440" tIns="45720" rIns="91440" bIns="45720" rtlCol="0" anchor="t">
            <a:spAutoFit/>
          </a:bodyPr>
          <a:lstStyle/>
          <a:p>
            <a:r>
              <a:rPr lang="en-GB" sz="900" dirty="0">
                <a:latin typeface="Times New Roman" panose="02020603050405020304" pitchFamily="18" charset="0"/>
                <a:cs typeface="Times New Roman" panose="02020603050405020304" pitchFamily="18" charset="0"/>
              </a:rPr>
              <a:t>Brownlee, J. (2020) ‘How to choose a feature selection method for machine learning’, </a:t>
            </a:r>
            <a:r>
              <a:rPr lang="en-GB" sz="900" i="1" dirty="0">
                <a:latin typeface="Times New Roman" panose="02020603050405020304" pitchFamily="18" charset="0"/>
                <a:cs typeface="Times New Roman" panose="02020603050405020304" pitchFamily="18" charset="0"/>
              </a:rPr>
              <a:t>MachineLearningMastery.com</a:t>
            </a:r>
            <a:r>
              <a:rPr lang="en-GB" sz="900" dirty="0">
                <a:latin typeface="Times New Roman" panose="02020603050405020304" pitchFamily="18" charset="0"/>
                <a:cs typeface="Times New Roman" panose="02020603050405020304" pitchFamily="18" charset="0"/>
              </a:rPr>
              <a:t>, 20 August. Available at: https://machinelearningmastery.com/feature-selection-with-real-and-categorical-data/ (Accessed: 28 November 2025). </a:t>
            </a:r>
          </a:p>
          <a:p>
            <a:r>
              <a:rPr lang="en-GB" sz="900" dirty="0">
                <a:latin typeface="Times New Roman" panose="02020603050405020304" pitchFamily="18" charset="0"/>
                <a:cs typeface="Times New Roman" panose="02020603050405020304" pitchFamily="18" charset="0"/>
              </a:rPr>
              <a:t>Chen, F. et al. (2014) ‘The impact of precipitation regimes on forest fires in Yunnan Province, Southwest China’, </a:t>
            </a:r>
            <a:r>
              <a:rPr lang="en-GB" sz="900" i="1" dirty="0" err="1">
                <a:latin typeface="Times New Roman" panose="02020603050405020304" pitchFamily="18" charset="0"/>
                <a:cs typeface="Times New Roman" panose="02020603050405020304" pitchFamily="18" charset="0"/>
              </a:rPr>
              <a:t>ScientificWorldJournal</a:t>
            </a:r>
            <a:r>
              <a:rPr lang="en-GB" sz="900" dirty="0">
                <a:latin typeface="Times New Roman" panose="02020603050405020304" pitchFamily="18" charset="0"/>
                <a:cs typeface="Times New Roman" panose="02020603050405020304" pitchFamily="18" charset="0"/>
              </a:rPr>
              <a:t>, 2014, Article ID 326782. Available at: https://pmc.ncbi.nlm.nih.gov/articles/PMC4163318/ (Accessed: 28 November 2025).</a:t>
            </a:r>
          </a:p>
          <a:p>
            <a:endParaRPr lang="en-GB" sz="900" dirty="0">
              <a:latin typeface="Times New Roman" panose="02020603050405020304" pitchFamily="18" charset="0"/>
              <a:cs typeface="Times New Roman" panose="02020603050405020304" pitchFamily="18" charset="0"/>
            </a:endParaRPr>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539695108"/>
              </p:ext>
            </p:extLst>
          </p:nvPr>
        </p:nvGraphicFramePr>
        <p:xfrm>
          <a:off x="212539" y="5740076"/>
          <a:ext cx="4588061" cy="2502075"/>
        </p:xfrm>
        <a:graphic>
          <a:graphicData uri="http://schemas.openxmlformats.org/drawingml/2006/table">
            <a:tbl>
              <a:tblPr firstRow="1" bandRow="1">
                <a:tableStyleId>{5C22544A-7EE6-4342-B048-85BDC9FD1C3A}</a:tableStyleId>
              </a:tblPr>
              <a:tblGrid>
                <a:gridCol w="1529354">
                  <a:extLst>
                    <a:ext uri="{9D8B030D-6E8A-4147-A177-3AD203B41FA5}">
                      <a16:colId xmlns:a16="http://schemas.microsoft.com/office/drawing/2014/main" val="1907166431"/>
                    </a:ext>
                  </a:extLst>
                </a:gridCol>
                <a:gridCol w="1926620">
                  <a:extLst>
                    <a:ext uri="{9D8B030D-6E8A-4147-A177-3AD203B41FA5}">
                      <a16:colId xmlns:a16="http://schemas.microsoft.com/office/drawing/2014/main" val="3484362391"/>
                    </a:ext>
                  </a:extLst>
                </a:gridCol>
                <a:gridCol w="1132087">
                  <a:extLst>
                    <a:ext uri="{9D8B030D-6E8A-4147-A177-3AD203B41FA5}">
                      <a16:colId xmlns:a16="http://schemas.microsoft.com/office/drawing/2014/main" val="326053815"/>
                    </a:ext>
                  </a:extLst>
                </a:gridCol>
              </a:tblGrid>
              <a:tr h="207370">
                <a:tc>
                  <a:txBody>
                    <a:bodyPr/>
                    <a:lstStyle/>
                    <a:p>
                      <a:r>
                        <a:rPr lang="en-GB" sz="800" b="0" dirty="0">
                          <a:latin typeface="Times New Roman" panose="02020603050405020304" pitchFamily="18" charset="0"/>
                          <a:cs typeface="Times New Roman" panose="02020603050405020304" pitchFamily="18" charset="0"/>
                        </a:rPr>
                        <a:t>Model</a:t>
                      </a:r>
                    </a:p>
                  </a:txBody>
                  <a:tcPr/>
                </a:tc>
                <a:tc>
                  <a:txBody>
                    <a:bodyPr/>
                    <a:lstStyle/>
                    <a:p>
                      <a:r>
                        <a:rPr lang="en-GB" sz="800" b="0" dirty="0">
                          <a:latin typeface="Times New Roman" panose="02020603050405020304" pitchFamily="18" charset="0"/>
                          <a:cs typeface="Times New Roman" panose="02020603050405020304" pitchFamily="18" charset="0"/>
                        </a:rPr>
                        <a:t>Hyper Parameters</a:t>
                      </a:r>
                    </a:p>
                  </a:txBody>
                  <a:tcPr/>
                </a:tc>
                <a:tc>
                  <a:txBody>
                    <a:bodyPr/>
                    <a:lstStyle/>
                    <a:p>
                      <a:r>
                        <a:rPr lang="en-GB" sz="800" b="0" dirty="0">
                          <a:latin typeface="Times New Roman" panose="02020603050405020304" pitchFamily="18" charset="0"/>
                          <a:cs typeface="Times New Roman" panose="02020603050405020304" pitchFamily="18" charset="0"/>
                        </a:rPr>
                        <a:t>Validation Metric</a:t>
                      </a:r>
                    </a:p>
                  </a:txBody>
                  <a:tcPr/>
                </a:tc>
                <a:extLst>
                  <a:ext uri="{0D108BD9-81ED-4DB2-BD59-A6C34878D82A}">
                    <a16:rowId xmlns:a16="http://schemas.microsoft.com/office/drawing/2014/main" val="3158663126"/>
                  </a:ext>
                </a:extLst>
              </a:tr>
              <a:tr h="335749">
                <a:tc>
                  <a:txBody>
                    <a:bodyPr/>
                    <a:lstStyle/>
                    <a:p>
                      <a:r>
                        <a:rPr lang="en-US" sz="800" b="0" dirty="0">
                          <a:latin typeface="Times New Roman" panose="02020603050405020304" pitchFamily="18" charset="0"/>
                          <a:cs typeface="Times New Roman" panose="02020603050405020304" pitchFamily="18" charset="0"/>
                        </a:rPr>
                        <a:t>Random Forest</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150 trees, attributes at each split 5, Do not split subsets smaller than 5</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0.909, F1: 0.909</a:t>
                      </a:r>
                    </a:p>
                    <a:p>
                      <a:endParaRPr lang="en-GB" sz="800" b="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91472538"/>
                  </a:ext>
                </a:extLst>
              </a:tr>
              <a:tr h="444364">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Gradient Boosting </a:t>
                      </a:r>
                    </a:p>
                  </a:txBody>
                  <a:tcPr/>
                </a:tc>
                <a:tc>
                  <a:txBody>
                    <a:bodyPr/>
                    <a:lstStyle/>
                    <a:p>
                      <a:r>
                        <a:rPr lang="en-GB" sz="800" b="0" dirty="0">
                          <a:latin typeface="Times New Roman" panose="02020603050405020304" pitchFamily="18" charset="0"/>
                          <a:cs typeface="Times New Roman" panose="02020603050405020304" pitchFamily="18" charset="0"/>
                        </a:rPr>
                        <a:t>150 trees, 0.1 learning rate, depth limit 3, subsampling 1.00, Do not split subsets smaller than 2</a:t>
                      </a:r>
                    </a:p>
                  </a:txBody>
                  <a:tcPr/>
                </a:tc>
                <a:tc>
                  <a:txBody>
                    <a:bodyPr/>
                    <a:lstStyle/>
                    <a:p>
                      <a:r>
                        <a:rPr lang="en-GB" sz="800" b="0" dirty="0">
                          <a:latin typeface="Times New Roman" panose="02020603050405020304" pitchFamily="18" charset="0"/>
                          <a:cs typeface="Times New Roman" panose="02020603050405020304" pitchFamily="18" charset="0"/>
                        </a:rPr>
                        <a:t>CA: 0.922, F1: 0.922</a:t>
                      </a:r>
                    </a:p>
                  </a:txBody>
                  <a:tcPr/>
                </a:tc>
                <a:extLst>
                  <a:ext uri="{0D108BD9-81ED-4DB2-BD59-A6C34878D82A}">
                    <a16:rowId xmlns:a16="http://schemas.microsoft.com/office/drawing/2014/main" val="3680307176"/>
                  </a:ext>
                </a:extLst>
              </a:tr>
              <a:tr h="444364">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Tree</a:t>
                      </a:r>
                    </a:p>
                  </a:txBody>
                  <a:tcPr/>
                </a:tc>
                <a:tc>
                  <a:txBody>
                    <a:bodyPr/>
                    <a:lstStyle/>
                    <a:p>
                      <a:r>
                        <a:rPr lang="en-GB" sz="800" b="0" dirty="0">
                          <a:latin typeface="Times New Roman" panose="02020603050405020304" pitchFamily="18" charset="0"/>
                          <a:cs typeface="Times New Roman" panose="02020603050405020304" pitchFamily="18" charset="0"/>
                        </a:rPr>
                        <a:t>Do not split subsets smaller than 5, Maximum tree depth 10, Stop when class majority reaches 95%, </a:t>
                      </a:r>
                      <a:r>
                        <a:rPr lang="en-GB" sz="800" dirty="0">
                          <a:latin typeface="Times New Roman" panose="02020603050405020304" pitchFamily="18" charset="0"/>
                          <a:cs typeface="Times New Roman" panose="02020603050405020304" pitchFamily="18" charset="0"/>
                        </a:rPr>
                        <a:t>Min leaves 2</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CA: 0.896, F1: 0.896</a:t>
                      </a:r>
                    </a:p>
                  </a:txBody>
                  <a:tcPr/>
                </a:tc>
                <a:extLst>
                  <a:ext uri="{0D108BD9-81ED-4DB2-BD59-A6C34878D82A}">
                    <a16:rowId xmlns:a16="http://schemas.microsoft.com/office/drawing/2014/main" val="1144539082"/>
                  </a:ext>
                </a:extLst>
              </a:tr>
              <a:tr h="421508">
                <a:tc>
                  <a:txBody>
                    <a:bodyPr/>
                    <a:lstStyle/>
                    <a:p>
                      <a:r>
                        <a:rPr lang="en-US" sz="800" b="0" dirty="0">
                          <a:latin typeface="Times New Roman" panose="02020603050405020304" pitchFamily="18" charset="0"/>
                          <a:cs typeface="Times New Roman" panose="02020603050405020304" pitchFamily="18" charset="0"/>
                        </a:rPr>
                        <a:t>Neural Networks</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Hidden layers: 5, 10. Activation: </a:t>
                      </a:r>
                      <a:r>
                        <a:rPr lang="en-GB" sz="800" b="0" dirty="0" err="1">
                          <a:latin typeface="Times New Roman" panose="02020603050405020304" pitchFamily="18" charset="0"/>
                          <a:cs typeface="Times New Roman" panose="02020603050405020304" pitchFamily="18" charset="0"/>
                        </a:rPr>
                        <a:t>ReLU</a:t>
                      </a:r>
                      <a:r>
                        <a:rPr lang="en-GB" sz="800" b="0" dirty="0">
                          <a:latin typeface="Times New Roman" panose="02020603050405020304" pitchFamily="18" charset="0"/>
                          <a:cs typeface="Times New Roman" panose="02020603050405020304" pitchFamily="18" charset="0"/>
                        </a:rPr>
                        <a:t> Solver Adam, Regularisation: 0.01 Iterations: 200</a:t>
                      </a:r>
                    </a:p>
                  </a:txBody>
                  <a:tcPr/>
                </a:tc>
                <a:tc>
                  <a:txBody>
                    <a:bodyPr/>
                    <a:lstStyle/>
                    <a:p>
                      <a:r>
                        <a:rPr lang="en-GB" sz="800" b="0" dirty="0">
                          <a:latin typeface="Times New Roman" panose="02020603050405020304" pitchFamily="18" charset="0"/>
                          <a:cs typeface="Times New Roman" panose="02020603050405020304" pitchFamily="18" charset="0"/>
                        </a:rPr>
                        <a:t>CA: 0.727, F1: 0.719</a:t>
                      </a:r>
                    </a:p>
                  </a:txBody>
                  <a:tcPr/>
                </a:tc>
                <a:extLst>
                  <a:ext uri="{0D108BD9-81ED-4DB2-BD59-A6C34878D82A}">
                    <a16:rowId xmlns:a16="http://schemas.microsoft.com/office/drawing/2014/main" val="3656706315"/>
                  </a:ext>
                </a:extLst>
              </a:tr>
              <a:tr h="246086">
                <a:tc>
                  <a:txBody>
                    <a:bodyPr/>
                    <a:lstStyle/>
                    <a:p>
                      <a:r>
                        <a:rPr lang="en-GB" sz="800" b="0" dirty="0">
                          <a:latin typeface="Times New Roman" panose="02020603050405020304" pitchFamily="18" charset="0"/>
                          <a:cs typeface="Times New Roman" panose="02020603050405020304" pitchFamily="18" charset="0"/>
                        </a:rPr>
                        <a:t>Logistic Regression </a:t>
                      </a:r>
                    </a:p>
                  </a:txBody>
                  <a:tcPr/>
                </a:tc>
                <a:tc>
                  <a:txBody>
                    <a:bodyPr/>
                    <a:lstStyle/>
                    <a:p>
                      <a:r>
                        <a:rPr lang="en-GB" sz="800" b="0" dirty="0">
                          <a:latin typeface="Times New Roman" panose="02020603050405020304" pitchFamily="18" charset="0"/>
                          <a:cs typeface="Times New Roman" panose="02020603050405020304" pitchFamily="18" charset="0"/>
                        </a:rPr>
                        <a:t>Regularisation: L2 (Ridge)strength C = 10</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0.740, F1: 0.738</a:t>
                      </a:r>
                    </a:p>
                  </a:txBody>
                  <a:tcPr/>
                </a:tc>
                <a:extLst>
                  <a:ext uri="{0D108BD9-81ED-4DB2-BD59-A6C34878D82A}">
                    <a16:rowId xmlns:a16="http://schemas.microsoft.com/office/drawing/2014/main" val="3941308124"/>
                  </a:ext>
                </a:extLst>
              </a:tr>
              <a:tr h="325867">
                <a:tc>
                  <a:txBody>
                    <a:bodyPr/>
                    <a:lstStyle/>
                    <a:p>
                      <a:r>
                        <a:rPr lang="en-GB" sz="800" b="0" dirty="0">
                          <a:latin typeface="Times New Roman" panose="02020603050405020304" pitchFamily="18" charset="0"/>
                          <a:cs typeface="Times New Roman" panose="02020603050405020304" pitchFamily="18" charset="0"/>
                        </a:rPr>
                        <a:t>KNN </a:t>
                      </a:r>
                    </a:p>
                  </a:txBody>
                  <a:tcPr/>
                </a:tc>
                <a:tc>
                  <a:txBody>
                    <a:bodyPr/>
                    <a:lstStyle/>
                    <a:p>
                      <a:r>
                        <a:rPr lang="en-GB" sz="800" b="0" dirty="0">
                          <a:latin typeface="Times New Roman" panose="02020603050405020304" pitchFamily="18" charset="0"/>
                          <a:cs typeface="Times New Roman" panose="02020603050405020304" pitchFamily="18" charset="0"/>
                        </a:rPr>
                        <a:t>5 neighbours, metric: Euclidean, Weight: Uniform</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0.831, F1: 0.832</a:t>
                      </a:r>
                    </a:p>
                  </a:txBody>
                  <a:tcPr/>
                </a:tc>
                <a:extLst>
                  <a:ext uri="{0D108BD9-81ED-4DB2-BD59-A6C34878D82A}">
                    <a16:rowId xmlns:a16="http://schemas.microsoft.com/office/drawing/2014/main" val="301468123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2779454812"/>
              </p:ext>
            </p:extLst>
          </p:nvPr>
        </p:nvGraphicFramePr>
        <p:xfrm>
          <a:off x="276049" y="9724961"/>
          <a:ext cx="4168836" cy="1155753"/>
        </p:xfrm>
        <a:graphic>
          <a:graphicData uri="http://schemas.openxmlformats.org/drawingml/2006/table">
            <a:tbl>
              <a:tblPr firstRow="1" bandRow="1">
                <a:tableStyleId>{5C22544A-7EE6-4342-B048-85BDC9FD1C3A}</a:tableStyleId>
              </a:tblPr>
              <a:tblGrid>
                <a:gridCol w="1383304">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85251">
                <a:tc>
                  <a:txBody>
                    <a:bodyPr/>
                    <a:lstStyle/>
                    <a:p>
                      <a:r>
                        <a:rPr lang="en-GB" sz="1200" dirty="0"/>
                        <a:t>Actual / Predicted</a:t>
                      </a:r>
                    </a:p>
                  </a:txBody>
                  <a:tcPr/>
                </a:tc>
                <a:tc>
                  <a:txBody>
                    <a:bodyPr/>
                    <a:lstStyle/>
                    <a:p>
                      <a:r>
                        <a:rPr lang="en-GB" sz="1200" dirty="0"/>
                        <a:t>False</a:t>
                      </a:r>
                    </a:p>
                  </a:txBody>
                  <a:tcPr/>
                </a:tc>
                <a:tc>
                  <a:txBody>
                    <a:bodyPr/>
                    <a:lstStyle/>
                    <a:p>
                      <a:r>
                        <a:rPr lang="en-GB" sz="1200" dirty="0"/>
                        <a:t>True</a:t>
                      </a:r>
                    </a:p>
                  </a:txBody>
                  <a:tcPr/>
                </a:tc>
                <a:extLst>
                  <a:ext uri="{0D108BD9-81ED-4DB2-BD59-A6C34878D82A}">
                    <a16:rowId xmlns:a16="http://schemas.microsoft.com/office/drawing/2014/main" val="2126179801"/>
                  </a:ext>
                </a:extLst>
              </a:tr>
              <a:tr h="385251">
                <a:tc>
                  <a:txBody>
                    <a:bodyPr/>
                    <a:lstStyle/>
                    <a:p>
                      <a:r>
                        <a:rPr lang="en-GB" sz="1200" dirty="0"/>
                        <a:t>False</a:t>
                      </a:r>
                    </a:p>
                  </a:txBody>
                  <a:tcPr/>
                </a:tc>
                <a:tc>
                  <a:txBody>
                    <a:bodyPr/>
                    <a:lstStyle/>
                    <a:p>
                      <a:r>
                        <a:rPr lang="en-GB" sz="1200" dirty="0"/>
                        <a:t>29</a:t>
                      </a:r>
                    </a:p>
                  </a:txBody>
                  <a:tcPr/>
                </a:tc>
                <a:tc>
                  <a:txBody>
                    <a:bodyPr/>
                    <a:lstStyle/>
                    <a:p>
                      <a:r>
                        <a:rPr lang="en-GB" sz="1200" dirty="0"/>
                        <a:t>2</a:t>
                      </a:r>
                    </a:p>
                  </a:txBody>
                  <a:tcPr/>
                </a:tc>
                <a:extLst>
                  <a:ext uri="{0D108BD9-81ED-4DB2-BD59-A6C34878D82A}">
                    <a16:rowId xmlns:a16="http://schemas.microsoft.com/office/drawing/2014/main" val="1186692526"/>
                  </a:ext>
                </a:extLst>
              </a:tr>
              <a:tr h="385251">
                <a:tc>
                  <a:txBody>
                    <a:bodyPr/>
                    <a:lstStyle/>
                    <a:p>
                      <a:r>
                        <a:rPr lang="en-GB" sz="1200" dirty="0"/>
                        <a:t>True</a:t>
                      </a:r>
                    </a:p>
                  </a:txBody>
                  <a:tcPr/>
                </a:tc>
                <a:tc>
                  <a:txBody>
                    <a:bodyPr/>
                    <a:lstStyle/>
                    <a:p>
                      <a:r>
                        <a:rPr lang="en-GB" sz="1200" dirty="0"/>
                        <a:t>5</a:t>
                      </a:r>
                    </a:p>
                  </a:txBody>
                  <a:tcPr/>
                </a:tc>
                <a:tc>
                  <a:txBody>
                    <a:bodyPr/>
                    <a:lstStyle/>
                    <a:p>
                      <a:r>
                        <a:rPr lang="en-GB" sz="1200" dirty="0"/>
                        <a:t>41</a:t>
                      </a:r>
                    </a:p>
                  </a:txBody>
                  <a:tcPr/>
                </a:tc>
                <a:extLst>
                  <a:ext uri="{0D108BD9-81ED-4DB2-BD59-A6C34878D82A}">
                    <a16:rowId xmlns:a16="http://schemas.microsoft.com/office/drawing/2014/main" val="788774926"/>
                  </a:ext>
                </a:extLst>
              </a:tr>
            </a:tbl>
          </a:graphicData>
        </a:graphic>
      </p:graphicFrame>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1358504610"/>
              </p:ext>
            </p:extLst>
          </p:nvPr>
        </p:nvGraphicFramePr>
        <p:xfrm>
          <a:off x="4830295" y="960063"/>
          <a:ext cx="4617758" cy="4637427"/>
        </p:xfrm>
        <a:graphic>
          <a:graphicData uri="http://schemas.openxmlformats.org/drawingml/2006/table">
            <a:tbl>
              <a:tblPr firstRow="1" bandRow="1">
                <a:tableStyleId>{5C22544A-7EE6-4342-B048-85BDC9FD1C3A}</a:tableStyleId>
              </a:tblPr>
              <a:tblGrid>
                <a:gridCol w="461123">
                  <a:extLst>
                    <a:ext uri="{9D8B030D-6E8A-4147-A177-3AD203B41FA5}">
                      <a16:colId xmlns:a16="http://schemas.microsoft.com/office/drawing/2014/main" val="1922141735"/>
                    </a:ext>
                  </a:extLst>
                </a:gridCol>
                <a:gridCol w="685800">
                  <a:extLst>
                    <a:ext uri="{9D8B030D-6E8A-4147-A177-3AD203B41FA5}">
                      <a16:colId xmlns:a16="http://schemas.microsoft.com/office/drawing/2014/main" val="2956065983"/>
                    </a:ext>
                  </a:extLst>
                </a:gridCol>
                <a:gridCol w="524436">
                  <a:extLst>
                    <a:ext uri="{9D8B030D-6E8A-4147-A177-3AD203B41FA5}">
                      <a16:colId xmlns:a16="http://schemas.microsoft.com/office/drawing/2014/main" val="1545408251"/>
                    </a:ext>
                  </a:extLst>
                </a:gridCol>
                <a:gridCol w="2946399">
                  <a:extLst>
                    <a:ext uri="{9D8B030D-6E8A-4147-A177-3AD203B41FA5}">
                      <a16:colId xmlns:a16="http://schemas.microsoft.com/office/drawing/2014/main" val="2530128174"/>
                    </a:ext>
                  </a:extLst>
                </a:gridCol>
              </a:tblGrid>
              <a:tr h="340078">
                <a:tc>
                  <a:txBody>
                    <a:bodyPr/>
                    <a:lstStyle/>
                    <a:p>
                      <a:r>
                        <a:rPr lang="en-US" sz="800" dirty="0">
                          <a:latin typeface="Times New Roman" panose="02020603050405020304" pitchFamily="18" charset="0"/>
                          <a:cs typeface="Times New Roman" panose="02020603050405020304" pitchFamily="18" charset="0"/>
                        </a:rPr>
                        <a:t>Variable</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Type</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600" b="1" dirty="0">
                          <a:latin typeface="Times New Roman" panose="02020603050405020304" pitchFamily="18" charset="0"/>
                          <a:cs typeface="Times New Roman" panose="02020603050405020304" pitchFamily="18" charset="0"/>
                        </a:rPr>
                        <a:t>Used</a:t>
                      </a:r>
                      <a:r>
                        <a:rPr lang="en-GB" sz="800" dirty="0">
                          <a:latin typeface="Times New Roman" panose="02020603050405020304" pitchFamily="18" charset="0"/>
                          <a:cs typeface="Times New Roman" panose="02020603050405020304" pitchFamily="18" charset="0"/>
                        </a:rPr>
                        <a:t> </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Impact</a:t>
                      </a:r>
                    </a:p>
                    <a:p>
                      <a:endParaRPr lang="en-GB" sz="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821401175"/>
                  </a:ext>
                </a:extLst>
              </a:tr>
              <a:tr h="340078">
                <a:tc>
                  <a:txBody>
                    <a:bodyPr/>
                    <a:lstStyle/>
                    <a:p>
                      <a:r>
                        <a:rPr lang="en-US" sz="800" dirty="0">
                          <a:latin typeface="Times New Roman" panose="02020603050405020304" pitchFamily="18" charset="0"/>
                          <a:cs typeface="Times New Roman" panose="02020603050405020304" pitchFamily="18" charset="0"/>
                        </a:rPr>
                        <a:t>X</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Used as categorical to avoid false numerical order which misleads linear models. This feature helps model identify location-based fire </a:t>
                      </a:r>
                    </a:p>
                  </a:txBody>
                  <a:tcPr/>
                </a:tc>
                <a:extLst>
                  <a:ext uri="{0D108BD9-81ED-4DB2-BD59-A6C34878D82A}">
                    <a16:rowId xmlns:a16="http://schemas.microsoft.com/office/drawing/2014/main" val="3202199352"/>
                  </a:ext>
                </a:extLst>
              </a:tr>
              <a:tr h="340078">
                <a:tc>
                  <a:txBody>
                    <a:bodyPr/>
                    <a:lstStyle/>
                    <a:p>
                      <a:r>
                        <a:rPr lang="en-US" sz="800" dirty="0">
                          <a:latin typeface="Times New Roman" panose="02020603050405020304" pitchFamily="18" charset="0"/>
                          <a:cs typeface="Times New Roman" panose="02020603050405020304" pitchFamily="18" charset="0"/>
                        </a:rPr>
                        <a:t>Y</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Used as categorical to avoid false numerical order which misleads linear models. This feature helps model identify location-based fire.</a:t>
                      </a:r>
                    </a:p>
                  </a:txBody>
                  <a:tcPr/>
                </a:tc>
                <a:extLst>
                  <a:ext uri="{0D108BD9-81ED-4DB2-BD59-A6C34878D82A}">
                    <a16:rowId xmlns:a16="http://schemas.microsoft.com/office/drawing/2014/main" val="2473242010"/>
                  </a:ext>
                </a:extLst>
              </a:tr>
              <a:tr h="340078">
                <a:tc>
                  <a:txBody>
                    <a:bodyPr/>
                    <a:lstStyle/>
                    <a:p>
                      <a:r>
                        <a:rPr lang="en-GB" sz="800" dirty="0">
                          <a:latin typeface="Times New Roman" panose="02020603050405020304" pitchFamily="18" charset="0"/>
                          <a:cs typeface="Times New Roman" panose="02020603050405020304" pitchFamily="18" charset="0"/>
                        </a:rPr>
                        <a:t>Month </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Helps models detect seasonal fire risk. It is categorical to avoid false numerical order </a:t>
                      </a:r>
                    </a:p>
                  </a:txBody>
                  <a:tcPr/>
                </a:tc>
                <a:extLst>
                  <a:ext uri="{0D108BD9-81ED-4DB2-BD59-A6C34878D82A}">
                    <a16:rowId xmlns:a16="http://schemas.microsoft.com/office/drawing/2014/main" val="1850716645"/>
                  </a:ext>
                </a:extLst>
              </a:tr>
              <a:tr h="340078">
                <a:tc>
                  <a:txBody>
                    <a:bodyPr/>
                    <a:lstStyle/>
                    <a:p>
                      <a:r>
                        <a:rPr lang="en-GB" sz="800" dirty="0">
                          <a:latin typeface="Times New Roman" panose="02020603050405020304" pitchFamily="18" charset="0"/>
                          <a:cs typeface="Times New Roman" panose="02020603050405020304" pitchFamily="18" charset="0"/>
                        </a:rPr>
                        <a:t>Day</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No</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Day of the week has no physical influence on fire behaviour so removed as it just adds noise without value. </a:t>
                      </a:r>
                    </a:p>
                  </a:txBody>
                  <a:tcPr/>
                </a:tc>
                <a:extLst>
                  <a:ext uri="{0D108BD9-81ED-4DB2-BD59-A6C34878D82A}">
                    <a16:rowId xmlns:a16="http://schemas.microsoft.com/office/drawing/2014/main" val="520662613"/>
                  </a:ext>
                </a:extLst>
              </a:tr>
              <a:tr h="340078">
                <a:tc>
                  <a:txBody>
                    <a:bodyPr/>
                    <a:lstStyle/>
                    <a:p>
                      <a:r>
                        <a:rPr lang="en-GB" sz="800" dirty="0">
                          <a:latin typeface="Times New Roman" panose="02020603050405020304" pitchFamily="18" charset="0"/>
                          <a:cs typeface="Times New Roman" panose="02020603050405020304" pitchFamily="18" charset="0"/>
                        </a:rPr>
                        <a:t>FFMC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Strong predictor for fire. Few instances of near outliers but kept as they are in a scientifically possible range </a:t>
                      </a:r>
                    </a:p>
                  </a:txBody>
                  <a:tcPr/>
                </a:tc>
                <a:extLst>
                  <a:ext uri="{0D108BD9-81ED-4DB2-BD59-A6C34878D82A}">
                    <a16:rowId xmlns:a16="http://schemas.microsoft.com/office/drawing/2014/main" val="3259559913"/>
                  </a:ext>
                </a:extLst>
              </a:tr>
              <a:tr h="340078">
                <a:tc>
                  <a:txBody>
                    <a:bodyPr/>
                    <a:lstStyle/>
                    <a:p>
                      <a:r>
                        <a:rPr lang="en-GB" sz="800" dirty="0">
                          <a:latin typeface="Times New Roman" panose="02020603050405020304" pitchFamily="18" charset="0"/>
                          <a:cs typeface="Times New Roman" panose="02020603050405020304" pitchFamily="18" charset="0"/>
                        </a:rPr>
                        <a:t>DMC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946676872"/>
                  </a:ext>
                </a:extLst>
              </a:tr>
              <a:tr h="340078">
                <a:tc>
                  <a:txBody>
                    <a:bodyPr/>
                    <a:lstStyle/>
                    <a:p>
                      <a:r>
                        <a:rPr lang="en-GB" sz="800" dirty="0">
                          <a:latin typeface="Times New Roman" panose="02020603050405020304" pitchFamily="18" charset="0"/>
                          <a:cs typeface="Times New Roman" panose="02020603050405020304" pitchFamily="18" charset="0"/>
                        </a:rPr>
                        <a:t>DC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1557909503"/>
                  </a:ext>
                </a:extLst>
              </a:tr>
              <a:tr h="340078">
                <a:tc>
                  <a:txBody>
                    <a:bodyPr/>
                    <a:lstStyle/>
                    <a:p>
                      <a:r>
                        <a:rPr lang="en-GB" sz="800" dirty="0">
                          <a:latin typeface="Times New Roman" panose="02020603050405020304" pitchFamily="18" charset="0"/>
                          <a:cs typeface="Times New Roman" panose="02020603050405020304" pitchFamily="18" charset="0"/>
                        </a:rPr>
                        <a:t>ISI</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One extreme outlier removed for model stability. </a:t>
                      </a:r>
                    </a:p>
                  </a:txBody>
                  <a:tcPr/>
                </a:tc>
                <a:extLst>
                  <a:ext uri="{0D108BD9-81ED-4DB2-BD59-A6C34878D82A}">
                    <a16:rowId xmlns:a16="http://schemas.microsoft.com/office/drawing/2014/main" val="3327091444"/>
                  </a:ext>
                </a:extLst>
              </a:tr>
              <a:tr h="340078">
                <a:tc>
                  <a:txBody>
                    <a:bodyPr/>
                    <a:lstStyle/>
                    <a:p>
                      <a:r>
                        <a:rPr lang="en-GB" sz="800" dirty="0">
                          <a:latin typeface="Times New Roman" panose="02020603050405020304" pitchFamily="18" charset="0"/>
                          <a:cs typeface="Times New Roman" panose="02020603050405020304" pitchFamily="18" charset="0"/>
                        </a:rPr>
                        <a:t>TEMP</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2971215626"/>
                  </a:ext>
                </a:extLst>
              </a:tr>
              <a:tr h="340078">
                <a:tc>
                  <a:txBody>
                    <a:bodyPr/>
                    <a:lstStyle/>
                    <a:p>
                      <a:r>
                        <a:rPr lang="en-GB" sz="800" dirty="0">
                          <a:latin typeface="Times New Roman" panose="02020603050405020304" pitchFamily="18" charset="0"/>
                          <a:cs typeface="Times New Roman" panose="02020603050405020304" pitchFamily="18" charset="0"/>
                        </a:rPr>
                        <a:t>RH</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3306669620"/>
                  </a:ext>
                </a:extLst>
              </a:tr>
              <a:tr h="340078">
                <a:tc>
                  <a:txBody>
                    <a:bodyPr/>
                    <a:lstStyle/>
                    <a:p>
                      <a:r>
                        <a:rPr lang="en-GB" sz="800" dirty="0">
                          <a:latin typeface="Times New Roman" panose="02020603050405020304" pitchFamily="18" charset="0"/>
                          <a:cs typeface="Times New Roman" panose="02020603050405020304" pitchFamily="18" charset="0"/>
                        </a:rPr>
                        <a:t>Wind</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1452192130"/>
                  </a:ext>
                </a:extLst>
              </a:tr>
              <a:tr h="340078">
                <a:tc>
                  <a:txBody>
                    <a:bodyPr/>
                    <a:lstStyle/>
                    <a:p>
                      <a:r>
                        <a:rPr lang="en-GB" sz="800" dirty="0">
                          <a:latin typeface="Times New Roman" panose="02020603050405020304" pitchFamily="18" charset="0"/>
                          <a:cs typeface="Times New Roman" panose="02020603050405020304" pitchFamily="18" charset="0"/>
                        </a:rPr>
                        <a:t>Rain</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509 of 517 entries are zero. May weaken linear models but tree-models handle Zero dominated data well.</a:t>
                      </a:r>
                    </a:p>
                  </a:txBody>
                  <a:tcPr/>
                </a:tc>
                <a:extLst>
                  <a:ext uri="{0D108BD9-81ED-4DB2-BD59-A6C34878D82A}">
                    <a16:rowId xmlns:a16="http://schemas.microsoft.com/office/drawing/2014/main" val="1756197607"/>
                  </a:ext>
                </a:extLst>
              </a:tr>
              <a:tr h="216413">
                <a:tc>
                  <a:txBody>
                    <a:bodyPr/>
                    <a:lstStyle/>
                    <a:p>
                      <a:r>
                        <a:rPr lang="en-GB" sz="800" dirty="0">
                          <a:latin typeface="Times New Roman" panose="02020603050405020304" pitchFamily="18" charset="0"/>
                          <a:cs typeface="Times New Roman" panose="02020603050405020304" pitchFamily="18" charset="0"/>
                        </a:rPr>
                        <a:t>Area</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Target</a:t>
                      </a:r>
                    </a:p>
                  </a:txBody>
                  <a:tcPr/>
                </a:tc>
                <a:tc>
                  <a:txBody>
                    <a:bodyPr/>
                    <a:lstStyle/>
                    <a:p>
                      <a:r>
                        <a:rPr lang="en-GB" sz="800" dirty="0">
                          <a:latin typeface="Times New Roman" panose="02020603050405020304" pitchFamily="18" charset="0"/>
                          <a:cs typeface="Times New Roman" panose="02020603050405020304" pitchFamily="18" charset="0"/>
                        </a:rPr>
                        <a:t>Defines the classification task. Binary as it is just true or false</a:t>
                      </a:r>
                    </a:p>
                  </a:txBody>
                  <a:tcPr/>
                </a:tc>
                <a:extLst>
                  <a:ext uri="{0D108BD9-81ED-4DB2-BD59-A6C34878D82A}">
                    <a16:rowId xmlns:a16="http://schemas.microsoft.com/office/drawing/2014/main" val="1648314266"/>
                  </a:ext>
                </a:extLst>
              </a:tr>
            </a:tbl>
          </a:graphicData>
        </a:graphic>
      </p:graphicFrame>
      <p:sp>
        <p:nvSpPr>
          <p:cNvPr id="13" name="TextBox 12">
            <a:extLst>
              <a:ext uri="{FF2B5EF4-FFF2-40B4-BE49-F238E27FC236}">
                <a16:creationId xmlns:a16="http://schemas.microsoft.com/office/drawing/2014/main" id="{CA1EAAA5-A1A2-3B0D-12F1-60B2E50A677D}"/>
              </a:ext>
            </a:extLst>
          </p:cNvPr>
          <p:cNvSpPr txBox="1"/>
          <p:nvPr/>
        </p:nvSpPr>
        <p:spPr>
          <a:xfrm>
            <a:off x="4738742" y="5752397"/>
            <a:ext cx="4709312" cy="1938992"/>
          </a:xfrm>
          <a:prstGeom prst="rect">
            <a:avLst/>
          </a:prstGeom>
          <a:noFill/>
        </p:spPr>
        <p:txBody>
          <a:bodyPr wrap="square" rtlCol="0">
            <a:spAutoFit/>
          </a:bodyPr>
          <a:lstStyle/>
          <a:p>
            <a:r>
              <a:rPr lang="en-GB" sz="1200" dirty="0">
                <a:latin typeface="Times New Roman" panose="02020603050405020304" pitchFamily="18" charset="0"/>
                <a:cs typeface="Times New Roman" panose="02020603050405020304" pitchFamily="18" charset="0"/>
              </a:rPr>
              <a:t>As the data was slightly imbalanced and had more False values, F1 was used with the CA when choosing the best hyperparameter settings.</a:t>
            </a:r>
          </a:p>
          <a:p>
            <a:r>
              <a:rPr lang="en-GB" sz="1200" dirty="0">
                <a:latin typeface="Times New Roman" panose="02020603050405020304" pitchFamily="18" charset="0"/>
                <a:cs typeface="Times New Roman" panose="02020603050405020304" pitchFamily="18" charset="0"/>
              </a:rPr>
              <a:t>For each model, I experimented with each settings and the setting with the best validation  for both F1 and CA scores were chosen. When tuning hyperparameters tree based models performed best with 150 trees which makes sense for data about 500 rows as this number is not too overfitting or underfitting. Linear models performed best with the least changes with the standard settings. Gradient Boosting hyperparameters that were chosen were 150 trees, 3 for depth limit and a learning rate of 0.1 to avoid overfitting. </a:t>
            </a:r>
          </a:p>
        </p:txBody>
      </p:sp>
      <p:pic>
        <p:nvPicPr>
          <p:cNvPr id="16" name="Picture 15">
            <a:extLst>
              <a:ext uri="{FF2B5EF4-FFF2-40B4-BE49-F238E27FC236}">
                <a16:creationId xmlns:a16="http://schemas.microsoft.com/office/drawing/2014/main" id="{0E3C226F-631E-BF67-79D0-A31373A149E1}"/>
              </a:ext>
            </a:extLst>
          </p:cNvPr>
          <p:cNvPicPr>
            <a:picLocks noChangeAspect="1"/>
          </p:cNvPicPr>
          <p:nvPr/>
        </p:nvPicPr>
        <p:blipFill>
          <a:blip r:embed="rId2"/>
          <a:stretch>
            <a:fillRect/>
          </a:stretch>
        </p:blipFill>
        <p:spPr>
          <a:xfrm>
            <a:off x="276049" y="3582909"/>
            <a:ext cx="2124263" cy="1606405"/>
          </a:xfrm>
          <a:prstGeom prst="rect">
            <a:avLst/>
          </a:prstGeom>
        </p:spPr>
      </p:pic>
      <p:sp>
        <p:nvSpPr>
          <p:cNvPr id="3" name="TextBox 2">
            <a:extLst>
              <a:ext uri="{FF2B5EF4-FFF2-40B4-BE49-F238E27FC236}">
                <a16:creationId xmlns:a16="http://schemas.microsoft.com/office/drawing/2014/main" id="{338DF5F8-9949-2770-C0AC-DDFE95DDE2A8}"/>
              </a:ext>
            </a:extLst>
          </p:cNvPr>
          <p:cNvSpPr txBox="1"/>
          <p:nvPr/>
        </p:nvSpPr>
        <p:spPr>
          <a:xfrm>
            <a:off x="212538" y="63914"/>
            <a:ext cx="8885186" cy="523220"/>
          </a:xfrm>
          <a:prstGeom prst="rect">
            <a:avLst/>
          </a:prstGeom>
          <a:noFill/>
        </p:spPr>
        <p:txBody>
          <a:bodyPr wrap="square" lIns="91440" tIns="45720" rIns="91440" bIns="45720" rtlCol="0" anchor="t">
            <a:spAutoFit/>
          </a:bodyPr>
          <a:lstStyle/>
          <a:p>
            <a:r>
              <a:rPr lang="en-GB" sz="2800" dirty="0"/>
              <a:t>CSCU9M5 Assignment 1. Student Number 3344671</a:t>
            </a:r>
            <a:endParaRPr lang="en-GB" sz="2800" dirty="0">
              <a:ea typeface="Calibri" panose="020F0502020204030204"/>
              <a:cs typeface="Calibri" panose="020F0502020204030204"/>
            </a:endParaRPr>
          </a:p>
        </p:txBody>
      </p:sp>
      <p:pic>
        <p:nvPicPr>
          <p:cNvPr id="10" name="Picture 9">
            <a:extLst>
              <a:ext uri="{FF2B5EF4-FFF2-40B4-BE49-F238E27FC236}">
                <a16:creationId xmlns:a16="http://schemas.microsoft.com/office/drawing/2014/main" id="{37C1D729-4E4F-3B91-B475-787F46B523C0}"/>
              </a:ext>
            </a:extLst>
          </p:cNvPr>
          <p:cNvPicPr>
            <a:picLocks noChangeAspect="1"/>
          </p:cNvPicPr>
          <p:nvPr/>
        </p:nvPicPr>
        <p:blipFill>
          <a:blip r:embed="rId3"/>
          <a:stretch>
            <a:fillRect/>
          </a:stretch>
        </p:blipFill>
        <p:spPr>
          <a:xfrm>
            <a:off x="2614478" y="3496251"/>
            <a:ext cx="2124264" cy="1693063"/>
          </a:xfrm>
          <a:prstGeom prst="rect">
            <a:avLst/>
          </a:prstGeom>
        </p:spPr>
      </p:pic>
    </p:spTree>
    <p:extLst>
      <p:ext uri="{BB962C8B-B14F-4D97-AF65-F5344CB8AC3E}">
        <p14:creationId xmlns:p14="http://schemas.microsoft.com/office/powerpoint/2010/main" val="15017104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3328</TotalTime>
  <Words>1215</Words>
  <Application>Microsoft Office PowerPoint</Application>
  <PresentationFormat>A3 Paper (297x420 mm)</PresentationFormat>
  <Paragraphs>127</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Muniir Ahmed</cp:lastModifiedBy>
  <cp:revision>76</cp:revision>
  <dcterms:created xsi:type="dcterms:W3CDTF">2022-12-31T18:26:39Z</dcterms:created>
  <dcterms:modified xsi:type="dcterms:W3CDTF">2025-11-28T15:09:51Z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