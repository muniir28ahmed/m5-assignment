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Lst>
  <p:sldSz cx="9601200" cy="12801600" type="A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p:scale>
          <a:sx n="124" d="100"/>
          <a:sy n="124" d="100"/>
        </p:scale>
        <p:origin x="-24" y="-40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D5957-A6EF-32E7-E3D1-1B003C9F61BD}"/>
              </a:ext>
            </a:extLst>
          </p:cNvPr>
          <p:cNvSpPr>
            <a:spLocks noGrp="1"/>
          </p:cNvSpPr>
          <p:nvPr>
            <p:ph type="ctrTitle"/>
          </p:nvPr>
        </p:nvSpPr>
        <p:spPr>
          <a:xfrm>
            <a:off x="1200150" y="2095078"/>
            <a:ext cx="7200900" cy="4456853"/>
          </a:xfrm>
        </p:spPr>
        <p:txBody>
          <a:bodyPr anchor="b"/>
          <a:lstStyle>
            <a:lvl1pPr algn="ctr">
              <a:defRPr sz="11200"/>
            </a:lvl1pPr>
          </a:lstStyle>
          <a:p>
            <a:r>
              <a:rPr lang="en-US"/>
              <a:t>Click to edit Master title style</a:t>
            </a:r>
            <a:endParaRPr lang="en-GB"/>
          </a:p>
        </p:txBody>
      </p:sp>
      <p:sp>
        <p:nvSpPr>
          <p:cNvPr id="3" name="Subtitle 2">
            <a:extLst>
              <a:ext uri="{FF2B5EF4-FFF2-40B4-BE49-F238E27FC236}">
                <a16:creationId xmlns:a16="http://schemas.microsoft.com/office/drawing/2014/main" id="{E3825EEC-0A7C-154A-78AF-21307B34CF47}"/>
              </a:ext>
            </a:extLst>
          </p:cNvPr>
          <p:cNvSpPr>
            <a:spLocks noGrp="1"/>
          </p:cNvSpPr>
          <p:nvPr>
            <p:ph type="subTitle" idx="1"/>
          </p:nvPr>
        </p:nvSpPr>
        <p:spPr>
          <a:xfrm>
            <a:off x="1200150" y="6723804"/>
            <a:ext cx="7200900" cy="3090756"/>
          </a:xfrm>
        </p:spPr>
        <p:txBody>
          <a:bodyPr/>
          <a:lstStyle>
            <a:lvl1pPr marL="0" indent="0" algn="ctr">
              <a:buNone/>
              <a:defRPr sz="4480"/>
            </a:lvl1pPr>
            <a:lvl2pPr marL="853455" indent="0" algn="ctr">
              <a:buNone/>
              <a:defRPr sz="3733"/>
            </a:lvl2pPr>
            <a:lvl3pPr marL="1706910" indent="0" algn="ctr">
              <a:buNone/>
              <a:defRPr sz="3360"/>
            </a:lvl3pPr>
            <a:lvl4pPr marL="2560366" indent="0" algn="ctr">
              <a:buNone/>
              <a:defRPr sz="2987"/>
            </a:lvl4pPr>
            <a:lvl5pPr marL="3413821" indent="0" algn="ctr">
              <a:buNone/>
              <a:defRPr sz="2987"/>
            </a:lvl5pPr>
            <a:lvl6pPr marL="4267276" indent="0" algn="ctr">
              <a:buNone/>
              <a:defRPr sz="2987"/>
            </a:lvl6pPr>
            <a:lvl7pPr marL="5120731" indent="0" algn="ctr">
              <a:buNone/>
              <a:defRPr sz="2987"/>
            </a:lvl7pPr>
            <a:lvl8pPr marL="5974187" indent="0" algn="ctr">
              <a:buNone/>
              <a:defRPr sz="2987"/>
            </a:lvl8pPr>
            <a:lvl9pPr marL="6827642" indent="0" algn="ctr">
              <a:buNone/>
              <a:defRPr sz="2987"/>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F32E64-FDCA-3477-2C2F-6351F106E4A0}"/>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5F0E7E88-14E3-DDE4-83DB-A47D688C31C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BC03FC-2D55-6B61-A367-2D593B640668}"/>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4208040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4DFE-1C4E-BAD9-D3B4-913D786F567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9E0584-A067-E8B2-2ADF-8B5A138B5D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6A90663-C45E-4197-AA0A-34B4FF7EC89A}"/>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AA71D409-2079-EBFB-DA3C-969592ECA9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4A8983-65A7-BE7A-3ECB-60F797C9CACC}"/>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2452001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D998-78BB-45C0-DC77-BFEB31D88B88}"/>
              </a:ext>
            </a:extLst>
          </p:cNvPr>
          <p:cNvSpPr>
            <a:spLocks noGrp="1"/>
          </p:cNvSpPr>
          <p:nvPr>
            <p:ph type="title"/>
          </p:nvPr>
        </p:nvSpPr>
        <p:spPr>
          <a:xfrm>
            <a:off x="655082" y="3191512"/>
            <a:ext cx="8281035" cy="5325109"/>
          </a:xfrm>
        </p:spPr>
        <p:txBody>
          <a:bodyPr anchor="b"/>
          <a:lstStyle>
            <a:lvl1pPr>
              <a:defRPr sz="112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927812D-600D-7B2D-69A4-F680EBB7A2CC}"/>
              </a:ext>
            </a:extLst>
          </p:cNvPr>
          <p:cNvSpPr>
            <a:spLocks noGrp="1"/>
          </p:cNvSpPr>
          <p:nvPr>
            <p:ph type="body" idx="1"/>
          </p:nvPr>
        </p:nvSpPr>
        <p:spPr>
          <a:xfrm>
            <a:off x="655082" y="8566999"/>
            <a:ext cx="8281035" cy="2800349"/>
          </a:xfrm>
        </p:spPr>
        <p:txBody>
          <a:bodyPr/>
          <a:lstStyle>
            <a:lvl1pPr marL="0" indent="0">
              <a:buNone/>
              <a:defRPr sz="4480">
                <a:solidFill>
                  <a:schemeClr val="tx1">
                    <a:tint val="75000"/>
                  </a:schemeClr>
                </a:solidFill>
              </a:defRPr>
            </a:lvl1pPr>
            <a:lvl2pPr marL="853455" indent="0">
              <a:buNone/>
              <a:defRPr sz="3733">
                <a:solidFill>
                  <a:schemeClr val="tx1">
                    <a:tint val="75000"/>
                  </a:schemeClr>
                </a:solidFill>
              </a:defRPr>
            </a:lvl2pPr>
            <a:lvl3pPr marL="1706910" indent="0">
              <a:buNone/>
              <a:defRPr sz="3360">
                <a:solidFill>
                  <a:schemeClr val="tx1">
                    <a:tint val="75000"/>
                  </a:schemeClr>
                </a:solidFill>
              </a:defRPr>
            </a:lvl3pPr>
            <a:lvl4pPr marL="2560366" indent="0">
              <a:buNone/>
              <a:defRPr sz="2987">
                <a:solidFill>
                  <a:schemeClr val="tx1">
                    <a:tint val="75000"/>
                  </a:schemeClr>
                </a:solidFill>
              </a:defRPr>
            </a:lvl4pPr>
            <a:lvl5pPr marL="3413821" indent="0">
              <a:buNone/>
              <a:defRPr sz="2987">
                <a:solidFill>
                  <a:schemeClr val="tx1">
                    <a:tint val="75000"/>
                  </a:schemeClr>
                </a:solidFill>
              </a:defRPr>
            </a:lvl5pPr>
            <a:lvl6pPr marL="4267276" indent="0">
              <a:buNone/>
              <a:defRPr sz="2987">
                <a:solidFill>
                  <a:schemeClr val="tx1">
                    <a:tint val="75000"/>
                  </a:schemeClr>
                </a:solidFill>
              </a:defRPr>
            </a:lvl6pPr>
            <a:lvl7pPr marL="5120731" indent="0">
              <a:buNone/>
              <a:defRPr sz="2987">
                <a:solidFill>
                  <a:schemeClr val="tx1">
                    <a:tint val="75000"/>
                  </a:schemeClr>
                </a:solidFill>
              </a:defRPr>
            </a:lvl7pPr>
            <a:lvl8pPr marL="5974187" indent="0">
              <a:buNone/>
              <a:defRPr sz="2987">
                <a:solidFill>
                  <a:schemeClr val="tx1">
                    <a:tint val="75000"/>
                  </a:schemeClr>
                </a:solidFill>
              </a:defRPr>
            </a:lvl8pPr>
            <a:lvl9pPr marL="6827642" indent="0">
              <a:buNone/>
              <a:defRPr sz="2987">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A42C1A-1D43-FD79-27DC-0F688D9BEE95}"/>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C5003866-6470-3D4A-38A7-21AF758C6C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6F41C7-6E95-5BAF-A838-B73FC74B464A}"/>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058519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75D1E-3E39-8C74-2CFE-E9F426D6FF9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6384DC3-52C3-DA95-4ED9-F089E646D969}"/>
              </a:ext>
            </a:extLst>
          </p:cNvPr>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333F7AE-7948-6C06-5E53-C0B84A456129}"/>
              </a:ext>
            </a:extLst>
          </p:cNvPr>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1209914-CFA9-9D6C-9AD7-64D2B8C22830}"/>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6" name="Footer Placeholder 5">
            <a:extLst>
              <a:ext uri="{FF2B5EF4-FFF2-40B4-BE49-F238E27FC236}">
                <a16:creationId xmlns:a16="http://schemas.microsoft.com/office/drawing/2014/main" id="{FAA3A4E8-A471-C661-4D2B-1C50B9803F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EED025-15FD-E1A6-D3D1-DAB417877C77}"/>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402092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9F92-4706-3DDC-7BA6-907307250544}"/>
              </a:ext>
            </a:extLst>
          </p:cNvPr>
          <p:cNvSpPr>
            <a:spLocks noGrp="1"/>
          </p:cNvSpPr>
          <p:nvPr>
            <p:ph type="title"/>
          </p:nvPr>
        </p:nvSpPr>
        <p:spPr>
          <a:xfrm>
            <a:off x="661333" y="681568"/>
            <a:ext cx="8281035" cy="2474384"/>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12E1805-710E-6EE8-72D2-7E35549937A1}"/>
              </a:ext>
            </a:extLst>
          </p:cNvPr>
          <p:cNvSpPr>
            <a:spLocks noGrp="1"/>
          </p:cNvSpPr>
          <p:nvPr>
            <p:ph type="body" idx="1"/>
          </p:nvPr>
        </p:nvSpPr>
        <p:spPr>
          <a:xfrm>
            <a:off x="661334" y="3138171"/>
            <a:ext cx="4061757"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4" name="Content Placeholder 3">
            <a:extLst>
              <a:ext uri="{FF2B5EF4-FFF2-40B4-BE49-F238E27FC236}">
                <a16:creationId xmlns:a16="http://schemas.microsoft.com/office/drawing/2014/main" id="{3074222E-79C4-C13E-F7DA-7A265BA5D986}"/>
              </a:ext>
            </a:extLst>
          </p:cNvPr>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1C5D034-B89B-CCDE-6FB7-F6E8EA64E10C}"/>
              </a:ext>
            </a:extLst>
          </p:cNvPr>
          <p:cNvSpPr>
            <a:spLocks noGrp="1"/>
          </p:cNvSpPr>
          <p:nvPr>
            <p:ph type="body" sz="quarter" idx="3"/>
          </p:nvPr>
        </p:nvSpPr>
        <p:spPr>
          <a:xfrm>
            <a:off x="4860607" y="3138171"/>
            <a:ext cx="4081761"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6" name="Content Placeholder 5">
            <a:extLst>
              <a:ext uri="{FF2B5EF4-FFF2-40B4-BE49-F238E27FC236}">
                <a16:creationId xmlns:a16="http://schemas.microsoft.com/office/drawing/2014/main" id="{CB137708-0F32-5EAE-16E3-5CEC2C48DDEC}"/>
              </a:ext>
            </a:extLst>
          </p:cNvPr>
          <p:cNvSpPr>
            <a:spLocks noGrp="1"/>
          </p:cNvSpPr>
          <p:nvPr>
            <p:ph sz="quarter" idx="4"/>
          </p:nvPr>
        </p:nvSpPr>
        <p:spPr>
          <a:xfrm>
            <a:off x="4860607"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3509398-9208-6CE7-B5D8-922184E484D3}"/>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8" name="Footer Placeholder 7">
            <a:extLst>
              <a:ext uri="{FF2B5EF4-FFF2-40B4-BE49-F238E27FC236}">
                <a16:creationId xmlns:a16="http://schemas.microsoft.com/office/drawing/2014/main" id="{17FCADD5-DD6F-640A-A2AC-6FCEB414556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906E592-D0B8-9C85-06A0-398F62216259}"/>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447913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F9798-5B85-A4F2-E101-1121C3F9495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CF1F383-63DE-D0B8-8856-624481017098}"/>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4" name="Footer Placeholder 3">
            <a:extLst>
              <a:ext uri="{FF2B5EF4-FFF2-40B4-BE49-F238E27FC236}">
                <a16:creationId xmlns:a16="http://schemas.microsoft.com/office/drawing/2014/main" id="{F514E45E-B824-F49A-D550-DFBBC2360D6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4DA846F-17E7-5BAF-65E8-E18B1D8235C5}"/>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867224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EA2AD3-BC1E-9021-B75C-7BB7BBA930D4}"/>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3" name="Footer Placeholder 2">
            <a:extLst>
              <a:ext uri="{FF2B5EF4-FFF2-40B4-BE49-F238E27FC236}">
                <a16:creationId xmlns:a16="http://schemas.microsoft.com/office/drawing/2014/main" id="{3D601FD4-959E-CE8B-CAD5-C29DF791AB7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CE5199D-9EFE-4D3A-F830-FDE667B914E3}"/>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200707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2A318-38E3-4775-8C91-13BCC817BF4A}"/>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7E83DCD-037A-8390-B751-90536D891278}"/>
              </a:ext>
            </a:extLst>
          </p:cNvPr>
          <p:cNvSpPr>
            <a:spLocks noGrp="1"/>
          </p:cNvSpPr>
          <p:nvPr>
            <p:ph idx="1"/>
          </p:nvPr>
        </p:nvSpPr>
        <p:spPr>
          <a:xfrm>
            <a:off x="4081760" y="1843194"/>
            <a:ext cx="4860608" cy="9097433"/>
          </a:xfrm>
        </p:spPr>
        <p:txBody>
          <a:bodyPr/>
          <a:lstStyle>
            <a:lvl1pPr>
              <a:defRPr sz="5973"/>
            </a:lvl1pPr>
            <a:lvl2pPr>
              <a:defRPr sz="5227"/>
            </a:lvl2pPr>
            <a:lvl3pPr>
              <a:defRPr sz="4480"/>
            </a:lvl3pPr>
            <a:lvl4pPr>
              <a:defRPr sz="3733"/>
            </a:lvl4pPr>
            <a:lvl5pPr>
              <a:defRPr sz="3733"/>
            </a:lvl5pPr>
            <a:lvl6pPr>
              <a:defRPr sz="3733"/>
            </a:lvl6pPr>
            <a:lvl7pPr>
              <a:defRPr sz="3733"/>
            </a:lvl7pPr>
            <a:lvl8pPr>
              <a:defRPr sz="3733"/>
            </a:lvl8pPr>
            <a:lvl9pPr>
              <a:defRPr sz="37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5575D34-C1AA-27C9-3C46-0D6DD3484AF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52E1DB74-5801-1CA3-51E5-D0BCBA37E577}"/>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6" name="Footer Placeholder 5">
            <a:extLst>
              <a:ext uri="{FF2B5EF4-FFF2-40B4-BE49-F238E27FC236}">
                <a16:creationId xmlns:a16="http://schemas.microsoft.com/office/drawing/2014/main" id="{010D4AE3-42FF-B0A6-1279-C81F30D198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4399B40-3CC6-20CD-8709-BABE62158F0D}"/>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334135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8D11-6676-AD97-54F8-77FB651B737E}"/>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077260A-7003-5D76-4AD8-81E5B66EBC21}"/>
              </a:ext>
            </a:extLst>
          </p:cNvPr>
          <p:cNvSpPr>
            <a:spLocks noGrp="1"/>
          </p:cNvSpPr>
          <p:nvPr>
            <p:ph type="pic" idx="1"/>
          </p:nvPr>
        </p:nvSpPr>
        <p:spPr>
          <a:xfrm>
            <a:off x="4081760" y="1843194"/>
            <a:ext cx="4860608" cy="9097433"/>
          </a:xfrm>
        </p:spPr>
        <p:txBody>
          <a:bodyPr/>
          <a:lstStyle>
            <a:lvl1pPr marL="0" indent="0">
              <a:buNone/>
              <a:defRPr sz="5973"/>
            </a:lvl1pPr>
            <a:lvl2pPr marL="853455" indent="0">
              <a:buNone/>
              <a:defRPr sz="5227"/>
            </a:lvl2pPr>
            <a:lvl3pPr marL="1706910" indent="0">
              <a:buNone/>
              <a:defRPr sz="4480"/>
            </a:lvl3pPr>
            <a:lvl4pPr marL="2560366" indent="0">
              <a:buNone/>
              <a:defRPr sz="3733"/>
            </a:lvl4pPr>
            <a:lvl5pPr marL="3413821" indent="0">
              <a:buNone/>
              <a:defRPr sz="3733"/>
            </a:lvl5pPr>
            <a:lvl6pPr marL="4267276" indent="0">
              <a:buNone/>
              <a:defRPr sz="3733"/>
            </a:lvl6pPr>
            <a:lvl7pPr marL="5120731" indent="0">
              <a:buNone/>
              <a:defRPr sz="3733"/>
            </a:lvl7pPr>
            <a:lvl8pPr marL="5974187" indent="0">
              <a:buNone/>
              <a:defRPr sz="3733"/>
            </a:lvl8pPr>
            <a:lvl9pPr marL="6827642" indent="0">
              <a:buNone/>
              <a:defRPr sz="3733"/>
            </a:lvl9pPr>
          </a:lstStyle>
          <a:p>
            <a:endParaRPr lang="en-GB"/>
          </a:p>
        </p:txBody>
      </p:sp>
      <p:sp>
        <p:nvSpPr>
          <p:cNvPr id="4" name="Text Placeholder 3">
            <a:extLst>
              <a:ext uri="{FF2B5EF4-FFF2-40B4-BE49-F238E27FC236}">
                <a16:creationId xmlns:a16="http://schemas.microsoft.com/office/drawing/2014/main" id="{72E64FAF-1B0B-C0E4-BB4A-C8771E4BD8B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84781043-F4E0-B6B2-9B02-A39D0C61B15F}"/>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6" name="Footer Placeholder 5">
            <a:extLst>
              <a:ext uri="{FF2B5EF4-FFF2-40B4-BE49-F238E27FC236}">
                <a16:creationId xmlns:a16="http://schemas.microsoft.com/office/drawing/2014/main" id="{D24F4448-4867-29B0-B381-ABD2324B4E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FACF4C-402B-97E5-D6F8-6282619D925D}"/>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2778731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EB5B2-D5B0-19AC-BEB0-9D73849D3E5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6005CA-94BC-E16C-EF84-344BD073F8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F94088-AE02-9F42-0711-DB0AF9A0CDB3}"/>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7FA0081D-87C2-4B1B-DDE0-CC3F00DF20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445E1E-A0A0-BC08-735D-62C39D971EA0}"/>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655154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9DBB0D-0647-BD14-ACDE-3FE29F7DAF94}"/>
              </a:ext>
            </a:extLst>
          </p:cNvPr>
          <p:cNvSpPr>
            <a:spLocks noGrp="1"/>
          </p:cNvSpPr>
          <p:nvPr>
            <p:ph type="title" orient="vert"/>
          </p:nvPr>
        </p:nvSpPr>
        <p:spPr>
          <a:xfrm>
            <a:off x="6870859" y="681567"/>
            <a:ext cx="2070259" cy="108487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91E2EB1-B200-E53F-4C09-07E4B9A25240}"/>
              </a:ext>
            </a:extLst>
          </p:cNvPr>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5D952A-342F-8455-302E-FD29E5066A15}"/>
              </a:ext>
            </a:extLst>
          </p:cNvPr>
          <p:cNvSpPr>
            <a:spLocks noGrp="1"/>
          </p:cNvSpPr>
          <p:nvPr>
            <p:ph type="dt" sz="half" idx="10"/>
          </p:nvPr>
        </p:nvSpPr>
        <p:spPr/>
        <p:txBody>
          <a:body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22F88315-D6D6-B195-E85D-6EE3849FE9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1E61F3-CA3E-E61E-9D5D-F0E721CF0231}"/>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624505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3BBE65-6769-7B1F-8E17-8E4DEE0F5E6F}"/>
              </a:ext>
            </a:extLst>
          </p:cNvPr>
          <p:cNvSpPr>
            <a:spLocks noGrp="1"/>
          </p:cNvSpPr>
          <p:nvPr>
            <p:ph type="title"/>
          </p:nvPr>
        </p:nvSpPr>
        <p:spPr>
          <a:xfrm>
            <a:off x="660083" y="681568"/>
            <a:ext cx="8281035" cy="2474384"/>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99B3C84-1ABC-9785-51AA-DEFE5FD58DE4}"/>
              </a:ext>
            </a:extLst>
          </p:cNvPr>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4952F6-A5E3-AE07-1374-AB3E6483774A}"/>
              </a:ext>
            </a:extLst>
          </p:cNvPr>
          <p:cNvSpPr>
            <a:spLocks noGrp="1"/>
          </p:cNvSpPr>
          <p:nvPr>
            <p:ph type="dt" sz="half" idx="2"/>
          </p:nvPr>
        </p:nvSpPr>
        <p:spPr>
          <a:xfrm>
            <a:off x="660083" y="11865187"/>
            <a:ext cx="2160270" cy="681567"/>
          </a:xfrm>
          <a:prstGeom prst="rect">
            <a:avLst/>
          </a:prstGeom>
        </p:spPr>
        <p:txBody>
          <a:bodyPr vert="horz" lIns="91440" tIns="45720" rIns="91440" bIns="45720" rtlCol="0" anchor="ctr"/>
          <a:lstStyle>
            <a:lvl1pPr algn="l">
              <a:defRPr sz="2240">
                <a:solidFill>
                  <a:schemeClr val="tx1">
                    <a:tint val="75000"/>
                  </a:schemeClr>
                </a:solidFill>
              </a:defRPr>
            </a:lvl1pPr>
          </a:lstStyle>
          <a:p>
            <a:fld id="{47641A74-98BD-4B3C-827E-E8E43FD96C93}" type="datetimeFigureOut">
              <a:rPr lang="en-GB" smtClean="0"/>
              <a:t>26/11/2025</a:t>
            </a:fld>
            <a:endParaRPr lang="en-GB"/>
          </a:p>
        </p:txBody>
      </p:sp>
      <p:sp>
        <p:nvSpPr>
          <p:cNvPr id="5" name="Footer Placeholder 4">
            <a:extLst>
              <a:ext uri="{FF2B5EF4-FFF2-40B4-BE49-F238E27FC236}">
                <a16:creationId xmlns:a16="http://schemas.microsoft.com/office/drawing/2014/main" id="{2DD11E92-5A95-C483-050F-E7CB60E47E38}"/>
              </a:ext>
            </a:extLst>
          </p:cNvPr>
          <p:cNvSpPr>
            <a:spLocks noGrp="1"/>
          </p:cNvSpPr>
          <p:nvPr>
            <p:ph type="ftr" sz="quarter" idx="3"/>
          </p:nvPr>
        </p:nvSpPr>
        <p:spPr>
          <a:xfrm>
            <a:off x="3180398" y="11865187"/>
            <a:ext cx="3240405" cy="681567"/>
          </a:xfrm>
          <a:prstGeom prst="rect">
            <a:avLst/>
          </a:prstGeom>
        </p:spPr>
        <p:txBody>
          <a:bodyPr vert="horz" lIns="91440" tIns="45720" rIns="91440" bIns="45720" rtlCol="0" anchor="ctr"/>
          <a:lstStyle>
            <a:lvl1pPr algn="ctr">
              <a:defRPr sz="224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63E2AB0-37CA-182D-9940-8EDF9D524C17}"/>
              </a:ext>
            </a:extLst>
          </p:cNvPr>
          <p:cNvSpPr>
            <a:spLocks noGrp="1"/>
          </p:cNvSpPr>
          <p:nvPr>
            <p:ph type="sldNum" sz="quarter" idx="4"/>
          </p:nvPr>
        </p:nvSpPr>
        <p:spPr>
          <a:xfrm>
            <a:off x="6780848" y="11865187"/>
            <a:ext cx="2160270" cy="681567"/>
          </a:xfrm>
          <a:prstGeom prst="rect">
            <a:avLst/>
          </a:prstGeom>
        </p:spPr>
        <p:txBody>
          <a:bodyPr vert="horz" lIns="91440" tIns="45720" rIns="91440" bIns="45720" rtlCol="0" anchor="ctr"/>
          <a:lstStyle>
            <a:lvl1pPr algn="r">
              <a:defRPr sz="2240">
                <a:solidFill>
                  <a:schemeClr val="tx1">
                    <a:tint val="75000"/>
                  </a:schemeClr>
                </a:solidFill>
              </a:defRPr>
            </a:lvl1pPr>
          </a:lstStyle>
          <a:p>
            <a:fld id="{F88AA56C-1734-4119-BA56-AE67025E1ADC}" type="slidenum">
              <a:rPr lang="en-GB" smtClean="0"/>
              <a:t>‹#›</a:t>
            </a:fld>
            <a:endParaRPr lang="en-GB"/>
          </a:p>
        </p:txBody>
      </p:sp>
    </p:spTree>
    <p:extLst>
      <p:ext uri="{BB962C8B-B14F-4D97-AF65-F5344CB8AC3E}">
        <p14:creationId xmlns:p14="http://schemas.microsoft.com/office/powerpoint/2010/main" val="152740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706910" rtl="0" eaLnBrk="1" latinLnBrk="0" hangingPunct="1">
        <a:lnSpc>
          <a:spcPct val="90000"/>
        </a:lnSpc>
        <a:spcBef>
          <a:spcPct val="0"/>
        </a:spcBef>
        <a:buNone/>
        <a:defRPr sz="8213" kern="1200">
          <a:solidFill>
            <a:schemeClr val="tx1"/>
          </a:solidFill>
          <a:latin typeface="+mj-lt"/>
          <a:ea typeface="+mj-ea"/>
          <a:cs typeface="+mj-cs"/>
        </a:defRPr>
      </a:lvl1pPr>
    </p:titleStyle>
    <p:bodyStyle>
      <a:lvl1pPr marL="426728" indent="-426728" algn="l" defTabSz="1706910" rtl="0" eaLnBrk="1" latinLnBrk="0" hangingPunct="1">
        <a:lnSpc>
          <a:spcPct val="90000"/>
        </a:lnSpc>
        <a:spcBef>
          <a:spcPts val="1867"/>
        </a:spcBef>
        <a:buFont typeface="Arial" panose="020B0604020202020204" pitchFamily="34" charset="0"/>
        <a:buChar char="•"/>
        <a:defRPr sz="5227" kern="1200">
          <a:solidFill>
            <a:schemeClr val="tx1"/>
          </a:solidFill>
          <a:latin typeface="+mn-lt"/>
          <a:ea typeface="+mn-ea"/>
          <a:cs typeface="+mn-cs"/>
        </a:defRPr>
      </a:lvl1pPr>
      <a:lvl2pPr marL="1280183" indent="-426728" algn="l" defTabSz="1706910" rtl="0" eaLnBrk="1" latinLnBrk="0" hangingPunct="1">
        <a:lnSpc>
          <a:spcPct val="90000"/>
        </a:lnSpc>
        <a:spcBef>
          <a:spcPts val="933"/>
        </a:spcBef>
        <a:buFont typeface="Arial" panose="020B0604020202020204" pitchFamily="34" charset="0"/>
        <a:buChar char="•"/>
        <a:defRPr sz="4480" kern="1200">
          <a:solidFill>
            <a:schemeClr val="tx1"/>
          </a:solidFill>
          <a:latin typeface="+mn-lt"/>
          <a:ea typeface="+mn-ea"/>
          <a:cs typeface="+mn-cs"/>
        </a:defRPr>
      </a:lvl2pPr>
      <a:lvl3pPr marL="2133638" indent="-426728" algn="l" defTabSz="1706910" rtl="0" eaLnBrk="1" latinLnBrk="0" hangingPunct="1">
        <a:lnSpc>
          <a:spcPct val="90000"/>
        </a:lnSpc>
        <a:spcBef>
          <a:spcPts val="933"/>
        </a:spcBef>
        <a:buFont typeface="Arial" panose="020B0604020202020204" pitchFamily="34" charset="0"/>
        <a:buChar char="•"/>
        <a:defRPr sz="3733" kern="1200">
          <a:solidFill>
            <a:schemeClr val="tx1"/>
          </a:solidFill>
          <a:latin typeface="+mn-lt"/>
          <a:ea typeface="+mn-ea"/>
          <a:cs typeface="+mn-cs"/>
        </a:defRPr>
      </a:lvl3pPr>
      <a:lvl4pPr marL="2987093"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4pPr>
      <a:lvl5pPr marL="384054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5pPr>
      <a:lvl6pPr marL="469400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6pPr>
      <a:lvl7pPr marL="554745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7pPr>
      <a:lvl8pPr marL="640091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8pPr>
      <a:lvl9pPr marL="7254370"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9pPr>
    </p:bodyStyle>
    <p:otherStyle>
      <a:defPPr>
        <a:defRPr lang="en-US"/>
      </a:defPPr>
      <a:lvl1pPr marL="0" algn="l" defTabSz="1706910" rtl="0" eaLnBrk="1" latinLnBrk="0" hangingPunct="1">
        <a:defRPr sz="3360" kern="1200">
          <a:solidFill>
            <a:schemeClr val="tx1"/>
          </a:solidFill>
          <a:latin typeface="+mn-lt"/>
          <a:ea typeface="+mn-ea"/>
          <a:cs typeface="+mn-cs"/>
        </a:defRPr>
      </a:lvl1pPr>
      <a:lvl2pPr marL="853455" algn="l" defTabSz="1706910" rtl="0" eaLnBrk="1" latinLnBrk="0" hangingPunct="1">
        <a:defRPr sz="3360" kern="1200">
          <a:solidFill>
            <a:schemeClr val="tx1"/>
          </a:solidFill>
          <a:latin typeface="+mn-lt"/>
          <a:ea typeface="+mn-ea"/>
          <a:cs typeface="+mn-cs"/>
        </a:defRPr>
      </a:lvl2pPr>
      <a:lvl3pPr marL="1706910" algn="l" defTabSz="1706910" rtl="0" eaLnBrk="1" latinLnBrk="0" hangingPunct="1">
        <a:defRPr sz="3360" kern="1200">
          <a:solidFill>
            <a:schemeClr val="tx1"/>
          </a:solidFill>
          <a:latin typeface="+mn-lt"/>
          <a:ea typeface="+mn-ea"/>
          <a:cs typeface="+mn-cs"/>
        </a:defRPr>
      </a:lvl3pPr>
      <a:lvl4pPr marL="2560366" algn="l" defTabSz="1706910" rtl="0" eaLnBrk="1" latinLnBrk="0" hangingPunct="1">
        <a:defRPr sz="3360" kern="1200">
          <a:solidFill>
            <a:schemeClr val="tx1"/>
          </a:solidFill>
          <a:latin typeface="+mn-lt"/>
          <a:ea typeface="+mn-ea"/>
          <a:cs typeface="+mn-cs"/>
        </a:defRPr>
      </a:lvl4pPr>
      <a:lvl5pPr marL="3413821" algn="l" defTabSz="1706910" rtl="0" eaLnBrk="1" latinLnBrk="0" hangingPunct="1">
        <a:defRPr sz="3360" kern="1200">
          <a:solidFill>
            <a:schemeClr val="tx1"/>
          </a:solidFill>
          <a:latin typeface="+mn-lt"/>
          <a:ea typeface="+mn-ea"/>
          <a:cs typeface="+mn-cs"/>
        </a:defRPr>
      </a:lvl5pPr>
      <a:lvl6pPr marL="4267276" algn="l" defTabSz="1706910" rtl="0" eaLnBrk="1" latinLnBrk="0" hangingPunct="1">
        <a:defRPr sz="3360" kern="1200">
          <a:solidFill>
            <a:schemeClr val="tx1"/>
          </a:solidFill>
          <a:latin typeface="+mn-lt"/>
          <a:ea typeface="+mn-ea"/>
          <a:cs typeface="+mn-cs"/>
        </a:defRPr>
      </a:lvl6pPr>
      <a:lvl7pPr marL="5120731" algn="l" defTabSz="1706910" rtl="0" eaLnBrk="1" latinLnBrk="0" hangingPunct="1">
        <a:defRPr sz="3360" kern="1200">
          <a:solidFill>
            <a:schemeClr val="tx1"/>
          </a:solidFill>
          <a:latin typeface="+mn-lt"/>
          <a:ea typeface="+mn-ea"/>
          <a:cs typeface="+mn-cs"/>
        </a:defRPr>
      </a:lvl7pPr>
      <a:lvl8pPr marL="5974187" algn="l" defTabSz="1706910" rtl="0" eaLnBrk="1" latinLnBrk="0" hangingPunct="1">
        <a:defRPr sz="3360" kern="1200">
          <a:solidFill>
            <a:schemeClr val="tx1"/>
          </a:solidFill>
          <a:latin typeface="+mn-lt"/>
          <a:ea typeface="+mn-ea"/>
          <a:cs typeface="+mn-cs"/>
        </a:defRPr>
      </a:lvl8pPr>
      <a:lvl9pPr marL="6827642" algn="l" defTabSz="1706910" rtl="0" eaLnBrk="1" latinLnBrk="0" hangingPunct="1">
        <a:defRPr sz="33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5C505450-C5E0-1B5C-6748-4D78433A1E86}"/>
              </a:ext>
            </a:extLst>
          </p:cNvPr>
          <p:cNvGraphicFramePr>
            <a:graphicFrameLocks noGrp="1"/>
          </p:cNvGraphicFramePr>
          <p:nvPr>
            <p:extLst>
              <p:ext uri="{D42A27DB-BD31-4B8C-83A1-F6EECF244321}">
                <p14:modId xmlns:p14="http://schemas.microsoft.com/office/powerpoint/2010/main" val="1175326873"/>
              </p:ext>
            </p:extLst>
          </p:nvPr>
        </p:nvGraphicFramePr>
        <p:xfrm>
          <a:off x="212538" y="640569"/>
          <a:ext cx="9235515" cy="11873954"/>
        </p:xfrm>
        <a:graphic>
          <a:graphicData uri="http://schemas.openxmlformats.org/drawingml/2006/table">
            <a:tbl>
              <a:tblPr firstRow="1" bandRow="1">
                <a:tableStyleId>{5940675A-B579-460E-94D1-54222C63F5DA}</a:tableStyleId>
              </a:tblPr>
              <a:tblGrid>
                <a:gridCol w="4619065">
                  <a:extLst>
                    <a:ext uri="{9D8B030D-6E8A-4147-A177-3AD203B41FA5}">
                      <a16:colId xmlns:a16="http://schemas.microsoft.com/office/drawing/2014/main" val="2764526960"/>
                    </a:ext>
                  </a:extLst>
                </a:gridCol>
                <a:gridCol w="4616450">
                  <a:extLst>
                    <a:ext uri="{9D8B030D-6E8A-4147-A177-3AD203B41FA5}">
                      <a16:colId xmlns:a16="http://schemas.microsoft.com/office/drawing/2014/main" val="4046254876"/>
                    </a:ext>
                  </a:extLst>
                </a:gridCol>
              </a:tblGrid>
              <a:tr h="4422933">
                <a:tc>
                  <a:txBody>
                    <a:bodyPr/>
                    <a:lstStyle/>
                    <a:p>
                      <a:r>
                        <a:rPr lang="en-GB" sz="2000" dirty="0"/>
                        <a:t>2. Project Methodology</a:t>
                      </a:r>
                    </a:p>
                    <a:p>
                      <a:pPr marL="228600" indent="-228600">
                        <a:buAutoNum type="arabicPeriod"/>
                      </a:pPr>
                      <a:r>
                        <a:rPr lang="en-GB" sz="1000" dirty="0"/>
                        <a:t>List the steps you took to carry out the project</a:t>
                      </a:r>
                    </a:p>
                    <a:p>
                      <a:pPr marL="228600" indent="-228600">
                        <a:buAutoNum type="arabicPeriod"/>
                      </a:pPr>
                      <a:r>
                        <a:rPr lang="en-GB" sz="1000" dirty="0"/>
                        <a:t>Include train/validate/test split and model selection</a:t>
                      </a:r>
                    </a:p>
                    <a:p>
                      <a:pPr marL="228600" indent="-228600">
                        <a:buAutoNum type="arabicPeriod"/>
                      </a:pPr>
                      <a:r>
                        <a:rPr lang="en-GB" sz="1000" dirty="0"/>
                        <a:t>This list should cover ALL the steps in the process</a:t>
                      </a:r>
                    </a:p>
                    <a:p>
                      <a:pPr marL="228600" indent="-228600">
                        <a:buAutoNum type="arabicPeriod"/>
                      </a:pPr>
                      <a:r>
                        <a:rPr lang="en-GB" sz="1000" dirty="0"/>
                        <a:t>…</a:t>
                      </a:r>
                    </a:p>
                    <a:p>
                      <a:pPr marL="228600" indent="-228600">
                        <a:buAutoNum type="arabicPeriod"/>
                      </a:pPr>
                      <a:r>
                        <a:rPr lang="en-GB" sz="1000" dirty="0"/>
                        <a:t>…</a:t>
                      </a:r>
                    </a:p>
                    <a:p>
                      <a:pPr marL="0" indent="0">
                        <a:buNone/>
                      </a:pPr>
                      <a:endParaRPr lang="en-GB" sz="1000" dirty="0"/>
                    </a:p>
                    <a:p>
                      <a:pPr marL="0" indent="0">
                        <a:buNone/>
                      </a:pPr>
                      <a:endParaRPr lang="en-GB" sz="1000" dirty="0"/>
                    </a:p>
                    <a:p>
                      <a:pPr marL="0" indent="0">
                        <a:buNone/>
                      </a:pPr>
                      <a:endParaRPr lang="en-GB" sz="1000" dirty="0"/>
                    </a:p>
                    <a:p>
                      <a:pPr marL="0" indent="0">
                        <a:buNone/>
                      </a:pPr>
                      <a:endParaRPr lang="en-GB" sz="1200" dirty="0"/>
                    </a:p>
                    <a:p>
                      <a:pPr marL="0" marR="0" lvl="0" indent="0" algn="l" defTabSz="1706910" rtl="0" eaLnBrk="1" fontAlgn="auto" latinLnBrk="0" hangingPunct="1">
                        <a:lnSpc>
                          <a:spcPct val="100000"/>
                        </a:lnSpc>
                        <a:spcBef>
                          <a:spcPts val="0"/>
                        </a:spcBef>
                        <a:spcAft>
                          <a:spcPts val="0"/>
                        </a:spcAft>
                        <a:buClrTx/>
                        <a:buSzTx/>
                        <a:buFontTx/>
                        <a:buNone/>
                        <a:tabLst/>
                        <a:defRPr/>
                      </a:pPr>
                      <a:r>
                        <a:rPr lang="en-GB" sz="2000" kern="1200" dirty="0">
                          <a:solidFill>
                            <a:schemeClr val="tx1"/>
                          </a:solidFill>
                          <a:latin typeface="+mn-lt"/>
                          <a:ea typeface="+mn-ea"/>
                          <a:cs typeface="+mn-cs"/>
                        </a:rPr>
                        <a:t>4. Data Preparation</a:t>
                      </a:r>
                    </a:p>
                    <a:p>
                      <a:pPr marL="0" indent="0">
                        <a:buNone/>
                      </a:pPr>
                      <a:r>
                        <a:rPr lang="en-GB" sz="1100" dirty="0"/>
                        <a:t>In the ISI variable histogram showed there is one extreme outlier far outside the normal range. The outlier was trimmed using the select rows widget in Orange. Histograms </a:t>
                      </a:r>
                      <a:r>
                        <a:rPr lang="en-GB" sz="1100"/>
                        <a:t>below show </a:t>
                      </a:r>
                      <a:r>
                        <a:rPr lang="en-GB" sz="1100" dirty="0"/>
                        <a:t>the ISI distribution before and after cleaning.</a:t>
                      </a:r>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2000" kern="1200" dirty="0">
                          <a:solidFill>
                            <a:schemeClr val="tx1"/>
                          </a:solidFill>
                          <a:latin typeface="+mn-lt"/>
                          <a:ea typeface="+mn-ea"/>
                          <a:cs typeface="+mn-cs"/>
                        </a:rPr>
                        <a:t>3 Variables/ Data Understanding</a:t>
                      </a:r>
                      <a:endParaRPr lang="en-GB" dirty="0"/>
                    </a:p>
                  </a:txBody>
                  <a:tcPr/>
                </a:tc>
                <a:extLst>
                  <a:ext uri="{0D108BD9-81ED-4DB2-BD59-A6C34878D82A}">
                    <a16:rowId xmlns:a16="http://schemas.microsoft.com/office/drawing/2014/main" val="4220087450"/>
                  </a:ext>
                </a:extLst>
              </a:tr>
              <a:tr h="3170497">
                <a:tc gridSpan="2">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2000" kern="1200" dirty="0">
                          <a:solidFill>
                            <a:schemeClr val="tx1"/>
                          </a:solidFill>
                          <a:latin typeface="+mn-lt"/>
                          <a:ea typeface="+mn-ea"/>
                          <a:cs typeface="+mn-cs"/>
                        </a:rPr>
                        <a:t>5. Model Training and Hyper Parameters</a:t>
                      </a:r>
                    </a:p>
                    <a:p>
                      <a:pPr marL="0" marR="0" lvl="0" indent="0" algn="l" defTabSz="1706910" rtl="0" eaLnBrk="1" fontAlgn="auto" latinLnBrk="0" hangingPunct="1">
                        <a:lnSpc>
                          <a:spcPct val="100000"/>
                        </a:lnSpc>
                        <a:spcBef>
                          <a:spcPts val="0"/>
                        </a:spcBef>
                        <a:spcAft>
                          <a:spcPts val="0"/>
                        </a:spcAft>
                        <a:buClrTx/>
                        <a:buSzTx/>
                        <a:buFontTx/>
                        <a:buNone/>
                        <a:tabLst/>
                        <a:defRPr/>
                      </a:pPr>
                      <a:r>
                        <a:rPr lang="en-US" sz="1050" dirty="0"/>
                        <a:t>A table showing the different models and hyper parameters you trained, </a:t>
                      </a:r>
                    </a:p>
                    <a:p>
                      <a:pPr marL="0" marR="0" lvl="0" indent="0" algn="l" defTabSz="1706910" rtl="0" eaLnBrk="1" fontAlgn="auto" latinLnBrk="0" hangingPunct="1">
                        <a:lnSpc>
                          <a:spcPct val="100000"/>
                        </a:lnSpc>
                        <a:spcBef>
                          <a:spcPts val="0"/>
                        </a:spcBef>
                        <a:spcAft>
                          <a:spcPts val="0"/>
                        </a:spcAft>
                        <a:buClrTx/>
                        <a:buSzTx/>
                        <a:buFontTx/>
                        <a:buNone/>
                        <a:tabLst/>
                        <a:defRPr/>
                      </a:pPr>
                      <a:r>
                        <a:rPr lang="en-US" sz="1050" dirty="0"/>
                        <a:t>along with the correct metric for each; Add a sentence on how you chose the hyper parameter values. Make sure you name the metric correctly.</a:t>
                      </a:r>
                      <a:endParaRPr lang="en-GB" sz="1050" kern="1200" dirty="0">
                        <a:solidFill>
                          <a:schemeClr val="tx1"/>
                        </a:solidFill>
                        <a:latin typeface="+mn-lt"/>
                        <a:ea typeface="+mn-ea"/>
                        <a:cs typeface="+mn-cs"/>
                      </a:endParaRPr>
                    </a:p>
                  </a:txBody>
                  <a:tcPr/>
                </a:tc>
                <a:tc hMerge="1">
                  <a:txBody>
                    <a:bodyPr/>
                    <a:lstStyle/>
                    <a:p>
                      <a:r>
                        <a:rPr lang="en-GB" dirty="0"/>
                        <a:t>Model Hyper Parameters</a:t>
                      </a:r>
                    </a:p>
                  </a:txBody>
                  <a:tcPr/>
                </a:tc>
                <a:extLst>
                  <a:ext uri="{0D108BD9-81ED-4DB2-BD59-A6C34878D82A}">
                    <a16:rowId xmlns:a16="http://schemas.microsoft.com/office/drawing/2014/main" val="2896326707"/>
                  </a:ext>
                </a:extLst>
              </a:tr>
              <a:tr h="2140262">
                <a:tc rowSpan="2">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mn-lt"/>
                          <a:ea typeface="+mn-ea"/>
                          <a:cs typeface="+mn-cs"/>
                        </a:rPr>
                        <a:t>6. Final Model and Results</a:t>
                      </a: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mn-lt"/>
                          <a:ea typeface="+mn-ea"/>
                          <a:cs typeface="+mn-cs"/>
                        </a:rPr>
                        <a:t>Say how you chose the final model to test, and how you trained that model.</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mn-lt"/>
                          <a:ea typeface="+mn-ea"/>
                          <a:cs typeface="+mn-cs"/>
                        </a:rPr>
                        <a:t>Put the confusion matrix here</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r>
                        <a:rPr lang="en-GB" sz="1050" dirty="0"/>
                        <a:t>Explain what the confusion matrix tells us.</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endParaRPr lang="en-GB" dirty="0"/>
                    </a:p>
                  </a:txBody>
                  <a:tcPr/>
                </a:tc>
                <a:tc>
                  <a:txBody>
                    <a:bodyPr/>
                    <a:lstStyle/>
                    <a:p>
                      <a:r>
                        <a:rPr lang="en-GB" sz="2000" dirty="0"/>
                        <a:t>7. Insight about data or models gained</a:t>
                      </a:r>
                      <a:endParaRPr lang="en-GB" sz="1200" dirty="0"/>
                    </a:p>
                    <a:p>
                      <a:endParaRPr lang="en-GB" sz="1200" dirty="0"/>
                    </a:p>
                    <a:p>
                      <a:pPr marL="457200" lvl="0" indent="-457200">
                        <a:buFont typeface="Arial"/>
                        <a:buChar char="•"/>
                      </a:pPr>
                      <a:r>
                        <a:rPr lang="en-GB" sz="1050" b="0" i="0" u="none" strike="noStrike" noProof="0" dirty="0">
                          <a:solidFill>
                            <a:srgbClr val="000000"/>
                          </a:solidFill>
                          <a:latin typeface="Calibri"/>
                        </a:rPr>
                        <a:t>For example, did you learn anything about specific features that drive the model? Is the model biased towards particular groups in the data? Is the model you've chosen good for helping us to understand why particular predictions are made?</a:t>
                      </a:r>
                    </a:p>
                    <a:p>
                      <a:endParaRPr lang="en-GB" sz="1200" dirty="0"/>
                    </a:p>
                    <a:p>
                      <a:endParaRPr lang="en-GB" sz="1200" dirty="0"/>
                    </a:p>
                  </a:txBody>
                  <a:tcPr/>
                </a:tc>
                <a:extLst>
                  <a:ext uri="{0D108BD9-81ED-4DB2-BD59-A6C34878D82A}">
                    <a16:rowId xmlns:a16="http://schemas.microsoft.com/office/drawing/2014/main" val="3680923459"/>
                  </a:ext>
                </a:extLst>
              </a:tr>
              <a:tr h="2140262">
                <a:tc vMerge="1">
                  <a:txBody>
                    <a:bodyPr/>
                    <a:lstStyle/>
                    <a:p>
                      <a:endParaRPr lang="en-GB" dirty="0"/>
                    </a:p>
                  </a:txBody>
                  <a:tcPr/>
                </a:tc>
                <a:tc>
                  <a:txBody>
                    <a:bodyPr/>
                    <a:lstStyle/>
                    <a:p>
                      <a:pPr lvl="0">
                        <a:buNone/>
                      </a:pPr>
                      <a:endParaRPr lang="en-GB" sz="1200" dirty="0"/>
                    </a:p>
                  </a:txBody>
                  <a:tcPr/>
                </a:tc>
                <a:extLst>
                  <a:ext uri="{0D108BD9-81ED-4DB2-BD59-A6C34878D82A}">
                    <a16:rowId xmlns:a16="http://schemas.microsoft.com/office/drawing/2014/main" val="2549638520"/>
                  </a:ext>
                </a:extLst>
              </a:tr>
            </a:tbl>
          </a:graphicData>
        </a:graphic>
      </p:graphicFrame>
      <p:sp>
        <p:nvSpPr>
          <p:cNvPr id="6" name="TextBox 5">
            <a:extLst>
              <a:ext uri="{FF2B5EF4-FFF2-40B4-BE49-F238E27FC236}">
                <a16:creationId xmlns:a16="http://schemas.microsoft.com/office/drawing/2014/main" id="{8AF6D823-6DA6-9959-0DCB-CCA6AD2DD76E}"/>
              </a:ext>
            </a:extLst>
          </p:cNvPr>
          <p:cNvSpPr txBox="1"/>
          <p:nvPr/>
        </p:nvSpPr>
        <p:spPr>
          <a:xfrm>
            <a:off x="5086291" y="10476758"/>
            <a:ext cx="3637442" cy="807913"/>
          </a:xfrm>
          <a:prstGeom prst="rect">
            <a:avLst/>
          </a:prstGeom>
          <a:noFill/>
        </p:spPr>
        <p:txBody>
          <a:bodyPr wrap="square" lIns="91440" tIns="45720" rIns="91440" bIns="45720" rtlCol="0" anchor="t">
            <a:spAutoFit/>
          </a:bodyPr>
          <a:lstStyle/>
          <a:p>
            <a:r>
              <a:rPr lang="en-GB" dirty="0"/>
              <a:t>8. References</a:t>
            </a:r>
          </a:p>
          <a:p>
            <a:r>
              <a:rPr lang="en-GB" sz="1050" b="0" i="0" dirty="0">
                <a:solidFill>
                  <a:srgbClr val="202122"/>
                </a:solidFill>
                <a:effectLst/>
                <a:latin typeface="Arial"/>
                <a:cs typeface="Arial"/>
              </a:rPr>
              <a:t>[1] If you reference any papers or websites, list them here</a:t>
            </a:r>
            <a:endParaRPr lang="en-GB" sz="1200" dirty="0">
              <a:latin typeface="Calibri" panose="020F0502020204030204"/>
              <a:ea typeface="Calibri" panose="020F0502020204030204"/>
              <a:cs typeface="Calibri" panose="020F0502020204030204"/>
            </a:endParaRPr>
          </a:p>
          <a:p>
            <a:endParaRPr lang="en-GB" dirty="0"/>
          </a:p>
        </p:txBody>
      </p:sp>
      <p:graphicFrame>
        <p:nvGraphicFramePr>
          <p:cNvPr id="7" name="Table 7">
            <a:extLst>
              <a:ext uri="{FF2B5EF4-FFF2-40B4-BE49-F238E27FC236}">
                <a16:creationId xmlns:a16="http://schemas.microsoft.com/office/drawing/2014/main" id="{FBE95B7C-B010-6D30-1BB3-D0BB1817071D}"/>
              </a:ext>
            </a:extLst>
          </p:cNvPr>
          <p:cNvGraphicFramePr>
            <a:graphicFrameLocks noGrp="1"/>
          </p:cNvGraphicFramePr>
          <p:nvPr>
            <p:extLst>
              <p:ext uri="{D42A27DB-BD31-4B8C-83A1-F6EECF244321}">
                <p14:modId xmlns:p14="http://schemas.microsoft.com/office/powerpoint/2010/main" val="200926046"/>
              </p:ext>
            </p:extLst>
          </p:nvPr>
        </p:nvGraphicFramePr>
        <p:xfrm>
          <a:off x="212539" y="5740076"/>
          <a:ext cx="4588061" cy="2502075"/>
        </p:xfrm>
        <a:graphic>
          <a:graphicData uri="http://schemas.openxmlformats.org/drawingml/2006/table">
            <a:tbl>
              <a:tblPr firstRow="1" bandRow="1">
                <a:tableStyleId>{5C22544A-7EE6-4342-B048-85BDC9FD1C3A}</a:tableStyleId>
              </a:tblPr>
              <a:tblGrid>
                <a:gridCol w="1529354">
                  <a:extLst>
                    <a:ext uri="{9D8B030D-6E8A-4147-A177-3AD203B41FA5}">
                      <a16:colId xmlns:a16="http://schemas.microsoft.com/office/drawing/2014/main" val="1907166431"/>
                    </a:ext>
                  </a:extLst>
                </a:gridCol>
                <a:gridCol w="1926620">
                  <a:extLst>
                    <a:ext uri="{9D8B030D-6E8A-4147-A177-3AD203B41FA5}">
                      <a16:colId xmlns:a16="http://schemas.microsoft.com/office/drawing/2014/main" val="3484362391"/>
                    </a:ext>
                  </a:extLst>
                </a:gridCol>
                <a:gridCol w="1132087">
                  <a:extLst>
                    <a:ext uri="{9D8B030D-6E8A-4147-A177-3AD203B41FA5}">
                      <a16:colId xmlns:a16="http://schemas.microsoft.com/office/drawing/2014/main" val="326053815"/>
                    </a:ext>
                  </a:extLst>
                </a:gridCol>
              </a:tblGrid>
              <a:tr h="207370">
                <a:tc>
                  <a:txBody>
                    <a:bodyPr/>
                    <a:lstStyle/>
                    <a:p>
                      <a:r>
                        <a:rPr lang="en-GB" sz="800" b="0" dirty="0">
                          <a:latin typeface="Times New Roman" panose="02020603050405020304" pitchFamily="18" charset="0"/>
                          <a:cs typeface="Times New Roman" panose="02020603050405020304" pitchFamily="18" charset="0"/>
                        </a:rPr>
                        <a:t>Model</a:t>
                      </a:r>
                    </a:p>
                  </a:txBody>
                  <a:tcPr/>
                </a:tc>
                <a:tc>
                  <a:txBody>
                    <a:bodyPr/>
                    <a:lstStyle/>
                    <a:p>
                      <a:r>
                        <a:rPr lang="en-GB" sz="800" b="0" dirty="0">
                          <a:latin typeface="Times New Roman" panose="02020603050405020304" pitchFamily="18" charset="0"/>
                          <a:cs typeface="Times New Roman" panose="02020603050405020304" pitchFamily="18" charset="0"/>
                        </a:rPr>
                        <a:t>Hyper Parameters</a:t>
                      </a:r>
                    </a:p>
                  </a:txBody>
                  <a:tcPr/>
                </a:tc>
                <a:tc>
                  <a:txBody>
                    <a:bodyPr/>
                    <a:lstStyle/>
                    <a:p>
                      <a:r>
                        <a:rPr lang="en-GB" sz="800" b="0" dirty="0">
                          <a:latin typeface="Times New Roman" panose="02020603050405020304" pitchFamily="18" charset="0"/>
                          <a:cs typeface="Times New Roman" panose="02020603050405020304" pitchFamily="18" charset="0"/>
                        </a:rPr>
                        <a:t>Validation Metric</a:t>
                      </a:r>
                    </a:p>
                  </a:txBody>
                  <a:tcPr/>
                </a:tc>
                <a:extLst>
                  <a:ext uri="{0D108BD9-81ED-4DB2-BD59-A6C34878D82A}">
                    <a16:rowId xmlns:a16="http://schemas.microsoft.com/office/drawing/2014/main" val="3158663126"/>
                  </a:ext>
                </a:extLst>
              </a:tr>
              <a:tr h="335749">
                <a:tc>
                  <a:txBody>
                    <a:bodyPr/>
                    <a:lstStyle/>
                    <a:p>
                      <a:r>
                        <a:rPr lang="en-US" sz="800" b="0" dirty="0">
                          <a:latin typeface="Times New Roman" panose="02020603050405020304" pitchFamily="18" charset="0"/>
                          <a:cs typeface="Times New Roman" panose="02020603050405020304" pitchFamily="18" charset="0"/>
                        </a:rPr>
                        <a:t>Random Forest</a:t>
                      </a:r>
                      <a:endParaRPr lang="en-GB" sz="800" b="0" dirty="0">
                        <a:latin typeface="Times New Roman" panose="02020603050405020304" pitchFamily="18" charset="0"/>
                        <a:cs typeface="Times New Roman" panose="02020603050405020304" pitchFamily="18" charset="0"/>
                      </a:endParaRPr>
                    </a:p>
                  </a:txBody>
                  <a:tcPr/>
                </a:tc>
                <a:tc>
                  <a:txBody>
                    <a:bodyPr/>
                    <a:lstStyle/>
                    <a:p>
                      <a:r>
                        <a:rPr lang="en-GB" sz="800" b="0" dirty="0">
                          <a:latin typeface="Times New Roman" panose="02020603050405020304" pitchFamily="18" charset="0"/>
                          <a:cs typeface="Times New Roman" panose="02020603050405020304" pitchFamily="18" charset="0"/>
                        </a:rPr>
                        <a:t>150 trees, attributes at each split 5, Do not split subsets smaller than 5</a:t>
                      </a:r>
                    </a:p>
                  </a:txBody>
                  <a:tcPr/>
                </a:tc>
                <a:tc>
                  <a:txBody>
                    <a:bodyPr/>
                    <a:lstStyle/>
                    <a:p>
                      <a:r>
                        <a:rPr lang="en-GB" sz="800" b="0" dirty="0">
                          <a:latin typeface="Times New Roman" panose="02020603050405020304" pitchFamily="18" charset="0"/>
                          <a:cs typeface="Times New Roman" panose="02020603050405020304" pitchFamily="18" charset="0"/>
                        </a:rPr>
                        <a:t>CA: 0.922, F1: 0.922</a:t>
                      </a:r>
                    </a:p>
                  </a:txBody>
                  <a:tcPr/>
                </a:tc>
                <a:extLst>
                  <a:ext uri="{0D108BD9-81ED-4DB2-BD59-A6C34878D82A}">
                    <a16:rowId xmlns:a16="http://schemas.microsoft.com/office/drawing/2014/main" val="391472538"/>
                  </a:ext>
                </a:extLst>
              </a:tr>
              <a:tr h="444364">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b="0" dirty="0">
                          <a:latin typeface="Times New Roman" panose="02020603050405020304" pitchFamily="18" charset="0"/>
                          <a:cs typeface="Times New Roman" panose="02020603050405020304" pitchFamily="18" charset="0"/>
                        </a:rPr>
                        <a:t>Gradient Boosting </a:t>
                      </a:r>
                    </a:p>
                  </a:txBody>
                  <a:tcPr/>
                </a:tc>
                <a:tc>
                  <a:txBody>
                    <a:bodyPr/>
                    <a:lstStyle/>
                    <a:p>
                      <a:r>
                        <a:rPr lang="en-GB" sz="800" b="0" dirty="0">
                          <a:latin typeface="Times New Roman" panose="02020603050405020304" pitchFamily="18" charset="0"/>
                          <a:cs typeface="Times New Roman" panose="02020603050405020304" pitchFamily="18" charset="0"/>
                        </a:rPr>
                        <a:t>150 trees, 0.1 learning rate, depth limit 3, subsampling 1.00, Do not split subsets smaller than 2</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b="0" dirty="0">
                          <a:latin typeface="Times New Roman" panose="02020603050405020304" pitchFamily="18" charset="0"/>
                          <a:cs typeface="Times New Roman" panose="02020603050405020304" pitchFamily="18" charset="0"/>
                        </a:rPr>
                        <a:t>CA: 0.922, F1: 0.922</a:t>
                      </a:r>
                    </a:p>
                    <a:p>
                      <a:endParaRPr lang="en-GB" sz="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0307176"/>
                  </a:ext>
                </a:extLst>
              </a:tr>
              <a:tr h="444364">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b="0" dirty="0">
                          <a:latin typeface="Times New Roman" panose="02020603050405020304" pitchFamily="18" charset="0"/>
                          <a:cs typeface="Times New Roman" panose="02020603050405020304" pitchFamily="18" charset="0"/>
                        </a:rPr>
                        <a:t>Tree</a:t>
                      </a:r>
                    </a:p>
                  </a:txBody>
                  <a:tcPr/>
                </a:tc>
                <a:tc>
                  <a:txBody>
                    <a:bodyPr/>
                    <a:lstStyle/>
                    <a:p>
                      <a:r>
                        <a:rPr lang="en-GB" sz="800" b="0" dirty="0">
                          <a:latin typeface="Times New Roman" panose="02020603050405020304" pitchFamily="18" charset="0"/>
                          <a:cs typeface="Times New Roman" panose="02020603050405020304" pitchFamily="18" charset="0"/>
                        </a:rPr>
                        <a:t>Do not split subsets smaller than 5, Maximum tree depth 10, Stop when class majority reaches 95%, </a:t>
                      </a:r>
                      <a:r>
                        <a:rPr lang="en-GB" sz="800" dirty="0">
                          <a:latin typeface="Times New Roman" panose="02020603050405020304" pitchFamily="18" charset="0"/>
                          <a:cs typeface="Times New Roman" panose="02020603050405020304" pitchFamily="18" charset="0"/>
                        </a:rPr>
                        <a:t>Min leaves 2</a:t>
                      </a:r>
                      <a:endParaRPr lang="en-GB" sz="800" b="0" dirty="0">
                        <a:latin typeface="Times New Roman" panose="02020603050405020304" pitchFamily="18" charset="0"/>
                        <a:cs typeface="Times New Roman" panose="02020603050405020304" pitchFamily="18" charset="0"/>
                      </a:endParaRPr>
                    </a:p>
                  </a:txBody>
                  <a:tcPr/>
                </a:tc>
                <a:tc>
                  <a:txBody>
                    <a:bodyPr/>
                    <a:lstStyle/>
                    <a:p>
                      <a:r>
                        <a:rPr lang="en-GB" sz="800" b="0" dirty="0">
                          <a:latin typeface="Times New Roman" panose="02020603050405020304" pitchFamily="18" charset="0"/>
                          <a:cs typeface="Times New Roman" panose="02020603050405020304" pitchFamily="18" charset="0"/>
                        </a:rPr>
                        <a:t>CA: 0.883, F1: 0.883</a:t>
                      </a:r>
                    </a:p>
                  </a:txBody>
                  <a:tcPr/>
                </a:tc>
                <a:extLst>
                  <a:ext uri="{0D108BD9-81ED-4DB2-BD59-A6C34878D82A}">
                    <a16:rowId xmlns:a16="http://schemas.microsoft.com/office/drawing/2014/main" val="1144539082"/>
                  </a:ext>
                </a:extLst>
              </a:tr>
              <a:tr h="421508">
                <a:tc>
                  <a:txBody>
                    <a:bodyPr/>
                    <a:lstStyle/>
                    <a:p>
                      <a:r>
                        <a:rPr lang="en-US" sz="800" b="0" dirty="0">
                          <a:latin typeface="Times New Roman" panose="02020603050405020304" pitchFamily="18" charset="0"/>
                          <a:cs typeface="Times New Roman" panose="02020603050405020304" pitchFamily="18" charset="0"/>
                        </a:rPr>
                        <a:t>Neural Networks</a:t>
                      </a:r>
                      <a:endParaRPr lang="en-GB" sz="800" b="0" dirty="0">
                        <a:latin typeface="Times New Roman" panose="02020603050405020304" pitchFamily="18" charset="0"/>
                        <a:cs typeface="Times New Roman" panose="02020603050405020304" pitchFamily="18" charset="0"/>
                      </a:endParaRPr>
                    </a:p>
                  </a:txBody>
                  <a:tcPr/>
                </a:tc>
                <a:tc>
                  <a:txBody>
                    <a:bodyPr/>
                    <a:lstStyle/>
                    <a:p>
                      <a:r>
                        <a:rPr lang="en-GB" sz="800" b="0" dirty="0">
                          <a:latin typeface="Times New Roman" panose="02020603050405020304" pitchFamily="18" charset="0"/>
                          <a:cs typeface="Times New Roman" panose="02020603050405020304" pitchFamily="18" charset="0"/>
                        </a:rPr>
                        <a:t>Hidden layers: 5, 10. Activation: </a:t>
                      </a:r>
                      <a:r>
                        <a:rPr lang="en-GB" sz="800" b="0" dirty="0" err="1">
                          <a:latin typeface="Times New Roman" panose="02020603050405020304" pitchFamily="18" charset="0"/>
                          <a:cs typeface="Times New Roman" panose="02020603050405020304" pitchFamily="18" charset="0"/>
                        </a:rPr>
                        <a:t>ReLU</a:t>
                      </a:r>
                      <a:r>
                        <a:rPr lang="en-GB" sz="800" b="0" dirty="0">
                          <a:latin typeface="Times New Roman" panose="02020603050405020304" pitchFamily="18" charset="0"/>
                          <a:cs typeface="Times New Roman" panose="02020603050405020304" pitchFamily="18" charset="0"/>
                        </a:rPr>
                        <a:t> Solver Adam, Regularisation: 0.01 Iterations: 200</a:t>
                      </a:r>
                    </a:p>
                  </a:txBody>
                  <a:tcPr/>
                </a:tc>
                <a:tc>
                  <a:txBody>
                    <a:bodyPr/>
                    <a:lstStyle/>
                    <a:p>
                      <a:r>
                        <a:rPr lang="en-GB" sz="800" b="0" dirty="0">
                          <a:latin typeface="Times New Roman" panose="02020603050405020304" pitchFamily="18" charset="0"/>
                          <a:cs typeface="Times New Roman" panose="02020603050405020304" pitchFamily="18" charset="0"/>
                        </a:rPr>
                        <a:t>CA: 0.649, F1: 0.645</a:t>
                      </a:r>
                    </a:p>
                  </a:txBody>
                  <a:tcPr/>
                </a:tc>
                <a:extLst>
                  <a:ext uri="{0D108BD9-81ED-4DB2-BD59-A6C34878D82A}">
                    <a16:rowId xmlns:a16="http://schemas.microsoft.com/office/drawing/2014/main" val="3656706315"/>
                  </a:ext>
                </a:extLst>
              </a:tr>
              <a:tr h="246086">
                <a:tc>
                  <a:txBody>
                    <a:bodyPr/>
                    <a:lstStyle/>
                    <a:p>
                      <a:r>
                        <a:rPr lang="en-GB" sz="800" b="0" dirty="0">
                          <a:latin typeface="Times New Roman" panose="02020603050405020304" pitchFamily="18" charset="0"/>
                          <a:cs typeface="Times New Roman" panose="02020603050405020304" pitchFamily="18" charset="0"/>
                        </a:rPr>
                        <a:t>Logistic Regression </a:t>
                      </a:r>
                    </a:p>
                  </a:txBody>
                  <a:tcPr/>
                </a:tc>
                <a:tc>
                  <a:txBody>
                    <a:bodyPr/>
                    <a:lstStyle/>
                    <a:p>
                      <a:r>
                        <a:rPr lang="en-GB" sz="800" b="0" dirty="0">
                          <a:latin typeface="Times New Roman" panose="02020603050405020304" pitchFamily="18" charset="0"/>
                          <a:cs typeface="Times New Roman" panose="02020603050405020304" pitchFamily="18" charset="0"/>
                        </a:rPr>
                        <a:t>Regularisation: L2 (Ridge)strength C = 10</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b="0" dirty="0">
                          <a:latin typeface="Times New Roman" panose="02020603050405020304" pitchFamily="18" charset="0"/>
                          <a:cs typeface="Times New Roman" panose="02020603050405020304" pitchFamily="18" charset="0"/>
                        </a:rPr>
                        <a:t>CA: 0.701, F1: 0.699</a:t>
                      </a:r>
                    </a:p>
                  </a:txBody>
                  <a:tcPr/>
                </a:tc>
                <a:extLst>
                  <a:ext uri="{0D108BD9-81ED-4DB2-BD59-A6C34878D82A}">
                    <a16:rowId xmlns:a16="http://schemas.microsoft.com/office/drawing/2014/main" val="3941308124"/>
                  </a:ext>
                </a:extLst>
              </a:tr>
              <a:tr h="325867">
                <a:tc>
                  <a:txBody>
                    <a:bodyPr/>
                    <a:lstStyle/>
                    <a:p>
                      <a:r>
                        <a:rPr lang="en-GB" sz="800" b="0" dirty="0">
                          <a:latin typeface="Times New Roman" panose="02020603050405020304" pitchFamily="18" charset="0"/>
                          <a:cs typeface="Times New Roman" panose="02020603050405020304" pitchFamily="18" charset="0"/>
                        </a:rPr>
                        <a:t>KNN </a:t>
                      </a:r>
                    </a:p>
                  </a:txBody>
                  <a:tcPr/>
                </a:tc>
                <a:tc>
                  <a:txBody>
                    <a:bodyPr/>
                    <a:lstStyle/>
                    <a:p>
                      <a:r>
                        <a:rPr lang="en-GB" sz="800" b="0" dirty="0">
                          <a:latin typeface="Times New Roman" panose="02020603050405020304" pitchFamily="18" charset="0"/>
                          <a:cs typeface="Times New Roman" panose="02020603050405020304" pitchFamily="18" charset="0"/>
                        </a:rPr>
                        <a:t>5 neighbours, metric: Euclidean, Weight: Uniform</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b="0" dirty="0">
                          <a:latin typeface="Times New Roman" panose="02020603050405020304" pitchFamily="18" charset="0"/>
                          <a:cs typeface="Times New Roman" panose="02020603050405020304" pitchFamily="18" charset="0"/>
                        </a:rPr>
                        <a:t>CA</a:t>
                      </a:r>
                      <a:r>
                        <a:rPr lang="en-GB" sz="800" b="0">
                          <a:latin typeface="Times New Roman" panose="02020603050405020304" pitchFamily="18" charset="0"/>
                          <a:cs typeface="Times New Roman" panose="02020603050405020304" pitchFamily="18" charset="0"/>
                        </a:rPr>
                        <a:t>: 0.831, </a:t>
                      </a:r>
                      <a:r>
                        <a:rPr lang="en-GB" sz="800" b="0" dirty="0">
                          <a:latin typeface="Times New Roman" panose="02020603050405020304" pitchFamily="18" charset="0"/>
                          <a:cs typeface="Times New Roman" panose="02020603050405020304" pitchFamily="18" charset="0"/>
                        </a:rPr>
                        <a:t>F1</a:t>
                      </a:r>
                      <a:r>
                        <a:rPr lang="en-GB" sz="800" b="0">
                          <a:latin typeface="Times New Roman" panose="02020603050405020304" pitchFamily="18" charset="0"/>
                          <a:cs typeface="Times New Roman" panose="02020603050405020304" pitchFamily="18" charset="0"/>
                        </a:rPr>
                        <a:t>: 0.832</a:t>
                      </a:r>
                      <a:endParaRPr lang="en-GB" sz="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14681235"/>
                  </a:ext>
                </a:extLst>
              </a:tr>
            </a:tbl>
          </a:graphicData>
        </a:graphic>
      </p:graphicFrame>
      <p:graphicFrame>
        <p:nvGraphicFramePr>
          <p:cNvPr id="2" name="Table 2">
            <a:extLst>
              <a:ext uri="{FF2B5EF4-FFF2-40B4-BE49-F238E27FC236}">
                <a16:creationId xmlns:a16="http://schemas.microsoft.com/office/drawing/2014/main" id="{50697821-56EE-B522-2650-CAC52B000E80}"/>
              </a:ext>
            </a:extLst>
          </p:cNvPr>
          <p:cNvGraphicFramePr>
            <a:graphicFrameLocks noGrp="1"/>
          </p:cNvGraphicFramePr>
          <p:nvPr>
            <p:extLst>
              <p:ext uri="{D42A27DB-BD31-4B8C-83A1-F6EECF244321}">
                <p14:modId xmlns:p14="http://schemas.microsoft.com/office/powerpoint/2010/main" val="2188182026"/>
              </p:ext>
            </p:extLst>
          </p:nvPr>
        </p:nvGraphicFramePr>
        <p:xfrm>
          <a:off x="358007" y="9102153"/>
          <a:ext cx="4178298" cy="1155753"/>
        </p:xfrm>
        <a:graphic>
          <a:graphicData uri="http://schemas.openxmlformats.org/drawingml/2006/table">
            <a:tbl>
              <a:tblPr firstRow="1" bandRow="1">
                <a:tableStyleId>{5C22544A-7EE6-4342-B048-85BDC9FD1C3A}</a:tableStyleId>
              </a:tblPr>
              <a:tblGrid>
                <a:gridCol w="1392766">
                  <a:extLst>
                    <a:ext uri="{9D8B030D-6E8A-4147-A177-3AD203B41FA5}">
                      <a16:colId xmlns:a16="http://schemas.microsoft.com/office/drawing/2014/main" val="3385219870"/>
                    </a:ext>
                  </a:extLst>
                </a:gridCol>
                <a:gridCol w="1392766">
                  <a:extLst>
                    <a:ext uri="{9D8B030D-6E8A-4147-A177-3AD203B41FA5}">
                      <a16:colId xmlns:a16="http://schemas.microsoft.com/office/drawing/2014/main" val="2134976436"/>
                    </a:ext>
                  </a:extLst>
                </a:gridCol>
                <a:gridCol w="1392766">
                  <a:extLst>
                    <a:ext uri="{9D8B030D-6E8A-4147-A177-3AD203B41FA5}">
                      <a16:colId xmlns:a16="http://schemas.microsoft.com/office/drawing/2014/main" val="629384850"/>
                    </a:ext>
                  </a:extLst>
                </a:gridCol>
              </a:tblGrid>
              <a:tr h="385251">
                <a:tc>
                  <a:txBody>
                    <a:bodyPr/>
                    <a:lstStyle/>
                    <a:p>
                      <a:r>
                        <a:rPr lang="en-GB" sz="1200" dirty="0"/>
                        <a:t>Actual / Predicted</a:t>
                      </a:r>
                    </a:p>
                  </a:txBody>
                  <a:tcPr/>
                </a:tc>
                <a:tc>
                  <a:txBody>
                    <a:bodyPr/>
                    <a:lstStyle/>
                    <a:p>
                      <a:r>
                        <a:rPr lang="en-GB" sz="1200" dirty="0"/>
                        <a:t>Good</a:t>
                      </a:r>
                    </a:p>
                  </a:txBody>
                  <a:tcPr/>
                </a:tc>
                <a:tc>
                  <a:txBody>
                    <a:bodyPr/>
                    <a:lstStyle/>
                    <a:p>
                      <a:r>
                        <a:rPr lang="en-GB" sz="1200" dirty="0"/>
                        <a:t>Bad</a:t>
                      </a:r>
                    </a:p>
                  </a:txBody>
                  <a:tcPr/>
                </a:tc>
                <a:extLst>
                  <a:ext uri="{0D108BD9-81ED-4DB2-BD59-A6C34878D82A}">
                    <a16:rowId xmlns:a16="http://schemas.microsoft.com/office/drawing/2014/main" val="2126179801"/>
                  </a:ext>
                </a:extLst>
              </a:tr>
              <a:tr h="385251">
                <a:tc>
                  <a:txBody>
                    <a:bodyPr/>
                    <a:lstStyle/>
                    <a:p>
                      <a:r>
                        <a:rPr lang="en-GB" sz="1200" dirty="0"/>
                        <a:t>Good</a:t>
                      </a:r>
                    </a:p>
                  </a:txBody>
                  <a:tcPr/>
                </a:tc>
                <a:tc>
                  <a:txBody>
                    <a:bodyPr/>
                    <a:lstStyle/>
                    <a:p>
                      <a:r>
                        <a:rPr lang="en-GB" sz="1200" dirty="0"/>
                        <a:t>220</a:t>
                      </a:r>
                    </a:p>
                  </a:txBody>
                  <a:tcPr/>
                </a:tc>
                <a:tc>
                  <a:txBody>
                    <a:bodyPr/>
                    <a:lstStyle/>
                    <a:p>
                      <a:r>
                        <a:rPr lang="en-GB" sz="1200" dirty="0"/>
                        <a:t>25</a:t>
                      </a:r>
                    </a:p>
                  </a:txBody>
                  <a:tcPr/>
                </a:tc>
                <a:extLst>
                  <a:ext uri="{0D108BD9-81ED-4DB2-BD59-A6C34878D82A}">
                    <a16:rowId xmlns:a16="http://schemas.microsoft.com/office/drawing/2014/main" val="1186692526"/>
                  </a:ext>
                </a:extLst>
              </a:tr>
              <a:tr h="385251">
                <a:tc>
                  <a:txBody>
                    <a:bodyPr/>
                    <a:lstStyle/>
                    <a:p>
                      <a:r>
                        <a:rPr lang="en-GB" sz="1200" dirty="0"/>
                        <a:t>Bad</a:t>
                      </a:r>
                    </a:p>
                  </a:txBody>
                  <a:tcPr/>
                </a:tc>
                <a:tc>
                  <a:txBody>
                    <a:bodyPr/>
                    <a:lstStyle/>
                    <a:p>
                      <a:r>
                        <a:rPr lang="en-GB" sz="1200" dirty="0"/>
                        <a:t>32</a:t>
                      </a:r>
                    </a:p>
                  </a:txBody>
                  <a:tcPr/>
                </a:tc>
                <a:tc>
                  <a:txBody>
                    <a:bodyPr/>
                    <a:lstStyle/>
                    <a:p>
                      <a:r>
                        <a:rPr lang="en-GB" sz="1200" dirty="0"/>
                        <a:t>195</a:t>
                      </a:r>
                    </a:p>
                  </a:txBody>
                  <a:tcPr/>
                </a:tc>
                <a:extLst>
                  <a:ext uri="{0D108BD9-81ED-4DB2-BD59-A6C34878D82A}">
                    <a16:rowId xmlns:a16="http://schemas.microsoft.com/office/drawing/2014/main" val="788774926"/>
                  </a:ext>
                </a:extLst>
              </a:tr>
            </a:tbl>
          </a:graphicData>
        </a:graphic>
      </p:graphicFrame>
      <p:graphicFrame>
        <p:nvGraphicFramePr>
          <p:cNvPr id="5" name="Table 9">
            <a:extLst>
              <a:ext uri="{FF2B5EF4-FFF2-40B4-BE49-F238E27FC236}">
                <a16:creationId xmlns:a16="http://schemas.microsoft.com/office/drawing/2014/main" id="{D4D093B8-47C2-E43F-6BF0-1D763DE45341}"/>
              </a:ext>
            </a:extLst>
          </p:cNvPr>
          <p:cNvGraphicFramePr>
            <a:graphicFrameLocks noGrp="1"/>
          </p:cNvGraphicFramePr>
          <p:nvPr>
            <p:extLst>
              <p:ext uri="{D42A27DB-BD31-4B8C-83A1-F6EECF244321}">
                <p14:modId xmlns:p14="http://schemas.microsoft.com/office/powerpoint/2010/main" val="1893544355"/>
              </p:ext>
            </p:extLst>
          </p:nvPr>
        </p:nvGraphicFramePr>
        <p:xfrm>
          <a:off x="4830295" y="929598"/>
          <a:ext cx="4617758" cy="4572000"/>
        </p:xfrm>
        <a:graphic>
          <a:graphicData uri="http://schemas.openxmlformats.org/drawingml/2006/table">
            <a:tbl>
              <a:tblPr firstRow="1" bandRow="1">
                <a:tableStyleId>{5C22544A-7EE6-4342-B048-85BDC9FD1C3A}</a:tableStyleId>
              </a:tblPr>
              <a:tblGrid>
                <a:gridCol w="461123">
                  <a:extLst>
                    <a:ext uri="{9D8B030D-6E8A-4147-A177-3AD203B41FA5}">
                      <a16:colId xmlns:a16="http://schemas.microsoft.com/office/drawing/2014/main" val="1922141735"/>
                    </a:ext>
                  </a:extLst>
                </a:gridCol>
                <a:gridCol w="685800">
                  <a:extLst>
                    <a:ext uri="{9D8B030D-6E8A-4147-A177-3AD203B41FA5}">
                      <a16:colId xmlns:a16="http://schemas.microsoft.com/office/drawing/2014/main" val="2956065983"/>
                    </a:ext>
                  </a:extLst>
                </a:gridCol>
                <a:gridCol w="524435">
                  <a:extLst>
                    <a:ext uri="{9D8B030D-6E8A-4147-A177-3AD203B41FA5}">
                      <a16:colId xmlns:a16="http://schemas.microsoft.com/office/drawing/2014/main" val="1545408251"/>
                    </a:ext>
                  </a:extLst>
                </a:gridCol>
                <a:gridCol w="2946400">
                  <a:extLst>
                    <a:ext uri="{9D8B030D-6E8A-4147-A177-3AD203B41FA5}">
                      <a16:colId xmlns:a16="http://schemas.microsoft.com/office/drawing/2014/main" val="2530128174"/>
                    </a:ext>
                  </a:extLst>
                </a:gridCol>
              </a:tblGrid>
              <a:tr h="322825">
                <a:tc>
                  <a:txBody>
                    <a:bodyPr/>
                    <a:lstStyle/>
                    <a:p>
                      <a:r>
                        <a:rPr lang="en-US" sz="800" dirty="0">
                          <a:latin typeface="Times New Roman" panose="02020603050405020304" pitchFamily="18" charset="0"/>
                          <a:cs typeface="Times New Roman" panose="02020603050405020304" pitchFamily="18" charset="0"/>
                        </a:rPr>
                        <a:t>Variable</a:t>
                      </a:r>
                      <a:endParaRPr lang="en-GB" sz="800" dirty="0">
                        <a:latin typeface="Times New Roman" panose="02020603050405020304" pitchFamily="18" charset="0"/>
                        <a:cs typeface="Times New Roman" panose="02020603050405020304" pitchFamily="18" charset="0"/>
                      </a:endParaRPr>
                    </a:p>
                  </a:txBody>
                  <a:tcPr/>
                </a:tc>
                <a:tc>
                  <a:txBody>
                    <a:bodyPr/>
                    <a:lstStyle/>
                    <a:p>
                      <a:r>
                        <a:rPr lang="en-US" sz="800" dirty="0">
                          <a:latin typeface="Times New Roman" panose="02020603050405020304" pitchFamily="18" charset="0"/>
                          <a:cs typeface="Times New Roman" panose="02020603050405020304" pitchFamily="18" charset="0"/>
                        </a:rPr>
                        <a:t>Type</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600" b="1" dirty="0">
                          <a:latin typeface="Times New Roman" panose="02020603050405020304" pitchFamily="18" charset="0"/>
                          <a:cs typeface="Times New Roman" panose="02020603050405020304" pitchFamily="18" charset="0"/>
                        </a:rPr>
                        <a:t>Used</a:t>
                      </a:r>
                      <a:r>
                        <a:rPr lang="en-GB" sz="800" dirty="0">
                          <a:latin typeface="Times New Roman" panose="02020603050405020304" pitchFamily="18" charset="0"/>
                          <a:cs typeface="Times New Roman" panose="02020603050405020304" pitchFamily="18" charset="0"/>
                        </a:rPr>
                        <a:t> </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dirty="0">
                          <a:latin typeface="Times New Roman" panose="02020603050405020304" pitchFamily="18" charset="0"/>
                          <a:cs typeface="Times New Roman" panose="02020603050405020304" pitchFamily="18" charset="0"/>
                        </a:rPr>
                        <a:t>Impact</a:t>
                      </a:r>
                    </a:p>
                    <a:p>
                      <a:endParaRPr lang="en-GB" sz="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21401175"/>
                  </a:ext>
                </a:extLst>
              </a:tr>
              <a:tr h="322825">
                <a:tc>
                  <a:txBody>
                    <a:bodyPr/>
                    <a:lstStyle/>
                    <a:p>
                      <a:r>
                        <a:rPr lang="en-US" sz="800" dirty="0">
                          <a:latin typeface="Times New Roman" panose="02020603050405020304" pitchFamily="18" charset="0"/>
                          <a:cs typeface="Times New Roman" panose="02020603050405020304" pitchFamily="18" charset="0"/>
                        </a:rPr>
                        <a:t>X</a:t>
                      </a:r>
                      <a:endParaRPr lang="en-GB" sz="800" dirty="0">
                        <a:latin typeface="Times New Roman" panose="02020603050405020304" pitchFamily="18" charset="0"/>
                        <a:cs typeface="Times New Roman" panose="02020603050405020304" pitchFamily="18" charset="0"/>
                      </a:endParaRPr>
                    </a:p>
                  </a:txBody>
                  <a:tcPr/>
                </a:tc>
                <a:tc>
                  <a:txBody>
                    <a:bodyPr/>
                    <a:lstStyle/>
                    <a:p>
                      <a:r>
                        <a:rPr lang="en-US" sz="800" dirty="0">
                          <a:latin typeface="Times New Roman" panose="02020603050405020304" pitchFamily="18" charset="0"/>
                          <a:cs typeface="Times New Roman" panose="02020603050405020304" pitchFamily="18" charset="0"/>
                        </a:rPr>
                        <a:t>Categorical</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yes</a:t>
                      </a:r>
                    </a:p>
                  </a:txBody>
                  <a:tcPr/>
                </a:tc>
                <a:tc>
                  <a:txBody>
                    <a:bodyPr/>
                    <a:lstStyle/>
                    <a:p>
                      <a:r>
                        <a:rPr lang="en-GB" sz="800" dirty="0">
                          <a:latin typeface="Times New Roman" panose="02020603050405020304" pitchFamily="18" charset="0"/>
                          <a:cs typeface="Times New Roman" panose="02020603050405020304" pitchFamily="18" charset="0"/>
                        </a:rPr>
                        <a:t>Used as categorical to avoid false numerical order and helps model identify location-based fire </a:t>
                      </a:r>
                    </a:p>
                  </a:txBody>
                  <a:tcPr/>
                </a:tc>
                <a:extLst>
                  <a:ext uri="{0D108BD9-81ED-4DB2-BD59-A6C34878D82A}">
                    <a16:rowId xmlns:a16="http://schemas.microsoft.com/office/drawing/2014/main" val="3202199352"/>
                  </a:ext>
                </a:extLst>
              </a:tr>
              <a:tr h="322825">
                <a:tc>
                  <a:txBody>
                    <a:bodyPr/>
                    <a:lstStyle/>
                    <a:p>
                      <a:r>
                        <a:rPr lang="en-US" sz="800" dirty="0">
                          <a:latin typeface="Times New Roman" panose="02020603050405020304" pitchFamily="18" charset="0"/>
                          <a:cs typeface="Times New Roman" panose="02020603050405020304" pitchFamily="18" charset="0"/>
                        </a:rPr>
                        <a:t>Y</a:t>
                      </a:r>
                      <a:endParaRPr lang="en-GB" sz="800" dirty="0">
                        <a:latin typeface="Times New Roman" panose="02020603050405020304" pitchFamily="18" charset="0"/>
                        <a:cs typeface="Times New Roman" panose="02020603050405020304" pitchFamily="18" charset="0"/>
                      </a:endParaRPr>
                    </a:p>
                  </a:txBody>
                  <a:tcPr/>
                </a:tc>
                <a:tc>
                  <a:txBody>
                    <a:bodyPr/>
                    <a:lstStyle/>
                    <a:p>
                      <a:r>
                        <a:rPr lang="en-US" sz="800" dirty="0">
                          <a:latin typeface="Times New Roman" panose="02020603050405020304" pitchFamily="18" charset="0"/>
                          <a:cs typeface="Times New Roman" panose="02020603050405020304" pitchFamily="18" charset="0"/>
                        </a:rPr>
                        <a:t>Categorical</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yes</a:t>
                      </a:r>
                    </a:p>
                  </a:txBody>
                  <a:tcPr/>
                </a:tc>
                <a:tc>
                  <a:txBody>
                    <a:bodyPr/>
                    <a:lstStyle/>
                    <a:p>
                      <a:r>
                        <a:rPr lang="en-GB" sz="800" dirty="0">
                          <a:latin typeface="Times New Roman" panose="02020603050405020304" pitchFamily="18" charset="0"/>
                          <a:cs typeface="Times New Roman" panose="02020603050405020304" pitchFamily="18" charset="0"/>
                        </a:rPr>
                        <a:t>Used as categorical to avoid false numerical order and helps model identify location-based fire.</a:t>
                      </a:r>
                    </a:p>
                  </a:txBody>
                  <a:tcPr/>
                </a:tc>
                <a:extLst>
                  <a:ext uri="{0D108BD9-81ED-4DB2-BD59-A6C34878D82A}">
                    <a16:rowId xmlns:a16="http://schemas.microsoft.com/office/drawing/2014/main" val="2473242010"/>
                  </a:ext>
                </a:extLst>
              </a:tr>
              <a:tr h="322825">
                <a:tc>
                  <a:txBody>
                    <a:bodyPr/>
                    <a:lstStyle/>
                    <a:p>
                      <a:r>
                        <a:rPr lang="en-GB" sz="800" dirty="0">
                          <a:latin typeface="Times New Roman" panose="02020603050405020304" pitchFamily="18" charset="0"/>
                          <a:cs typeface="Times New Roman" panose="02020603050405020304" pitchFamily="18" charset="0"/>
                        </a:rPr>
                        <a:t>Month </a:t>
                      </a:r>
                    </a:p>
                  </a:txBody>
                  <a:tcPr/>
                </a:tc>
                <a:tc>
                  <a:txBody>
                    <a:bodyPr/>
                    <a:lstStyle/>
                    <a:p>
                      <a:r>
                        <a:rPr lang="en-US" sz="800" dirty="0">
                          <a:latin typeface="Times New Roman" panose="02020603050405020304" pitchFamily="18" charset="0"/>
                          <a:cs typeface="Times New Roman" panose="02020603050405020304" pitchFamily="18" charset="0"/>
                        </a:rPr>
                        <a:t>Categorical</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yes</a:t>
                      </a:r>
                    </a:p>
                  </a:txBody>
                  <a:tcPr/>
                </a:tc>
                <a:tc>
                  <a:txBody>
                    <a:bodyPr/>
                    <a:lstStyle/>
                    <a:p>
                      <a:r>
                        <a:rPr lang="en-GB" sz="800" dirty="0">
                          <a:latin typeface="Times New Roman" panose="02020603050405020304" pitchFamily="18" charset="0"/>
                          <a:cs typeface="Times New Roman" panose="02020603050405020304" pitchFamily="18" charset="0"/>
                        </a:rPr>
                        <a:t>Helps models detect seasonal fire risk. It is categorical to avoid false numerical order </a:t>
                      </a:r>
                    </a:p>
                  </a:txBody>
                  <a:tcPr/>
                </a:tc>
                <a:extLst>
                  <a:ext uri="{0D108BD9-81ED-4DB2-BD59-A6C34878D82A}">
                    <a16:rowId xmlns:a16="http://schemas.microsoft.com/office/drawing/2014/main" val="1850716645"/>
                  </a:ext>
                </a:extLst>
              </a:tr>
              <a:tr h="322825">
                <a:tc>
                  <a:txBody>
                    <a:bodyPr/>
                    <a:lstStyle/>
                    <a:p>
                      <a:r>
                        <a:rPr lang="en-GB" sz="800" dirty="0">
                          <a:latin typeface="Times New Roman" panose="02020603050405020304" pitchFamily="18" charset="0"/>
                          <a:cs typeface="Times New Roman" panose="02020603050405020304" pitchFamily="18" charset="0"/>
                        </a:rPr>
                        <a:t>Day</a:t>
                      </a:r>
                    </a:p>
                  </a:txBody>
                  <a:tcPr/>
                </a:tc>
                <a:tc>
                  <a:txBody>
                    <a:bodyPr/>
                    <a:lstStyle/>
                    <a:p>
                      <a:r>
                        <a:rPr lang="en-US" sz="800" dirty="0">
                          <a:latin typeface="Times New Roman" panose="02020603050405020304" pitchFamily="18" charset="0"/>
                          <a:cs typeface="Times New Roman" panose="02020603050405020304" pitchFamily="18" charset="0"/>
                        </a:rPr>
                        <a:t>Categorical</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No</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dirty="0">
                          <a:latin typeface="Times New Roman" panose="02020603050405020304" pitchFamily="18" charset="0"/>
                          <a:cs typeface="Times New Roman" panose="02020603050405020304" pitchFamily="18" charset="0"/>
                        </a:rPr>
                        <a:t>Day of the week has no physical influence on fire behaviour so removed as it just adds noise without value. </a:t>
                      </a:r>
                    </a:p>
                  </a:txBody>
                  <a:tcPr/>
                </a:tc>
                <a:extLst>
                  <a:ext uri="{0D108BD9-81ED-4DB2-BD59-A6C34878D82A}">
                    <a16:rowId xmlns:a16="http://schemas.microsoft.com/office/drawing/2014/main" val="520662613"/>
                  </a:ext>
                </a:extLst>
              </a:tr>
              <a:tr h="322825">
                <a:tc>
                  <a:txBody>
                    <a:bodyPr/>
                    <a:lstStyle/>
                    <a:p>
                      <a:r>
                        <a:rPr lang="en-GB" sz="800" dirty="0">
                          <a:latin typeface="Times New Roman" panose="02020603050405020304" pitchFamily="18" charset="0"/>
                          <a:cs typeface="Times New Roman" panose="02020603050405020304" pitchFamily="18" charset="0"/>
                        </a:rPr>
                        <a:t>FFMC</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800" dirty="0">
                          <a:latin typeface="Times New Roman" panose="02020603050405020304" pitchFamily="18" charset="0"/>
                          <a:cs typeface="Times New Roman" panose="02020603050405020304" pitchFamily="18" charset="0"/>
                        </a:rPr>
                        <a:t>Numeric</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yes</a:t>
                      </a:r>
                    </a:p>
                  </a:txBody>
                  <a:tcPr/>
                </a:tc>
                <a:tc>
                  <a:txBody>
                    <a:bodyPr/>
                    <a:lstStyle/>
                    <a:p>
                      <a:r>
                        <a:rPr lang="en-GB" sz="800" dirty="0">
                          <a:latin typeface="Times New Roman" panose="02020603050405020304" pitchFamily="18" charset="0"/>
                          <a:cs typeface="Times New Roman" panose="02020603050405020304" pitchFamily="18" charset="0"/>
                        </a:rPr>
                        <a:t>Strong predictor for fire. Few instances of near outliers but still kept as they are in a scientifically possible range </a:t>
                      </a:r>
                    </a:p>
                  </a:txBody>
                  <a:tcPr/>
                </a:tc>
                <a:extLst>
                  <a:ext uri="{0D108BD9-81ED-4DB2-BD59-A6C34878D82A}">
                    <a16:rowId xmlns:a16="http://schemas.microsoft.com/office/drawing/2014/main" val="3259559913"/>
                  </a:ext>
                </a:extLst>
              </a:tr>
              <a:tr h="322825">
                <a:tc>
                  <a:txBody>
                    <a:bodyPr/>
                    <a:lstStyle/>
                    <a:p>
                      <a:r>
                        <a:rPr lang="en-GB" sz="800" dirty="0">
                          <a:latin typeface="Times New Roman" panose="02020603050405020304" pitchFamily="18" charset="0"/>
                          <a:cs typeface="Times New Roman" panose="02020603050405020304" pitchFamily="18" charset="0"/>
                        </a:rPr>
                        <a:t>DMC</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800" dirty="0">
                          <a:latin typeface="Times New Roman" panose="02020603050405020304" pitchFamily="18" charset="0"/>
                          <a:cs typeface="Times New Roman" panose="02020603050405020304" pitchFamily="18" charset="0"/>
                        </a:rPr>
                        <a:t>Numeric</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yes</a:t>
                      </a:r>
                    </a:p>
                  </a:txBody>
                  <a:tcPr/>
                </a:tc>
                <a:tc>
                  <a:txBody>
                    <a:bodyPr/>
                    <a:lstStyle/>
                    <a:p>
                      <a:r>
                        <a:rPr lang="en-GB" sz="800" dirty="0">
                          <a:latin typeface="Times New Roman" panose="02020603050405020304" pitchFamily="18" charset="0"/>
                          <a:cs typeface="Times New Roman" panose="02020603050405020304" pitchFamily="18" charset="0"/>
                        </a:rPr>
                        <a:t>Important predictor for fire. Numeric so linear/tree models can learn trends.</a:t>
                      </a:r>
                    </a:p>
                  </a:txBody>
                  <a:tcPr/>
                </a:tc>
                <a:extLst>
                  <a:ext uri="{0D108BD9-81ED-4DB2-BD59-A6C34878D82A}">
                    <a16:rowId xmlns:a16="http://schemas.microsoft.com/office/drawing/2014/main" val="946676872"/>
                  </a:ext>
                </a:extLst>
              </a:tr>
              <a:tr h="322825">
                <a:tc>
                  <a:txBody>
                    <a:bodyPr/>
                    <a:lstStyle/>
                    <a:p>
                      <a:r>
                        <a:rPr lang="en-GB" sz="800" dirty="0">
                          <a:latin typeface="Times New Roman" panose="02020603050405020304" pitchFamily="18" charset="0"/>
                          <a:cs typeface="Times New Roman" panose="02020603050405020304" pitchFamily="18" charset="0"/>
                        </a:rPr>
                        <a:t>DC</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800" dirty="0">
                          <a:latin typeface="Times New Roman" panose="02020603050405020304" pitchFamily="18" charset="0"/>
                          <a:cs typeface="Times New Roman" panose="02020603050405020304" pitchFamily="18" charset="0"/>
                        </a:rPr>
                        <a:t>Numeric</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yes</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dirty="0">
                          <a:latin typeface="Times New Roman" panose="02020603050405020304" pitchFamily="18" charset="0"/>
                          <a:cs typeface="Times New Roman" panose="02020603050405020304" pitchFamily="18" charset="0"/>
                        </a:rPr>
                        <a:t>Important predictor for fire. Numeric so linear/tree models can learn trends.</a:t>
                      </a:r>
                    </a:p>
                  </a:txBody>
                  <a:tcPr/>
                </a:tc>
                <a:extLst>
                  <a:ext uri="{0D108BD9-81ED-4DB2-BD59-A6C34878D82A}">
                    <a16:rowId xmlns:a16="http://schemas.microsoft.com/office/drawing/2014/main" val="1557909503"/>
                  </a:ext>
                </a:extLst>
              </a:tr>
              <a:tr h="322825">
                <a:tc>
                  <a:txBody>
                    <a:bodyPr/>
                    <a:lstStyle/>
                    <a:p>
                      <a:r>
                        <a:rPr lang="en-GB" sz="800" dirty="0">
                          <a:latin typeface="Times New Roman" panose="02020603050405020304" pitchFamily="18" charset="0"/>
                          <a:cs typeface="Times New Roman" panose="02020603050405020304" pitchFamily="18" charset="0"/>
                        </a:rPr>
                        <a:t>ISI</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800" dirty="0">
                          <a:latin typeface="Times New Roman" panose="02020603050405020304" pitchFamily="18" charset="0"/>
                          <a:cs typeface="Times New Roman" panose="02020603050405020304" pitchFamily="18" charset="0"/>
                        </a:rPr>
                        <a:t>Numeric</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yes</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dirty="0">
                          <a:latin typeface="Times New Roman" panose="02020603050405020304" pitchFamily="18" charset="0"/>
                          <a:cs typeface="Times New Roman" panose="02020603050405020304" pitchFamily="18" charset="0"/>
                        </a:rPr>
                        <a:t>Important predictor for fire. One extreme outlier removed for model stability. </a:t>
                      </a:r>
                    </a:p>
                  </a:txBody>
                  <a:tcPr/>
                </a:tc>
                <a:extLst>
                  <a:ext uri="{0D108BD9-81ED-4DB2-BD59-A6C34878D82A}">
                    <a16:rowId xmlns:a16="http://schemas.microsoft.com/office/drawing/2014/main" val="3327091444"/>
                  </a:ext>
                </a:extLst>
              </a:tr>
              <a:tr h="322825">
                <a:tc>
                  <a:txBody>
                    <a:bodyPr/>
                    <a:lstStyle/>
                    <a:p>
                      <a:r>
                        <a:rPr lang="en-GB" sz="800" dirty="0">
                          <a:latin typeface="Times New Roman" panose="02020603050405020304" pitchFamily="18" charset="0"/>
                          <a:cs typeface="Times New Roman" panose="02020603050405020304" pitchFamily="18" charset="0"/>
                        </a:rPr>
                        <a:t>TEMP</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800" dirty="0">
                          <a:latin typeface="Times New Roman" panose="02020603050405020304" pitchFamily="18" charset="0"/>
                          <a:cs typeface="Times New Roman" panose="02020603050405020304" pitchFamily="18" charset="0"/>
                        </a:rPr>
                        <a:t>Numeric</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yes</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dirty="0">
                          <a:latin typeface="Times New Roman" panose="02020603050405020304" pitchFamily="18" charset="0"/>
                          <a:cs typeface="Times New Roman" panose="02020603050405020304" pitchFamily="18" charset="0"/>
                        </a:rPr>
                        <a:t>Important predictor for fire. Numeric so linear/tree models can learn trends.</a:t>
                      </a:r>
                    </a:p>
                  </a:txBody>
                  <a:tcPr/>
                </a:tc>
                <a:extLst>
                  <a:ext uri="{0D108BD9-81ED-4DB2-BD59-A6C34878D82A}">
                    <a16:rowId xmlns:a16="http://schemas.microsoft.com/office/drawing/2014/main" val="2971215626"/>
                  </a:ext>
                </a:extLst>
              </a:tr>
              <a:tr h="322825">
                <a:tc>
                  <a:txBody>
                    <a:bodyPr/>
                    <a:lstStyle/>
                    <a:p>
                      <a:r>
                        <a:rPr lang="en-GB" sz="800" dirty="0">
                          <a:latin typeface="Times New Roman" panose="02020603050405020304" pitchFamily="18" charset="0"/>
                          <a:cs typeface="Times New Roman" panose="02020603050405020304" pitchFamily="18" charset="0"/>
                        </a:rPr>
                        <a:t>RH</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800" dirty="0">
                          <a:latin typeface="Times New Roman" panose="02020603050405020304" pitchFamily="18" charset="0"/>
                          <a:cs typeface="Times New Roman" panose="02020603050405020304" pitchFamily="18" charset="0"/>
                        </a:rPr>
                        <a:t>Numeric</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yes</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dirty="0">
                          <a:latin typeface="Times New Roman" panose="02020603050405020304" pitchFamily="18" charset="0"/>
                          <a:cs typeface="Times New Roman" panose="02020603050405020304" pitchFamily="18" charset="0"/>
                        </a:rPr>
                        <a:t>Important predictor for fire. Numeric so linear/tree models can learn trends.</a:t>
                      </a:r>
                    </a:p>
                  </a:txBody>
                  <a:tcPr/>
                </a:tc>
                <a:extLst>
                  <a:ext uri="{0D108BD9-81ED-4DB2-BD59-A6C34878D82A}">
                    <a16:rowId xmlns:a16="http://schemas.microsoft.com/office/drawing/2014/main" val="3306669620"/>
                  </a:ext>
                </a:extLst>
              </a:tr>
              <a:tr h="322825">
                <a:tc>
                  <a:txBody>
                    <a:bodyPr/>
                    <a:lstStyle/>
                    <a:p>
                      <a:r>
                        <a:rPr lang="en-GB" sz="800" dirty="0">
                          <a:latin typeface="Times New Roman" panose="02020603050405020304" pitchFamily="18" charset="0"/>
                          <a:cs typeface="Times New Roman" panose="02020603050405020304" pitchFamily="18" charset="0"/>
                        </a:rPr>
                        <a:t>Wind</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800" dirty="0">
                          <a:latin typeface="Times New Roman" panose="02020603050405020304" pitchFamily="18" charset="0"/>
                          <a:cs typeface="Times New Roman" panose="02020603050405020304" pitchFamily="18" charset="0"/>
                        </a:rPr>
                        <a:t>Numeric</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yes</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800" dirty="0">
                          <a:latin typeface="Times New Roman" panose="02020603050405020304" pitchFamily="18" charset="0"/>
                          <a:cs typeface="Times New Roman" panose="02020603050405020304" pitchFamily="18" charset="0"/>
                        </a:rPr>
                        <a:t>Important predictor for fire. Numeric so linear/tree models can learn trends.</a:t>
                      </a:r>
                    </a:p>
                  </a:txBody>
                  <a:tcPr/>
                </a:tc>
                <a:extLst>
                  <a:ext uri="{0D108BD9-81ED-4DB2-BD59-A6C34878D82A}">
                    <a16:rowId xmlns:a16="http://schemas.microsoft.com/office/drawing/2014/main" val="1452192130"/>
                  </a:ext>
                </a:extLst>
              </a:tr>
              <a:tr h="322825">
                <a:tc>
                  <a:txBody>
                    <a:bodyPr/>
                    <a:lstStyle/>
                    <a:p>
                      <a:r>
                        <a:rPr lang="en-GB" sz="800" dirty="0">
                          <a:latin typeface="Times New Roman" panose="02020603050405020304" pitchFamily="18" charset="0"/>
                          <a:cs typeface="Times New Roman" panose="02020603050405020304" pitchFamily="18" charset="0"/>
                        </a:rPr>
                        <a:t>Rain</a:t>
                      </a:r>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800" dirty="0">
                          <a:latin typeface="Times New Roman" panose="02020603050405020304" pitchFamily="18" charset="0"/>
                          <a:cs typeface="Times New Roman" panose="02020603050405020304" pitchFamily="18" charset="0"/>
                        </a:rPr>
                        <a:t>Numeric</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yes</a:t>
                      </a:r>
                    </a:p>
                  </a:txBody>
                  <a:tcPr/>
                </a:tc>
                <a:tc>
                  <a:txBody>
                    <a:bodyPr/>
                    <a:lstStyle/>
                    <a:p>
                      <a:r>
                        <a:rPr lang="en-GB" sz="800" dirty="0">
                          <a:latin typeface="Times New Roman" panose="02020603050405020304" pitchFamily="18" charset="0"/>
                          <a:cs typeface="Times New Roman" panose="02020603050405020304" pitchFamily="18" charset="0"/>
                        </a:rPr>
                        <a:t>509 of 517 entries are zero. May weaken linear models but tree-models handle Zero dominated data well.</a:t>
                      </a:r>
                    </a:p>
                  </a:txBody>
                  <a:tcPr/>
                </a:tc>
                <a:extLst>
                  <a:ext uri="{0D108BD9-81ED-4DB2-BD59-A6C34878D82A}">
                    <a16:rowId xmlns:a16="http://schemas.microsoft.com/office/drawing/2014/main" val="1756197607"/>
                  </a:ext>
                </a:extLst>
              </a:tr>
              <a:tr h="205434">
                <a:tc>
                  <a:txBody>
                    <a:bodyPr/>
                    <a:lstStyle/>
                    <a:p>
                      <a:r>
                        <a:rPr lang="en-GB" sz="800" dirty="0">
                          <a:latin typeface="Times New Roman" panose="02020603050405020304" pitchFamily="18" charset="0"/>
                          <a:cs typeface="Times New Roman" panose="02020603050405020304" pitchFamily="18" charset="0"/>
                        </a:rPr>
                        <a:t>Area</a:t>
                      </a:r>
                    </a:p>
                  </a:txBody>
                  <a:tcPr/>
                </a:tc>
                <a:tc>
                  <a:txBody>
                    <a:bodyPr/>
                    <a:lstStyle/>
                    <a:p>
                      <a:r>
                        <a:rPr lang="en-US" sz="800" dirty="0">
                          <a:latin typeface="Times New Roman" panose="02020603050405020304" pitchFamily="18" charset="0"/>
                          <a:cs typeface="Times New Roman" panose="02020603050405020304" pitchFamily="18" charset="0"/>
                        </a:rPr>
                        <a:t>Categorical</a:t>
                      </a:r>
                      <a:endParaRPr lang="en-GB" sz="800" dirty="0">
                        <a:latin typeface="Times New Roman" panose="02020603050405020304" pitchFamily="18" charset="0"/>
                        <a:cs typeface="Times New Roman" panose="02020603050405020304" pitchFamily="18" charset="0"/>
                      </a:endParaRPr>
                    </a:p>
                  </a:txBody>
                  <a:tcPr/>
                </a:tc>
                <a:tc>
                  <a:txBody>
                    <a:bodyPr/>
                    <a:lstStyle/>
                    <a:p>
                      <a:r>
                        <a:rPr lang="en-GB" sz="800" dirty="0">
                          <a:latin typeface="Times New Roman" panose="02020603050405020304" pitchFamily="18" charset="0"/>
                          <a:cs typeface="Times New Roman" panose="02020603050405020304" pitchFamily="18" charset="0"/>
                        </a:rPr>
                        <a:t>Target</a:t>
                      </a:r>
                    </a:p>
                  </a:txBody>
                  <a:tcPr/>
                </a:tc>
                <a:tc>
                  <a:txBody>
                    <a:bodyPr/>
                    <a:lstStyle/>
                    <a:p>
                      <a:r>
                        <a:rPr lang="en-GB" sz="800" dirty="0">
                          <a:latin typeface="Times New Roman" panose="02020603050405020304" pitchFamily="18" charset="0"/>
                          <a:cs typeface="Times New Roman" panose="02020603050405020304" pitchFamily="18" charset="0"/>
                        </a:rPr>
                        <a:t>Defines the classification task. Binary as it is just true or false</a:t>
                      </a:r>
                    </a:p>
                  </a:txBody>
                  <a:tcPr/>
                </a:tc>
                <a:extLst>
                  <a:ext uri="{0D108BD9-81ED-4DB2-BD59-A6C34878D82A}">
                    <a16:rowId xmlns:a16="http://schemas.microsoft.com/office/drawing/2014/main" val="1648314266"/>
                  </a:ext>
                </a:extLst>
              </a:tr>
            </a:tbl>
          </a:graphicData>
        </a:graphic>
      </p:graphicFrame>
      <p:sp>
        <p:nvSpPr>
          <p:cNvPr id="13" name="TextBox 12">
            <a:extLst>
              <a:ext uri="{FF2B5EF4-FFF2-40B4-BE49-F238E27FC236}">
                <a16:creationId xmlns:a16="http://schemas.microsoft.com/office/drawing/2014/main" id="{CA1EAAA5-A1A2-3B0D-12F1-60B2E50A677D}"/>
              </a:ext>
            </a:extLst>
          </p:cNvPr>
          <p:cNvSpPr txBox="1"/>
          <p:nvPr/>
        </p:nvSpPr>
        <p:spPr>
          <a:xfrm>
            <a:off x="4738741" y="5874930"/>
            <a:ext cx="4709312" cy="923330"/>
          </a:xfrm>
          <a:prstGeom prst="rect">
            <a:avLst/>
          </a:prstGeom>
          <a:noFill/>
        </p:spPr>
        <p:txBody>
          <a:bodyPr wrap="square" rtlCol="0">
            <a:spAutoFit/>
          </a:bodyPr>
          <a:lstStyle/>
          <a:p>
            <a:r>
              <a:rPr lang="en-US" dirty="0"/>
              <a:t>Explain here how you chose the hyper parameter settings to explore and how you ran your experiments.</a:t>
            </a:r>
            <a:endParaRPr lang="en-GB" dirty="0"/>
          </a:p>
        </p:txBody>
      </p:sp>
      <p:pic>
        <p:nvPicPr>
          <p:cNvPr id="16" name="Picture 15">
            <a:extLst>
              <a:ext uri="{FF2B5EF4-FFF2-40B4-BE49-F238E27FC236}">
                <a16:creationId xmlns:a16="http://schemas.microsoft.com/office/drawing/2014/main" id="{0E3C226F-631E-BF67-79D0-A31373A149E1}"/>
              </a:ext>
            </a:extLst>
          </p:cNvPr>
          <p:cNvPicPr>
            <a:picLocks noChangeAspect="1"/>
          </p:cNvPicPr>
          <p:nvPr/>
        </p:nvPicPr>
        <p:blipFill>
          <a:blip r:embed="rId2"/>
          <a:stretch>
            <a:fillRect/>
          </a:stretch>
        </p:blipFill>
        <p:spPr>
          <a:xfrm>
            <a:off x="276049" y="3320283"/>
            <a:ext cx="2210887" cy="1671912"/>
          </a:xfrm>
          <a:prstGeom prst="rect">
            <a:avLst/>
          </a:prstGeom>
        </p:spPr>
      </p:pic>
      <p:sp>
        <p:nvSpPr>
          <p:cNvPr id="3" name="TextBox 2">
            <a:extLst>
              <a:ext uri="{FF2B5EF4-FFF2-40B4-BE49-F238E27FC236}">
                <a16:creationId xmlns:a16="http://schemas.microsoft.com/office/drawing/2014/main" id="{338DF5F8-9949-2770-C0AC-DDFE95DDE2A8}"/>
              </a:ext>
            </a:extLst>
          </p:cNvPr>
          <p:cNvSpPr txBox="1"/>
          <p:nvPr/>
        </p:nvSpPr>
        <p:spPr>
          <a:xfrm>
            <a:off x="212538" y="63914"/>
            <a:ext cx="8885186" cy="523220"/>
          </a:xfrm>
          <a:prstGeom prst="rect">
            <a:avLst/>
          </a:prstGeom>
          <a:noFill/>
        </p:spPr>
        <p:txBody>
          <a:bodyPr wrap="square" lIns="91440" tIns="45720" rIns="91440" bIns="45720" rtlCol="0" anchor="t">
            <a:spAutoFit/>
          </a:bodyPr>
          <a:lstStyle/>
          <a:p>
            <a:r>
              <a:rPr lang="en-GB" sz="2800" dirty="0"/>
              <a:t>CSCU9M5 Assignment 1. Student Number 3344671</a:t>
            </a:r>
            <a:endParaRPr lang="en-GB" sz="2800" dirty="0">
              <a:ea typeface="Calibri" panose="020F0502020204030204"/>
              <a:cs typeface="Calibri" panose="020F0502020204030204"/>
            </a:endParaRPr>
          </a:p>
        </p:txBody>
      </p:sp>
      <p:pic>
        <p:nvPicPr>
          <p:cNvPr id="10" name="Picture 9">
            <a:extLst>
              <a:ext uri="{FF2B5EF4-FFF2-40B4-BE49-F238E27FC236}">
                <a16:creationId xmlns:a16="http://schemas.microsoft.com/office/drawing/2014/main" id="{37C1D729-4E4F-3B91-B475-787F46B523C0}"/>
              </a:ext>
            </a:extLst>
          </p:cNvPr>
          <p:cNvPicPr>
            <a:picLocks noChangeAspect="1"/>
          </p:cNvPicPr>
          <p:nvPr/>
        </p:nvPicPr>
        <p:blipFill>
          <a:blip r:embed="rId3"/>
          <a:stretch>
            <a:fillRect/>
          </a:stretch>
        </p:blipFill>
        <p:spPr>
          <a:xfrm>
            <a:off x="2546326" y="3246064"/>
            <a:ext cx="2283969" cy="1820350"/>
          </a:xfrm>
          <a:prstGeom prst="rect">
            <a:avLst/>
          </a:prstGeom>
        </p:spPr>
      </p:pic>
    </p:spTree>
    <p:extLst>
      <p:ext uri="{BB962C8B-B14F-4D97-AF65-F5344CB8AC3E}">
        <p14:creationId xmlns:p14="http://schemas.microsoft.com/office/powerpoint/2010/main" val="1501710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C388C717-AB61-4AA5-0065-CF8334987466}"/>
              </a:ext>
            </a:extLst>
          </p:cNvPr>
          <p:cNvSpPr txBox="1"/>
          <p:nvPr/>
        </p:nvSpPr>
        <p:spPr>
          <a:xfrm>
            <a:off x="525101" y="6703042"/>
            <a:ext cx="8848120" cy="2185214"/>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5. Model Training and Hyper Parameters</a:t>
            </a:r>
            <a:endParaRPr lang="en-GB" sz="2000" b="0" i="0" u="none" strike="noStrike" kern="1200" cap="none" spc="0" normalizeH="0" baseline="0" noProof="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A table showing the different models and hyper parameters you trained, along with the correct metric for each; Add a sentence on how you chose the hyper parameter values. Make sure you name the metric correctly.</a:t>
            </a:r>
            <a:endParaRPr lang="en-US" sz="100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5F922132-ED33-E59C-B714-DBB27B5DF6F8}"/>
              </a:ext>
            </a:extLst>
          </p:cNvPr>
          <p:cNvSpPr txBox="1"/>
          <p:nvPr/>
        </p:nvSpPr>
        <p:spPr>
          <a:xfrm>
            <a:off x="475353" y="8816780"/>
            <a:ext cx="8831538" cy="2015936"/>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6. Final Model and Results</a:t>
            </a: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Say how you chose the final model to test, and how you trained that model.</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Put the confusion matrix here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AF6D823-6DA6-9959-0DCB-CCA6AD2DD76E}"/>
              </a:ext>
            </a:extLst>
          </p:cNvPr>
          <p:cNvSpPr txBox="1"/>
          <p:nvPr/>
        </p:nvSpPr>
        <p:spPr>
          <a:xfrm>
            <a:off x="540612" y="12021739"/>
            <a:ext cx="4884758" cy="553998"/>
          </a:xfrm>
          <a:prstGeom prst="rect">
            <a:avLst/>
          </a:prstGeom>
          <a:noFill/>
          <a:ln w="38100">
            <a:solidFill>
              <a:schemeClr val="accent1">
                <a:lumMod val="60000"/>
                <a:lumOff val="40000"/>
              </a:schemeClr>
            </a:solidFill>
          </a:ln>
        </p:spPr>
        <p:txBody>
          <a:bodyPr wrap="square" lIns="91440" tIns="45720" rIns="91440" bIns="45720" rtlCol="0" anchor="t">
            <a:spAutoFit/>
          </a:bodyPr>
          <a:lstStyle/>
          <a:p>
            <a:r>
              <a:rPr lang="en-GB" dirty="0"/>
              <a:t>8. References</a:t>
            </a:r>
          </a:p>
          <a:p>
            <a:r>
              <a:rPr lang="en-GB" sz="1200" b="0" i="0" dirty="0">
                <a:solidFill>
                  <a:srgbClr val="202122"/>
                </a:solidFill>
                <a:effectLst/>
                <a:latin typeface="Arial" panose="020B0604020202020204" pitchFamily="34" charset="0"/>
              </a:rPr>
              <a:t>[1] If you reference any papers or websites, list them here</a:t>
            </a:r>
            <a:endParaRPr lang="en-GB" dirty="0"/>
          </a:p>
        </p:txBody>
      </p:sp>
      <p:graphicFrame>
        <p:nvGraphicFramePr>
          <p:cNvPr id="7" name="Table 7">
            <a:extLst>
              <a:ext uri="{FF2B5EF4-FFF2-40B4-BE49-F238E27FC236}">
                <a16:creationId xmlns:a16="http://schemas.microsoft.com/office/drawing/2014/main" id="{FBE95B7C-B010-6D30-1BB3-D0BB1817071D}"/>
              </a:ext>
            </a:extLst>
          </p:cNvPr>
          <p:cNvGraphicFramePr>
            <a:graphicFrameLocks noGrp="1"/>
          </p:cNvGraphicFramePr>
          <p:nvPr>
            <p:extLst>
              <p:ext uri="{D42A27DB-BD31-4B8C-83A1-F6EECF244321}">
                <p14:modId xmlns:p14="http://schemas.microsoft.com/office/powerpoint/2010/main" val="11063398"/>
              </p:ext>
            </p:extLst>
          </p:nvPr>
        </p:nvGraphicFramePr>
        <p:xfrm>
          <a:off x="4775726" y="6931436"/>
          <a:ext cx="4443504" cy="1737360"/>
        </p:xfrm>
        <a:graphic>
          <a:graphicData uri="http://schemas.openxmlformats.org/drawingml/2006/table">
            <a:tbl>
              <a:tblPr firstRow="1" bandRow="1">
                <a:tableStyleId>{5C22544A-7EE6-4342-B048-85BDC9FD1C3A}</a:tableStyleId>
              </a:tblPr>
              <a:tblGrid>
                <a:gridCol w="1481168">
                  <a:extLst>
                    <a:ext uri="{9D8B030D-6E8A-4147-A177-3AD203B41FA5}">
                      <a16:colId xmlns:a16="http://schemas.microsoft.com/office/drawing/2014/main" val="1907166431"/>
                    </a:ext>
                  </a:extLst>
                </a:gridCol>
                <a:gridCol w="1865917">
                  <a:extLst>
                    <a:ext uri="{9D8B030D-6E8A-4147-A177-3AD203B41FA5}">
                      <a16:colId xmlns:a16="http://schemas.microsoft.com/office/drawing/2014/main" val="3484362391"/>
                    </a:ext>
                  </a:extLst>
                </a:gridCol>
                <a:gridCol w="1096419">
                  <a:extLst>
                    <a:ext uri="{9D8B030D-6E8A-4147-A177-3AD203B41FA5}">
                      <a16:colId xmlns:a16="http://schemas.microsoft.com/office/drawing/2014/main" val="326053815"/>
                    </a:ext>
                  </a:extLst>
                </a:gridCol>
              </a:tblGrid>
              <a:tr h="561889">
                <a:tc>
                  <a:txBody>
                    <a:bodyPr/>
                    <a:lstStyle/>
                    <a:p>
                      <a:r>
                        <a:rPr lang="en-GB" sz="1800" dirty="0"/>
                        <a:t>Model</a:t>
                      </a:r>
                    </a:p>
                  </a:txBody>
                  <a:tcPr/>
                </a:tc>
                <a:tc>
                  <a:txBody>
                    <a:bodyPr/>
                    <a:lstStyle/>
                    <a:p>
                      <a:r>
                        <a:rPr lang="en-GB" sz="1800" dirty="0"/>
                        <a:t>Hyper Parameters</a:t>
                      </a:r>
                    </a:p>
                  </a:txBody>
                  <a:tcPr/>
                </a:tc>
                <a:tc>
                  <a:txBody>
                    <a:bodyPr/>
                    <a:lstStyle/>
                    <a:p>
                      <a:r>
                        <a:rPr lang="en-GB" sz="1800" dirty="0"/>
                        <a:t>Validation Metric</a:t>
                      </a:r>
                    </a:p>
                  </a:txBody>
                  <a:tcPr/>
                </a:tc>
                <a:extLst>
                  <a:ext uri="{0D108BD9-81ED-4DB2-BD59-A6C34878D82A}">
                    <a16:rowId xmlns:a16="http://schemas.microsoft.com/office/drawing/2014/main" val="3158663126"/>
                  </a:ext>
                </a:extLst>
              </a:tr>
              <a:tr h="268174">
                <a:tc>
                  <a:txBody>
                    <a:bodyPr/>
                    <a:lstStyle/>
                    <a:p>
                      <a:r>
                        <a:rPr lang="en-US" sz="1200" dirty="0"/>
                        <a:t>Model 1</a:t>
                      </a:r>
                      <a:endParaRPr lang="en-GB" sz="1200" dirty="0"/>
                    </a:p>
                  </a:txBody>
                  <a:tcPr/>
                </a:tc>
                <a:tc>
                  <a:txBody>
                    <a:bodyPr/>
                    <a:lstStyle/>
                    <a:p>
                      <a:r>
                        <a:rPr lang="en-GB" sz="1200" dirty="0"/>
                        <a:t>Hyper parameter list</a:t>
                      </a:r>
                    </a:p>
                  </a:txBody>
                  <a:tcPr/>
                </a:tc>
                <a:tc>
                  <a:txBody>
                    <a:bodyPr/>
                    <a:lstStyle/>
                    <a:p>
                      <a:r>
                        <a:rPr lang="en-GB" sz="1200" dirty="0"/>
                        <a:t>A%</a:t>
                      </a:r>
                    </a:p>
                  </a:txBody>
                  <a:tcPr/>
                </a:tc>
                <a:extLst>
                  <a:ext uri="{0D108BD9-81ED-4DB2-BD59-A6C34878D82A}">
                    <a16:rowId xmlns:a16="http://schemas.microsoft.com/office/drawing/2014/main" val="391472538"/>
                  </a:ext>
                </a:extLst>
              </a:tr>
              <a:tr h="242633">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2</a:t>
                      </a:r>
                      <a:endParaRPr lang="en-GB" sz="1200" dirty="0"/>
                    </a:p>
                  </a:txBody>
                  <a:tcPr/>
                </a:tc>
                <a:tc>
                  <a:txBody>
                    <a:bodyPr/>
                    <a:lstStyle/>
                    <a:p>
                      <a:r>
                        <a:rPr lang="en-GB" sz="1200" dirty="0"/>
                        <a:t>Hyper parameter list</a:t>
                      </a:r>
                    </a:p>
                  </a:txBody>
                  <a:tcPr/>
                </a:tc>
                <a:tc>
                  <a:txBody>
                    <a:bodyPr/>
                    <a:lstStyle/>
                    <a:p>
                      <a:r>
                        <a:rPr lang="en-GB" sz="1200" dirty="0"/>
                        <a:t>B%</a:t>
                      </a:r>
                    </a:p>
                  </a:txBody>
                  <a:tcPr/>
                </a:tc>
                <a:extLst>
                  <a:ext uri="{0D108BD9-81ED-4DB2-BD59-A6C34878D82A}">
                    <a16:rowId xmlns:a16="http://schemas.microsoft.com/office/drawing/2014/main" val="3680307176"/>
                  </a:ext>
                </a:extLst>
              </a:tr>
              <a:tr h="242633">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3</a:t>
                      </a:r>
                      <a:endParaRPr lang="en-GB" sz="1200" dirty="0"/>
                    </a:p>
                  </a:txBody>
                  <a:tcPr/>
                </a:tc>
                <a:tc>
                  <a:txBody>
                    <a:bodyPr/>
                    <a:lstStyle/>
                    <a:p>
                      <a:r>
                        <a:rPr lang="en-GB" sz="1200" dirty="0"/>
                        <a:t>Hyper parameter list</a:t>
                      </a:r>
                    </a:p>
                  </a:txBody>
                  <a:tcPr/>
                </a:tc>
                <a:tc>
                  <a:txBody>
                    <a:bodyPr/>
                    <a:lstStyle/>
                    <a:p>
                      <a:r>
                        <a:rPr lang="en-GB" sz="1200" dirty="0"/>
                        <a:t>C%</a:t>
                      </a:r>
                    </a:p>
                  </a:txBody>
                  <a:tcPr/>
                </a:tc>
                <a:extLst>
                  <a:ext uri="{0D108BD9-81ED-4DB2-BD59-A6C34878D82A}">
                    <a16:rowId xmlns:a16="http://schemas.microsoft.com/office/drawing/2014/main" val="1144539082"/>
                  </a:ext>
                </a:extLst>
              </a:tr>
              <a:tr h="242633">
                <a:tc>
                  <a:txBody>
                    <a:bodyPr/>
                    <a:lstStyle/>
                    <a:p>
                      <a:r>
                        <a:rPr lang="en-US" sz="1200" dirty="0"/>
                        <a:t>Model 4 ….</a:t>
                      </a:r>
                      <a:endParaRPr lang="en-GB" sz="1200" dirty="0"/>
                    </a:p>
                  </a:txBody>
                  <a:tcPr/>
                </a:tc>
                <a:tc>
                  <a:txBody>
                    <a:bodyPr/>
                    <a:lstStyle/>
                    <a:p>
                      <a:r>
                        <a:rPr lang="en-GB" sz="1200" dirty="0"/>
                        <a:t>Hyper parameter list</a:t>
                      </a:r>
                    </a:p>
                  </a:txBody>
                  <a:tcPr/>
                </a:tc>
                <a:tc>
                  <a:txBody>
                    <a:bodyPr/>
                    <a:lstStyle/>
                    <a:p>
                      <a:r>
                        <a:rPr lang="en-GB" sz="1200" dirty="0"/>
                        <a:t>D%</a:t>
                      </a:r>
                    </a:p>
                  </a:txBody>
                  <a:tcPr/>
                </a:tc>
                <a:extLst>
                  <a:ext uri="{0D108BD9-81ED-4DB2-BD59-A6C34878D82A}">
                    <a16:rowId xmlns:a16="http://schemas.microsoft.com/office/drawing/2014/main" val="3656706315"/>
                  </a:ext>
                </a:extLst>
              </a:tr>
            </a:tbl>
          </a:graphicData>
        </a:graphic>
      </p:graphicFrame>
      <p:graphicFrame>
        <p:nvGraphicFramePr>
          <p:cNvPr id="2" name="Table 2">
            <a:extLst>
              <a:ext uri="{FF2B5EF4-FFF2-40B4-BE49-F238E27FC236}">
                <a16:creationId xmlns:a16="http://schemas.microsoft.com/office/drawing/2014/main" id="{50697821-56EE-B522-2650-CAC52B000E80}"/>
              </a:ext>
            </a:extLst>
          </p:cNvPr>
          <p:cNvGraphicFramePr>
            <a:graphicFrameLocks noGrp="1"/>
          </p:cNvGraphicFramePr>
          <p:nvPr>
            <p:extLst>
              <p:ext uri="{D42A27DB-BD31-4B8C-83A1-F6EECF244321}">
                <p14:modId xmlns:p14="http://schemas.microsoft.com/office/powerpoint/2010/main" val="1738814142"/>
              </p:ext>
            </p:extLst>
          </p:nvPr>
        </p:nvGraphicFramePr>
        <p:xfrm>
          <a:off x="589137" y="9555928"/>
          <a:ext cx="4178298" cy="1120548"/>
        </p:xfrm>
        <a:graphic>
          <a:graphicData uri="http://schemas.openxmlformats.org/drawingml/2006/table">
            <a:tbl>
              <a:tblPr firstRow="1" bandRow="1">
                <a:tableStyleId>{5C22544A-7EE6-4342-B048-85BDC9FD1C3A}</a:tableStyleId>
              </a:tblPr>
              <a:tblGrid>
                <a:gridCol w="1392766">
                  <a:extLst>
                    <a:ext uri="{9D8B030D-6E8A-4147-A177-3AD203B41FA5}">
                      <a16:colId xmlns:a16="http://schemas.microsoft.com/office/drawing/2014/main" val="3385219870"/>
                    </a:ext>
                  </a:extLst>
                </a:gridCol>
                <a:gridCol w="1392766">
                  <a:extLst>
                    <a:ext uri="{9D8B030D-6E8A-4147-A177-3AD203B41FA5}">
                      <a16:colId xmlns:a16="http://schemas.microsoft.com/office/drawing/2014/main" val="2134976436"/>
                    </a:ext>
                  </a:extLst>
                </a:gridCol>
                <a:gridCol w="1392766">
                  <a:extLst>
                    <a:ext uri="{9D8B030D-6E8A-4147-A177-3AD203B41FA5}">
                      <a16:colId xmlns:a16="http://schemas.microsoft.com/office/drawing/2014/main" val="629384850"/>
                    </a:ext>
                  </a:extLst>
                </a:gridCol>
              </a:tblGrid>
              <a:tr h="370840">
                <a:tc>
                  <a:txBody>
                    <a:bodyPr/>
                    <a:lstStyle/>
                    <a:p>
                      <a:r>
                        <a:rPr lang="en-GB" sz="1200" dirty="0"/>
                        <a:t>Actual / Predicted</a:t>
                      </a:r>
                    </a:p>
                  </a:txBody>
                  <a:tcPr/>
                </a:tc>
                <a:tc>
                  <a:txBody>
                    <a:bodyPr/>
                    <a:lstStyle/>
                    <a:p>
                      <a:r>
                        <a:rPr lang="en-GB" sz="1200" dirty="0"/>
                        <a:t>Good</a:t>
                      </a:r>
                    </a:p>
                  </a:txBody>
                  <a:tcPr/>
                </a:tc>
                <a:tc>
                  <a:txBody>
                    <a:bodyPr/>
                    <a:lstStyle/>
                    <a:p>
                      <a:r>
                        <a:rPr lang="en-GB" sz="1200" dirty="0"/>
                        <a:t>Bad</a:t>
                      </a:r>
                    </a:p>
                  </a:txBody>
                  <a:tcPr/>
                </a:tc>
                <a:extLst>
                  <a:ext uri="{0D108BD9-81ED-4DB2-BD59-A6C34878D82A}">
                    <a16:rowId xmlns:a16="http://schemas.microsoft.com/office/drawing/2014/main" val="2126179801"/>
                  </a:ext>
                </a:extLst>
              </a:tr>
              <a:tr h="370840">
                <a:tc>
                  <a:txBody>
                    <a:bodyPr/>
                    <a:lstStyle/>
                    <a:p>
                      <a:r>
                        <a:rPr lang="en-GB" sz="1200" dirty="0"/>
                        <a:t>Good</a:t>
                      </a:r>
                    </a:p>
                  </a:txBody>
                  <a:tcPr/>
                </a:tc>
                <a:tc>
                  <a:txBody>
                    <a:bodyPr/>
                    <a:lstStyle/>
                    <a:p>
                      <a:r>
                        <a:rPr lang="en-GB" sz="1200" dirty="0"/>
                        <a:t>X</a:t>
                      </a:r>
                    </a:p>
                  </a:txBody>
                  <a:tcPr/>
                </a:tc>
                <a:tc>
                  <a:txBody>
                    <a:bodyPr/>
                    <a:lstStyle/>
                    <a:p>
                      <a:r>
                        <a:rPr lang="en-US" sz="1200" dirty="0"/>
                        <a:t>X</a:t>
                      </a:r>
                      <a:endParaRPr lang="en-GB" sz="1200" dirty="0"/>
                    </a:p>
                  </a:txBody>
                  <a:tcPr/>
                </a:tc>
                <a:extLst>
                  <a:ext uri="{0D108BD9-81ED-4DB2-BD59-A6C34878D82A}">
                    <a16:rowId xmlns:a16="http://schemas.microsoft.com/office/drawing/2014/main" val="1186692526"/>
                  </a:ext>
                </a:extLst>
              </a:tr>
              <a:tr h="378868">
                <a:tc>
                  <a:txBody>
                    <a:bodyPr/>
                    <a:lstStyle/>
                    <a:p>
                      <a:r>
                        <a:rPr lang="en-GB" sz="1200" dirty="0"/>
                        <a:t>Bad</a:t>
                      </a:r>
                    </a:p>
                  </a:txBody>
                  <a:tcPr/>
                </a:tc>
                <a:tc>
                  <a:txBody>
                    <a:bodyPr/>
                    <a:lstStyle/>
                    <a:p>
                      <a:r>
                        <a:rPr lang="en-US" sz="1200" dirty="0"/>
                        <a:t>X</a:t>
                      </a:r>
                      <a:endParaRPr lang="en-GB" sz="1200" dirty="0"/>
                    </a:p>
                  </a:txBody>
                  <a:tcPr/>
                </a:tc>
                <a:tc>
                  <a:txBody>
                    <a:bodyPr/>
                    <a:lstStyle/>
                    <a:p>
                      <a:r>
                        <a:rPr lang="en-US" sz="1200" dirty="0"/>
                        <a:t>X</a:t>
                      </a:r>
                      <a:endParaRPr lang="en-GB" sz="1200" dirty="0"/>
                    </a:p>
                  </a:txBody>
                  <a:tcPr/>
                </a:tc>
                <a:extLst>
                  <a:ext uri="{0D108BD9-81ED-4DB2-BD59-A6C34878D82A}">
                    <a16:rowId xmlns:a16="http://schemas.microsoft.com/office/drawing/2014/main" val="788774926"/>
                  </a:ext>
                </a:extLst>
              </a:tr>
            </a:tbl>
          </a:graphicData>
        </a:graphic>
      </p:graphicFrame>
      <p:sp>
        <p:nvSpPr>
          <p:cNvPr id="8" name="TextBox 7">
            <a:extLst>
              <a:ext uri="{FF2B5EF4-FFF2-40B4-BE49-F238E27FC236}">
                <a16:creationId xmlns:a16="http://schemas.microsoft.com/office/drawing/2014/main" id="{53F18AD2-7D7C-86A1-617F-5ED4C88C525F}"/>
              </a:ext>
            </a:extLst>
          </p:cNvPr>
          <p:cNvSpPr txBox="1"/>
          <p:nvPr/>
        </p:nvSpPr>
        <p:spPr>
          <a:xfrm>
            <a:off x="358007" y="221862"/>
            <a:ext cx="8885186" cy="523220"/>
          </a:xfrm>
          <a:prstGeom prst="rect">
            <a:avLst/>
          </a:prstGeom>
          <a:noFill/>
        </p:spPr>
        <p:txBody>
          <a:bodyPr wrap="square" lIns="91440" tIns="45720" rIns="91440" bIns="45720" rtlCol="0" anchor="t">
            <a:spAutoFit/>
          </a:bodyPr>
          <a:lstStyle/>
          <a:p>
            <a:r>
              <a:rPr lang="en-GB" sz="2800" dirty="0"/>
              <a:t>CSCU9M5 Assignment 1. Student Number 3344671</a:t>
            </a:r>
            <a:endParaRPr lang="en-GB" sz="2800" dirty="0">
              <a:ea typeface="Calibri" panose="020F0502020204030204"/>
              <a:cs typeface="Calibri" panose="020F0502020204030204"/>
            </a:endParaRPr>
          </a:p>
        </p:txBody>
      </p:sp>
      <p:graphicFrame>
        <p:nvGraphicFramePr>
          <p:cNvPr id="5" name="Table 9">
            <a:extLst>
              <a:ext uri="{FF2B5EF4-FFF2-40B4-BE49-F238E27FC236}">
                <a16:creationId xmlns:a16="http://schemas.microsoft.com/office/drawing/2014/main" id="{D4D093B8-47C2-E43F-6BF0-1D763DE45341}"/>
              </a:ext>
            </a:extLst>
          </p:cNvPr>
          <p:cNvGraphicFramePr>
            <a:graphicFrameLocks noGrp="1"/>
          </p:cNvGraphicFramePr>
          <p:nvPr>
            <p:extLst>
              <p:ext uri="{D42A27DB-BD31-4B8C-83A1-F6EECF244321}">
                <p14:modId xmlns:p14="http://schemas.microsoft.com/office/powerpoint/2010/main" val="2191066046"/>
              </p:ext>
            </p:extLst>
          </p:nvPr>
        </p:nvGraphicFramePr>
        <p:xfrm>
          <a:off x="4882290" y="4139057"/>
          <a:ext cx="4178298" cy="1112520"/>
        </p:xfrm>
        <a:graphic>
          <a:graphicData uri="http://schemas.openxmlformats.org/drawingml/2006/table">
            <a:tbl>
              <a:tblPr firstRow="1" bandRow="1">
                <a:tableStyleId>{5C22544A-7EE6-4342-B048-85BDC9FD1C3A}</a:tableStyleId>
              </a:tblPr>
              <a:tblGrid>
                <a:gridCol w="2089149">
                  <a:extLst>
                    <a:ext uri="{9D8B030D-6E8A-4147-A177-3AD203B41FA5}">
                      <a16:colId xmlns:a16="http://schemas.microsoft.com/office/drawing/2014/main" val="1922141735"/>
                    </a:ext>
                  </a:extLst>
                </a:gridCol>
                <a:gridCol w="2089149">
                  <a:extLst>
                    <a:ext uri="{9D8B030D-6E8A-4147-A177-3AD203B41FA5}">
                      <a16:colId xmlns:a16="http://schemas.microsoft.com/office/drawing/2014/main" val="2956065983"/>
                    </a:ext>
                  </a:extLst>
                </a:gridCol>
              </a:tblGrid>
              <a:tr h="370840">
                <a:tc>
                  <a:txBody>
                    <a:bodyPr/>
                    <a:lstStyle/>
                    <a:p>
                      <a:r>
                        <a:rPr lang="en-US" sz="1400" dirty="0"/>
                        <a:t>Variable</a:t>
                      </a:r>
                      <a:endParaRPr lang="en-GB" sz="1400" dirty="0"/>
                    </a:p>
                  </a:txBody>
                  <a:tcPr/>
                </a:tc>
                <a:tc>
                  <a:txBody>
                    <a:bodyPr/>
                    <a:lstStyle/>
                    <a:p>
                      <a:r>
                        <a:rPr lang="en-US" sz="1400" dirty="0"/>
                        <a:t>Type</a:t>
                      </a:r>
                      <a:endParaRPr lang="en-GB" sz="1400" dirty="0"/>
                    </a:p>
                  </a:txBody>
                  <a:tcPr/>
                </a:tc>
                <a:extLst>
                  <a:ext uri="{0D108BD9-81ED-4DB2-BD59-A6C34878D82A}">
                    <a16:rowId xmlns:a16="http://schemas.microsoft.com/office/drawing/2014/main" val="2821401175"/>
                  </a:ext>
                </a:extLst>
              </a:tr>
              <a:tr h="370840">
                <a:tc>
                  <a:txBody>
                    <a:bodyPr/>
                    <a:lstStyle/>
                    <a:p>
                      <a:r>
                        <a:rPr lang="en-US" sz="1200" dirty="0"/>
                        <a:t>Variable 1</a:t>
                      </a:r>
                      <a:endParaRPr lang="en-GB" sz="1200" dirty="0"/>
                    </a:p>
                  </a:txBody>
                  <a:tcPr/>
                </a:tc>
                <a:tc>
                  <a:txBody>
                    <a:bodyPr/>
                    <a:lstStyle/>
                    <a:p>
                      <a:r>
                        <a:rPr lang="en-US" sz="1200" dirty="0"/>
                        <a:t>Numeric</a:t>
                      </a:r>
                      <a:endParaRPr lang="en-GB" sz="1200" dirty="0"/>
                    </a:p>
                  </a:txBody>
                  <a:tcPr/>
                </a:tc>
                <a:extLst>
                  <a:ext uri="{0D108BD9-81ED-4DB2-BD59-A6C34878D82A}">
                    <a16:rowId xmlns:a16="http://schemas.microsoft.com/office/drawing/2014/main" val="3202199352"/>
                  </a:ext>
                </a:extLst>
              </a:tr>
              <a:tr h="370840">
                <a:tc>
                  <a:txBody>
                    <a:bodyPr/>
                    <a:lstStyle/>
                    <a:p>
                      <a:r>
                        <a:rPr lang="en-US" sz="1200" dirty="0"/>
                        <a:t>Variable 2</a:t>
                      </a:r>
                      <a:endParaRPr lang="en-GB" sz="1200" dirty="0"/>
                    </a:p>
                  </a:txBody>
                  <a:tcPr/>
                </a:tc>
                <a:tc>
                  <a:txBody>
                    <a:bodyPr/>
                    <a:lstStyle/>
                    <a:p>
                      <a:r>
                        <a:rPr lang="en-US" sz="1200" dirty="0"/>
                        <a:t>Categorical</a:t>
                      </a:r>
                      <a:endParaRPr lang="en-GB" sz="1200" dirty="0"/>
                    </a:p>
                  </a:txBody>
                  <a:tcPr/>
                </a:tc>
                <a:extLst>
                  <a:ext uri="{0D108BD9-81ED-4DB2-BD59-A6C34878D82A}">
                    <a16:rowId xmlns:a16="http://schemas.microsoft.com/office/drawing/2014/main" val="2473242010"/>
                  </a:ext>
                </a:extLst>
              </a:tr>
            </a:tbl>
          </a:graphicData>
        </a:graphic>
      </p:graphicFrame>
      <p:sp>
        <p:nvSpPr>
          <p:cNvPr id="10" name="Rectangle 9">
            <a:extLst>
              <a:ext uri="{FF2B5EF4-FFF2-40B4-BE49-F238E27FC236}">
                <a16:creationId xmlns:a16="http://schemas.microsoft.com/office/drawing/2014/main" id="{61114EC5-034B-1ADA-C1F8-62FDCCE2A9A4}"/>
              </a:ext>
            </a:extLst>
          </p:cNvPr>
          <p:cNvSpPr/>
          <p:nvPr/>
        </p:nvSpPr>
        <p:spPr>
          <a:xfrm>
            <a:off x="5130744" y="5656129"/>
            <a:ext cx="1398030" cy="724214"/>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Before Cleaning</a:t>
            </a:r>
            <a:endParaRPr lang="en-GB" dirty="0"/>
          </a:p>
        </p:txBody>
      </p:sp>
      <p:sp>
        <p:nvSpPr>
          <p:cNvPr id="12" name="Rectangle 11">
            <a:extLst>
              <a:ext uri="{FF2B5EF4-FFF2-40B4-BE49-F238E27FC236}">
                <a16:creationId xmlns:a16="http://schemas.microsoft.com/office/drawing/2014/main" id="{6DA0385D-A5DD-C169-AF26-24FFB0DB2E30}"/>
              </a:ext>
            </a:extLst>
          </p:cNvPr>
          <p:cNvSpPr/>
          <p:nvPr/>
        </p:nvSpPr>
        <p:spPr>
          <a:xfrm>
            <a:off x="6841409" y="5656128"/>
            <a:ext cx="1398030" cy="724214"/>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After Cleaning</a:t>
            </a:r>
            <a:endParaRPr lang="en-GB" dirty="0"/>
          </a:p>
        </p:txBody>
      </p:sp>
      <p:sp>
        <p:nvSpPr>
          <p:cNvPr id="13" name="TextBox 12">
            <a:extLst>
              <a:ext uri="{FF2B5EF4-FFF2-40B4-BE49-F238E27FC236}">
                <a16:creationId xmlns:a16="http://schemas.microsoft.com/office/drawing/2014/main" id="{CA1EAAA5-A1A2-3B0D-12F1-60B2E50A677D}"/>
              </a:ext>
            </a:extLst>
          </p:cNvPr>
          <p:cNvSpPr txBox="1"/>
          <p:nvPr/>
        </p:nvSpPr>
        <p:spPr>
          <a:xfrm>
            <a:off x="1291458" y="7603951"/>
            <a:ext cx="2320660" cy="830997"/>
          </a:xfrm>
          <a:prstGeom prst="rect">
            <a:avLst/>
          </a:prstGeom>
          <a:noFill/>
          <a:ln w="38100">
            <a:noFill/>
          </a:ln>
        </p:spPr>
        <p:txBody>
          <a:bodyPr wrap="square" rtlCol="0">
            <a:spAutoFit/>
          </a:bodyPr>
          <a:lstStyle/>
          <a:p>
            <a:r>
              <a:rPr lang="en-US" sz="1200" dirty="0">
                <a:solidFill>
                  <a:prstClr val="black"/>
                </a:solidFill>
                <a:latin typeface="Calibri" panose="020F0502020204030204"/>
              </a:rPr>
              <a:t>Explain here how you chose the hyper parameter settings to explore and how you ran your experiments.</a:t>
            </a:r>
            <a:endParaRPr lang="en-GB" sz="1200" dirty="0">
              <a:solidFill>
                <a:prstClr val="black"/>
              </a:solidFill>
              <a:latin typeface="Calibri" panose="020F0502020204030204"/>
            </a:endParaRPr>
          </a:p>
        </p:txBody>
      </p:sp>
      <p:sp>
        <p:nvSpPr>
          <p:cNvPr id="9" name="TextBox 8">
            <a:extLst>
              <a:ext uri="{FF2B5EF4-FFF2-40B4-BE49-F238E27FC236}">
                <a16:creationId xmlns:a16="http://schemas.microsoft.com/office/drawing/2014/main" id="{F206284C-0E38-E129-A921-7FCAD4177EEC}"/>
              </a:ext>
            </a:extLst>
          </p:cNvPr>
          <p:cNvSpPr txBox="1"/>
          <p:nvPr/>
        </p:nvSpPr>
        <p:spPr>
          <a:xfrm>
            <a:off x="540612" y="2448689"/>
            <a:ext cx="3830021" cy="2870016"/>
          </a:xfrm>
          <a:prstGeom prst="rect">
            <a:avLst/>
          </a:prstGeom>
          <a:noFill/>
          <a:ln w="38100">
            <a:solidFill>
              <a:schemeClr val="accent1">
                <a:lumMod val="60000"/>
                <a:lumOff val="40000"/>
              </a:schemeClr>
            </a:solidFill>
          </a:ln>
        </p:spPr>
        <p:txBody>
          <a:bodyPr wrap="square" lIns="91440" tIns="45720" rIns="91440" bIns="45720" anchor="t">
            <a:spAutoFit/>
          </a:bodyPr>
          <a:lstStyle/>
          <a:p>
            <a:r>
              <a:rPr lang="en-GB" sz="2000" dirty="0"/>
              <a:t>2. Project Methodology</a:t>
            </a:r>
          </a:p>
          <a:p>
            <a:pPr marL="228600" indent="-228600">
              <a:buAutoNum type="arabicPeriod"/>
            </a:pPr>
            <a:r>
              <a:rPr lang="en-GB" sz="1050" dirty="0"/>
              <a:t>List the steps you took to carry out the project</a:t>
            </a:r>
            <a:endParaRPr lang="en-GB" sz="1050" dirty="0">
              <a:ea typeface="Calibri"/>
              <a:cs typeface="Calibri"/>
            </a:endParaRPr>
          </a:p>
          <a:p>
            <a:pPr marL="228600" indent="-228600">
              <a:buAutoNum type="arabicPeriod"/>
            </a:pPr>
            <a:r>
              <a:rPr lang="en-GB" sz="1050" dirty="0"/>
              <a:t>Include train/validate/test split and model selection</a:t>
            </a:r>
            <a:endParaRPr lang="en-GB" sz="1050" dirty="0">
              <a:ea typeface="Calibri"/>
              <a:cs typeface="Calibri"/>
            </a:endParaRPr>
          </a:p>
          <a:p>
            <a:pPr marL="228600" indent="-228600">
              <a:buAutoNum type="arabicPeriod"/>
            </a:pPr>
            <a:r>
              <a:rPr lang="en-GB" sz="1050" dirty="0"/>
              <a:t>This list should cover ALL the steps in the process</a:t>
            </a:r>
            <a:endParaRPr lang="en-GB" sz="1050" dirty="0">
              <a:ea typeface="Calibri"/>
              <a:cs typeface="Calibri"/>
            </a:endParaRPr>
          </a:p>
          <a:p>
            <a:pPr marL="228600" indent="-228600">
              <a:buAutoNum type="arabicPeriod"/>
            </a:pPr>
            <a:r>
              <a:rPr lang="en-GB" sz="1050" dirty="0"/>
              <a:t>…</a:t>
            </a:r>
            <a:endParaRPr lang="en-GB" sz="1050" dirty="0">
              <a:ea typeface="Calibri"/>
              <a:cs typeface="Calibri"/>
            </a:endParaRPr>
          </a:p>
          <a:p>
            <a:pPr marL="228600" indent="-228600">
              <a:buAutoNum type="arabicPeriod"/>
            </a:pPr>
            <a:r>
              <a:rPr lang="en-GB" sz="1050" dirty="0"/>
              <a:t>…</a:t>
            </a:r>
            <a:endParaRPr lang="en-GB" sz="1050" dirty="0">
              <a:ea typeface="Calibri"/>
              <a:cs typeface="Calibri"/>
            </a:endParaRP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p:txBody>
      </p:sp>
      <p:sp>
        <p:nvSpPr>
          <p:cNvPr id="14" name="TextBox 13">
            <a:extLst>
              <a:ext uri="{FF2B5EF4-FFF2-40B4-BE49-F238E27FC236}">
                <a16:creationId xmlns:a16="http://schemas.microsoft.com/office/drawing/2014/main" id="{720648D2-2C2F-D4B7-A939-01723E5AA434}"/>
              </a:ext>
            </a:extLst>
          </p:cNvPr>
          <p:cNvSpPr txBox="1"/>
          <p:nvPr/>
        </p:nvSpPr>
        <p:spPr>
          <a:xfrm>
            <a:off x="4569655" y="2448689"/>
            <a:ext cx="4803568" cy="2769989"/>
          </a:xfrm>
          <a:prstGeom prst="rect">
            <a:avLst/>
          </a:prstGeom>
          <a:noFill/>
          <a:ln w="38100">
            <a:solidFill>
              <a:schemeClr val="accent1">
                <a:lumMod val="60000"/>
                <a:lumOff val="40000"/>
              </a:schemeClr>
            </a:solidFill>
          </a:ln>
        </p:spPr>
        <p:txBody>
          <a:bodyPr wrap="square" lIns="91440" tIns="45720" rIns="91440" bIns="45720" anchor="t">
            <a:spAutoFit/>
          </a:bodyPr>
          <a:lstStyle/>
          <a:p>
            <a:pPr lvl="0" defTabSz="1706910">
              <a:defRPr/>
            </a:pPr>
            <a:r>
              <a:rPr lang="en-GB" sz="2000" dirty="0"/>
              <a:t>3 Variables/ Data Understanding </a:t>
            </a:r>
            <a:endParaRPr lang="en-GB" sz="1000" dirty="0">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lang="en-GB" sz="1000" dirty="0">
                <a:solidFill>
                  <a:prstClr val="black"/>
                </a:solidFill>
                <a:latin typeface="Calibri" panose="020F0502020204030204"/>
              </a:rPr>
              <a:t>Say which variables you used in your model, and whether you treated then as numeric3 Variables</a:t>
            </a:r>
            <a:endParaRPr lang="en-GB" sz="1000" dirty="0">
              <a:solidFill>
                <a:prstClr val="black"/>
              </a:solidFill>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lang="en-GB" sz="1000" dirty="0">
                <a:solidFill>
                  <a:prstClr val="black"/>
                </a:solidFill>
                <a:latin typeface="Calibri" panose="020F0502020204030204"/>
              </a:rPr>
              <a:t>Say which variables you used in your model, and whether you treated then as numeric or categorical. Explain the impact your choices will have on the models you build. You can use a table:</a:t>
            </a:r>
            <a:endParaRPr lang="en-GB" sz="1000" dirty="0">
              <a:solidFill>
                <a:prstClr val="black"/>
              </a:solidFill>
              <a:latin typeface="Calibri" panose="020F0502020204030204"/>
              <a:ea typeface="Calibri"/>
              <a:cs typeface="Calibri"/>
            </a:endParaRPr>
          </a:p>
          <a:p>
            <a:r>
              <a:rPr lang="en-GB" sz="1000" dirty="0">
                <a:solidFill>
                  <a:prstClr val="black"/>
                </a:solidFill>
                <a:latin typeface="Calibri" panose="020F0502020204030204"/>
              </a:rPr>
              <a:t> or categorical. Explain the impact your choices will have on the models you build. You can use a table:</a:t>
            </a:r>
            <a:endParaRPr lang="en-GB" sz="1000" dirty="0">
              <a:solidFill>
                <a:prstClr val="black"/>
              </a:solidFill>
              <a:latin typeface="Calibri" panose="020F0502020204030204"/>
              <a:ea typeface="Calibri"/>
              <a:cs typeface="Calibri"/>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p:txBody>
      </p:sp>
      <p:sp>
        <p:nvSpPr>
          <p:cNvPr id="16" name="TextBox 15">
            <a:extLst>
              <a:ext uri="{FF2B5EF4-FFF2-40B4-BE49-F238E27FC236}">
                <a16:creationId xmlns:a16="http://schemas.microsoft.com/office/drawing/2014/main" id="{303339E9-D30D-6514-92CD-6CDE78311274}"/>
              </a:ext>
            </a:extLst>
          </p:cNvPr>
          <p:cNvSpPr txBox="1"/>
          <p:nvPr/>
        </p:nvSpPr>
        <p:spPr>
          <a:xfrm>
            <a:off x="525101" y="5538821"/>
            <a:ext cx="8848121" cy="1046440"/>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4. Data Preparation</a:t>
            </a: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Show two histograms here. One should show the distribution of one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variable before it has been cleaned. The other should show the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distribution of the same variable after cleaning. Choose a variable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that needs to be cleaned!!</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p:txBody>
      </p:sp>
      <p:sp>
        <p:nvSpPr>
          <p:cNvPr id="22" name="TextBox 21">
            <a:extLst>
              <a:ext uri="{FF2B5EF4-FFF2-40B4-BE49-F238E27FC236}">
                <a16:creationId xmlns:a16="http://schemas.microsoft.com/office/drawing/2014/main" id="{A963A857-22CD-BC85-9293-B211890D5A3A}"/>
              </a:ext>
            </a:extLst>
          </p:cNvPr>
          <p:cNvSpPr txBox="1"/>
          <p:nvPr/>
        </p:nvSpPr>
        <p:spPr>
          <a:xfrm>
            <a:off x="4914384" y="9812406"/>
            <a:ext cx="4178298" cy="253916"/>
          </a:xfrm>
          <a:prstGeom prst="rect">
            <a:avLst/>
          </a:prstGeom>
          <a:noFill/>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Explain what the confusion matrix tells us.</a:t>
            </a:r>
          </a:p>
        </p:txBody>
      </p:sp>
      <p:sp>
        <p:nvSpPr>
          <p:cNvPr id="3" name="TextBox 2">
            <a:extLst>
              <a:ext uri="{FF2B5EF4-FFF2-40B4-BE49-F238E27FC236}">
                <a16:creationId xmlns:a16="http://schemas.microsoft.com/office/drawing/2014/main" id="{483CDE9C-72DC-E883-E910-51206EB5A594}"/>
              </a:ext>
            </a:extLst>
          </p:cNvPr>
          <p:cNvSpPr txBox="1"/>
          <p:nvPr/>
        </p:nvSpPr>
        <p:spPr>
          <a:xfrm>
            <a:off x="524029" y="10977048"/>
            <a:ext cx="8847947" cy="923330"/>
          </a:xfrm>
          <a:prstGeom prst="rect">
            <a:avLst/>
          </a:prstGeom>
          <a:noFill/>
          <a:ln w="38100">
            <a:solidFill>
              <a:schemeClr val="accent1">
                <a:lumMod val="60000"/>
                <a:lumOff val="40000"/>
              </a:schemeClr>
            </a:solidFill>
          </a:ln>
        </p:spPr>
        <p:txBody>
          <a:bodyPr wrap="square" lIns="91440" tIns="45720" rIns="91440" bIns="45720" rtlCol="0" anchor="t">
            <a:spAutoFit/>
          </a:bodyPr>
          <a:lstStyle/>
          <a:p>
            <a:r>
              <a:rPr lang="en-GB" sz="2000" dirty="0"/>
              <a:t>7. Insight about data </a:t>
            </a:r>
            <a:r>
              <a:rPr lang="en-GB" sz="2000" b="0" i="0" dirty="0">
                <a:solidFill>
                  <a:srgbClr val="000000"/>
                </a:solidFill>
                <a:effectLst/>
                <a:latin typeface="Calibri"/>
                <a:ea typeface="Calibri"/>
                <a:cs typeface="Calibri"/>
              </a:rPr>
              <a:t>or </a:t>
            </a:r>
            <a:r>
              <a:rPr lang="en-GB" sz="2000" dirty="0">
                <a:solidFill>
                  <a:srgbClr val="000000"/>
                </a:solidFill>
                <a:latin typeface="Calibri"/>
                <a:ea typeface="Calibri"/>
                <a:cs typeface="Calibri"/>
              </a:rPr>
              <a:t>models gained</a:t>
            </a:r>
          </a:p>
          <a:p>
            <a:endParaRPr lang="en-GB" sz="1200" dirty="0">
              <a:solidFill>
                <a:srgbClr val="000000"/>
              </a:solidFill>
              <a:latin typeface="Calibri"/>
              <a:ea typeface="Calibri"/>
              <a:cs typeface="Calibri"/>
            </a:endParaRPr>
          </a:p>
          <a:p>
            <a:pPr marL="457200" indent="-457200">
              <a:buFont typeface="Arial,Sans-Serif"/>
              <a:buChar char="•"/>
            </a:pPr>
            <a:r>
              <a:rPr lang="en-GB" sz="1100" dirty="0">
                <a:solidFill>
                  <a:srgbClr val="000000"/>
                </a:solidFill>
                <a:latin typeface="Calibri"/>
                <a:ea typeface="Calibri"/>
                <a:cs typeface="Calibri"/>
              </a:rPr>
              <a:t>For example</a:t>
            </a:r>
            <a:r>
              <a:rPr lang="en-GB" sz="1100" b="0" i="0" dirty="0">
                <a:solidFill>
                  <a:srgbClr val="000000"/>
                </a:solidFill>
                <a:effectLst/>
                <a:latin typeface="Calibri"/>
                <a:ea typeface="Calibri"/>
                <a:cs typeface="Calibri"/>
              </a:rPr>
              <a:t>, </a:t>
            </a:r>
            <a:r>
              <a:rPr lang="en-GB" sz="1100" dirty="0">
                <a:solidFill>
                  <a:srgbClr val="000000"/>
                </a:solidFill>
                <a:latin typeface="Calibri"/>
                <a:ea typeface="Calibri"/>
                <a:cs typeface="Calibri"/>
              </a:rPr>
              <a:t>did you learn anything about specific features that drive the model? Is the model biased towards particular groups in the data? Is the model you've chosen good for helping us to understand why particular predictions are made?</a:t>
            </a:r>
            <a:endParaRPr lang="en-US" sz="1100" dirty="0">
              <a:solidFill>
                <a:srgbClr val="000000"/>
              </a:solidFill>
              <a:latin typeface="Calibri"/>
              <a:ea typeface="Calibri"/>
              <a:cs typeface="Calibri"/>
            </a:endParaRPr>
          </a:p>
        </p:txBody>
      </p:sp>
    </p:spTree>
    <p:extLst>
      <p:ext uri="{BB962C8B-B14F-4D97-AF65-F5344CB8AC3E}">
        <p14:creationId xmlns:p14="http://schemas.microsoft.com/office/powerpoint/2010/main" val="16987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DA950B468274CB53651377B661D5E" ma:contentTypeVersion="4" ma:contentTypeDescription="Create a new document." ma:contentTypeScope="" ma:versionID="27a16cd52dc681f2d631c60625793089">
  <xsd:schema xmlns:xsd="http://www.w3.org/2001/XMLSchema" xmlns:xs="http://www.w3.org/2001/XMLSchema" xmlns:p="http://schemas.microsoft.com/office/2006/metadata/properties" xmlns:ns2="4ce3de0b-3eea-4cb9-8254-1efe69defd32" targetNamespace="http://schemas.microsoft.com/office/2006/metadata/properties" ma:root="true" ma:fieldsID="aa5d8f5ea0382bb42d66b4ec4f495684" ns2:_="">
    <xsd:import namespace="4ce3de0b-3eea-4cb9-8254-1efe69defd3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e3de0b-3eea-4cb9-8254-1efe69defd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778572B-7D4E-4A33-82E0-6D91E9A8F67C}">
  <ds:schemaRefs>
    <ds:schemaRef ds:uri="http://schemas.microsoft.com/sharepoint/v3/contenttype/forms"/>
  </ds:schemaRefs>
</ds:datastoreItem>
</file>

<file path=customXml/itemProps2.xml><?xml version="1.0" encoding="utf-8"?>
<ds:datastoreItem xmlns:ds="http://schemas.openxmlformats.org/officeDocument/2006/customXml" ds:itemID="{33661331-00C7-43C5-9A5A-50F586F608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e3de0b-3eea-4cb9-8254-1efe69defd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149E239-D122-40A9-AB11-D677033190C0}">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d6fa6db5-9f3a-4c93-9e38-61059ee07e95}" enabled="1" method="Standard" siteId="{4e8d09f7-cc79-4ccb-9149-a4238dd17422}" removed="0"/>
</clbl:labelList>
</file>

<file path=docProps/app.xml><?xml version="1.0" encoding="utf-8"?>
<Properties xmlns="http://schemas.openxmlformats.org/officeDocument/2006/extended-properties" xmlns:vt="http://schemas.openxmlformats.org/officeDocument/2006/docPropsVTypes">
  <TotalTime>2936</TotalTime>
  <Words>1074</Words>
  <Application>Microsoft Office PowerPoint</Application>
  <PresentationFormat>A3 Paper (297x420 mm)</PresentationFormat>
  <Paragraphs>209</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Arial,Sans-Serif</vt:lpstr>
      <vt:lpstr>Calibri</vt:lpstr>
      <vt:lpstr>Calibri Light</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Swingler</dc:creator>
  <cp:lastModifiedBy>Muniir Ahmed</cp:lastModifiedBy>
  <cp:revision>72</cp:revision>
  <dcterms:created xsi:type="dcterms:W3CDTF">2022-12-31T18:26:39Z</dcterms:created>
  <dcterms:modified xsi:type="dcterms:W3CDTF">2025-11-26T21:29:39Z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0x0101000F1DA950B468274CB53651377B661D5E</vt:lpwstr>
  </property>
</Properties>
</file>